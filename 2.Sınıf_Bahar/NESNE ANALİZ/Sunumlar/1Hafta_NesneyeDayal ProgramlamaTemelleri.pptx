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78" r:id="rId3"/>
    <p:sldId id="291" r:id="rId4"/>
    <p:sldId id="279" r:id="rId5"/>
    <p:sldId id="280" r:id="rId6"/>
    <p:sldId id="290" r:id="rId7"/>
    <p:sldId id="281" r:id="rId8"/>
    <p:sldId id="292" r:id="rId9"/>
    <p:sldId id="282" r:id="rId10"/>
    <p:sldId id="283" r:id="rId11"/>
    <p:sldId id="293" r:id="rId12"/>
    <p:sldId id="284" r:id="rId13"/>
    <p:sldId id="294" r:id="rId14"/>
    <p:sldId id="285" r:id="rId15"/>
    <p:sldId id="295" r:id="rId16"/>
    <p:sldId id="286" r:id="rId17"/>
    <p:sldId id="296" r:id="rId18"/>
    <p:sldId id="287" r:id="rId19"/>
    <p:sldId id="288" r:id="rId20"/>
    <p:sldId id="289" r:id="rId21"/>
    <p:sldId id="297" r:id="rId22"/>
    <p:sldId id="298" r:id="rId23"/>
    <p:sldId id="299" r:id="rId24"/>
    <p:sldId id="257" r:id="rId25"/>
    <p:sldId id="258" r:id="rId26"/>
    <p:sldId id="260" r:id="rId27"/>
    <p:sldId id="266" r:id="rId28"/>
    <p:sldId id="261" r:id="rId29"/>
    <p:sldId id="262" r:id="rId30"/>
    <p:sldId id="263" r:id="rId31"/>
    <p:sldId id="264" r:id="rId32"/>
    <p:sldId id="265" r:id="rId33"/>
    <p:sldId id="272" r:id="rId34"/>
    <p:sldId id="273" r:id="rId35"/>
    <p:sldId id="274" r:id="rId36"/>
    <p:sldId id="267" r:id="rId37"/>
    <p:sldId id="268" r:id="rId38"/>
    <p:sldId id="275" r:id="rId39"/>
    <p:sldId id="276" r:id="rId40"/>
    <p:sldId id="277" r:id="rId41"/>
    <p:sldId id="259" r:id="rId42"/>
    <p:sldId id="269" r:id="rId43"/>
    <p:sldId id="270" r:id="rId44"/>
    <p:sldId id="271" r:id="rId45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0"/>
    <p:restoredTop sz="82364"/>
  </p:normalViewPr>
  <p:slideViewPr>
    <p:cSldViewPr snapToGrid="0">
      <p:cViewPr varScale="1">
        <p:scale>
          <a:sx n="110" d="100"/>
          <a:sy n="110" d="100"/>
        </p:scale>
        <p:origin x="8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7341C-E2D6-2A4D-A8CF-07DF4809D747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1E5ED-C8CB-FC40-BC90-8911970EC7DD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6151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20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894534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21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74396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OOP'nin</a:t>
            </a:r>
            <a:r>
              <a:rPr lang="en-US" dirty="0"/>
              <a:t> kalbi bu </a:t>
            </a:r>
            <a:r>
              <a:rPr lang="en-US" dirty="0" err="1"/>
              <a:t>ikilidir</a:t>
            </a:r>
            <a:r>
              <a:rPr lang="en-US" dirty="0"/>
              <a:t>.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Araba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genel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tanımı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ederken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benimArabam</a:t>
            </a:r>
            <a:r>
              <a:rPr lang="en-US" dirty="0"/>
              <a:t> </a:t>
            </a:r>
            <a:r>
              <a:rPr lang="en-US" dirty="0" err="1"/>
              <a:t>bellekte</a:t>
            </a:r>
            <a:r>
              <a:rPr lang="en-US" dirty="0"/>
              <a:t> </a:t>
            </a:r>
            <a:r>
              <a:rPr lang="en-US" dirty="0" err="1"/>
              <a:t>oluşan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veridir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kelimesine</a:t>
            </a:r>
            <a:r>
              <a:rPr lang="en-US" dirty="0"/>
              <a:t> </a:t>
            </a:r>
            <a:r>
              <a:rPr lang="en-US" dirty="0" err="1"/>
              <a:t>vurgu</a:t>
            </a:r>
            <a:r>
              <a:rPr lang="en-US" dirty="0"/>
              <a:t> </a:t>
            </a:r>
            <a:r>
              <a:rPr lang="en-US" dirty="0" err="1"/>
              <a:t>yapılmalıdır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24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653629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extends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kelimesiyle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Kedi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Hayvan</a:t>
            </a:r>
            <a:r>
              <a:rPr lang="en-US" dirty="0"/>
              <a:t> </a:t>
            </a:r>
            <a:r>
              <a:rPr lang="en-US" dirty="0" err="1"/>
              <a:t>sınıfının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yeteneklerini</a:t>
            </a:r>
            <a:r>
              <a:rPr lang="en-US" dirty="0"/>
              <a:t> </a:t>
            </a:r>
            <a:r>
              <a:rPr lang="en-US" dirty="0" err="1"/>
              <a:t>miras</a:t>
            </a:r>
            <a:r>
              <a:rPr lang="en-US" dirty="0"/>
              <a:t> </a:t>
            </a:r>
            <a:r>
              <a:rPr lang="en-US" dirty="0" err="1"/>
              <a:t>alır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@Override</a:t>
            </a:r>
            <a:r>
              <a:rPr lang="en-US" dirty="0"/>
              <a:t> </a:t>
            </a:r>
            <a:r>
              <a:rPr lang="en-US" dirty="0" err="1"/>
              <a:t>notasyonu</a:t>
            </a:r>
            <a:r>
              <a:rPr lang="en-US" dirty="0"/>
              <a:t>, </a:t>
            </a:r>
            <a:r>
              <a:rPr lang="en-US" dirty="0" err="1"/>
              <a:t>miras</a:t>
            </a:r>
            <a:r>
              <a:rPr lang="en-US" dirty="0"/>
              <a:t> </a:t>
            </a:r>
            <a:r>
              <a:rPr lang="en-US" dirty="0" err="1"/>
              <a:t>alınan</a:t>
            </a:r>
            <a:r>
              <a:rPr lang="en-US" dirty="0"/>
              <a:t> </a:t>
            </a:r>
            <a:r>
              <a:rPr lang="en-US" dirty="0" err="1"/>
              <a:t>metodun</a:t>
            </a:r>
            <a:r>
              <a:rPr lang="en-US" dirty="0"/>
              <a:t> </a:t>
            </a:r>
            <a:r>
              <a:rPr lang="en-US" dirty="0" err="1"/>
              <a:t>özelleştirildiğini</a:t>
            </a:r>
            <a:r>
              <a:rPr lang="en-US" dirty="0"/>
              <a:t> </a:t>
            </a:r>
            <a:r>
              <a:rPr lang="en-US" dirty="0" err="1"/>
              <a:t>belirtir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25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96196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Derleyici</a:t>
            </a:r>
            <a:r>
              <a:rPr lang="en-US" dirty="0"/>
              <a:t>, hangi </a:t>
            </a:r>
            <a:r>
              <a:rPr lang="en-US" dirty="0" err="1"/>
              <a:t>metodun</a:t>
            </a:r>
            <a:r>
              <a:rPr lang="en-US" dirty="0"/>
              <a:t> </a:t>
            </a:r>
            <a:r>
              <a:rPr lang="en-US" dirty="0" err="1"/>
              <a:t>çağrılacağına</a:t>
            </a:r>
            <a:r>
              <a:rPr lang="en-US" dirty="0"/>
              <a:t> </a:t>
            </a:r>
            <a:r>
              <a:rPr lang="en-US" dirty="0" err="1"/>
              <a:t>gönderilen</a:t>
            </a:r>
            <a:r>
              <a:rPr lang="en-US" dirty="0"/>
              <a:t> </a:t>
            </a:r>
            <a:r>
              <a:rPr lang="en-US" dirty="0" err="1"/>
              <a:t>argümanların</a:t>
            </a:r>
            <a:r>
              <a:rPr lang="en-US" dirty="0"/>
              <a:t> </a:t>
            </a:r>
            <a:r>
              <a:rPr lang="en-US" dirty="0" err="1"/>
              <a:t>tipine</a:t>
            </a:r>
            <a:r>
              <a:rPr lang="en-US" dirty="0"/>
              <a:t> </a:t>
            </a:r>
            <a:r>
              <a:rPr lang="en-US" dirty="0" err="1"/>
              <a:t>bakarak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verir</a:t>
            </a:r>
            <a:r>
              <a:rPr lang="en-US" dirty="0"/>
              <a:t>. </a:t>
            </a:r>
            <a:r>
              <a:rPr lang="en-US" dirty="0" err="1"/>
              <a:t>Dönüş</a:t>
            </a:r>
            <a:r>
              <a:rPr lang="en-US" dirty="0"/>
              <a:t> tipi (return type)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başına</a:t>
            </a:r>
            <a:r>
              <a:rPr lang="en-US" dirty="0"/>
              <a:t> overload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26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27723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Java'da</a:t>
            </a:r>
            <a:r>
              <a:rPr lang="en-US" dirty="0"/>
              <a:t> </a:t>
            </a:r>
            <a:r>
              <a:rPr lang="en-US" dirty="0" err="1"/>
              <a:t>çoklu</a:t>
            </a:r>
            <a:r>
              <a:rPr lang="en-US" dirty="0"/>
              <a:t> </a:t>
            </a:r>
            <a:r>
              <a:rPr lang="en-US" dirty="0" err="1"/>
              <a:t>kalıtımın</a:t>
            </a:r>
            <a:r>
              <a:rPr lang="en-US" dirty="0"/>
              <a:t> (multiple inheritance) </a:t>
            </a:r>
            <a:r>
              <a:rPr lang="en-US" dirty="0" err="1"/>
              <a:t>kapısını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 </a:t>
            </a:r>
            <a:r>
              <a:rPr lang="en-US" dirty="0" err="1"/>
              <a:t>Interface'ler</a:t>
            </a:r>
            <a:r>
              <a:rPr lang="en-US" dirty="0"/>
              <a:t>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üretemezler</a:t>
            </a:r>
            <a:r>
              <a:rPr lang="en-US" dirty="0"/>
              <a:t> (instantiated </a:t>
            </a:r>
            <a:r>
              <a:rPr lang="en-US" dirty="0" err="1"/>
              <a:t>olamazlar</a:t>
            </a:r>
            <a:r>
              <a:rPr lang="en-US" dirty="0"/>
              <a:t>). Bir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interface'i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implements</a:t>
            </a:r>
            <a:r>
              <a:rPr lang="en-US" dirty="0"/>
              <a:t> </a:t>
            </a:r>
            <a:r>
              <a:rPr lang="en-US" dirty="0" err="1"/>
              <a:t>edebilir</a:t>
            </a:r>
            <a:r>
              <a:rPr lang="en-US" dirty="0"/>
              <a:t>, bu da </a:t>
            </a:r>
            <a:r>
              <a:rPr lang="en-US" dirty="0" err="1"/>
              <a:t>esnek</a:t>
            </a:r>
            <a:r>
              <a:rPr lang="en-US" dirty="0"/>
              <a:t> </a:t>
            </a:r>
            <a:r>
              <a:rPr lang="en-US" dirty="0" err="1"/>
              <a:t>tasarımı</a:t>
            </a:r>
            <a:r>
              <a:rPr lang="en-US" dirty="0"/>
              <a:t> </a:t>
            </a:r>
            <a:r>
              <a:rPr lang="en-US" dirty="0" err="1"/>
              <a:t>beraberinde</a:t>
            </a:r>
            <a:r>
              <a:rPr lang="en-US" dirty="0"/>
              <a:t> </a:t>
            </a:r>
            <a:r>
              <a:rPr lang="en-US" dirty="0" err="1"/>
              <a:t>getirir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28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524971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Anahtar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belirleyicisi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Getter/Setter</a:t>
            </a:r>
            <a:r>
              <a:rPr lang="en-US" dirty="0"/>
              <a:t> </a:t>
            </a:r>
            <a:r>
              <a:rPr lang="en-US" dirty="0" err="1"/>
              <a:t>metodları</a:t>
            </a:r>
            <a:r>
              <a:rPr lang="en-US" dirty="0"/>
              <a:t>.</a:t>
            </a:r>
          </a:p>
          <a:p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sifre</a:t>
            </a:r>
            <a:r>
              <a:rPr lang="en-US" dirty="0"/>
              <a:t> </a:t>
            </a:r>
            <a:r>
              <a:rPr lang="en-US" dirty="0" err="1"/>
              <a:t>değişkenine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erişimi</a:t>
            </a:r>
            <a:r>
              <a:rPr lang="en-US" dirty="0"/>
              <a:t> </a:t>
            </a:r>
            <a:r>
              <a:rPr lang="en-US" dirty="0" err="1"/>
              <a:t>kapatarak</a:t>
            </a:r>
            <a:r>
              <a:rPr lang="en-US" dirty="0"/>
              <a:t>, </a:t>
            </a:r>
            <a:r>
              <a:rPr lang="en-US" dirty="0" err="1"/>
              <a:t>verinin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kural</a:t>
            </a:r>
            <a:r>
              <a:rPr lang="en-US" dirty="0"/>
              <a:t> (</a:t>
            </a:r>
            <a:r>
              <a:rPr lang="en-US" dirty="0" err="1"/>
              <a:t>validasyon</a:t>
            </a:r>
            <a:r>
              <a:rPr lang="en-US" dirty="0"/>
              <a:t>) </a:t>
            </a:r>
            <a:r>
              <a:rPr lang="en-US" dirty="0" err="1"/>
              <a:t>çerçevesinde</a:t>
            </a:r>
            <a:r>
              <a:rPr lang="en-US" dirty="0"/>
              <a:t> </a:t>
            </a:r>
            <a:r>
              <a:rPr lang="en-US" dirty="0" err="1"/>
              <a:t>güncellenmesini</a:t>
            </a:r>
            <a:r>
              <a:rPr lang="en-US" dirty="0"/>
              <a:t> </a:t>
            </a:r>
            <a:r>
              <a:rPr lang="en-US" dirty="0" err="1"/>
              <a:t>zorunlu</a:t>
            </a:r>
            <a:r>
              <a:rPr lang="en-US" dirty="0"/>
              <a:t> </a:t>
            </a:r>
            <a:r>
              <a:rPr lang="en-US" dirty="0" err="1"/>
              <a:t>kılıyoruz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29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31738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Döngü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s.ciz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dendiğinde</a:t>
            </a:r>
            <a:r>
              <a:rPr lang="en-US" dirty="0"/>
              <a:t>, program o </a:t>
            </a:r>
            <a:r>
              <a:rPr lang="en-US" dirty="0" err="1"/>
              <a:t>anki</a:t>
            </a:r>
            <a:r>
              <a:rPr lang="en-US" dirty="0"/>
              <a:t> </a:t>
            </a:r>
            <a:r>
              <a:rPr lang="en-US" dirty="0" err="1"/>
              <a:t>nesnenin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Daire</a:t>
            </a:r>
            <a:r>
              <a:rPr lang="en-US" dirty="0"/>
              <a:t> mi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Kare</a:t>
            </a:r>
            <a:r>
              <a:rPr lang="en-US" dirty="0"/>
              <a:t> mi </a:t>
            </a:r>
            <a:r>
              <a:rPr lang="en-US" dirty="0" err="1"/>
              <a:t>olduğunu</a:t>
            </a:r>
            <a:r>
              <a:rPr lang="en-US" dirty="0"/>
              <a:t> </a:t>
            </a:r>
            <a:r>
              <a:rPr lang="en-US" dirty="0" err="1"/>
              <a:t>bilir</a:t>
            </a:r>
            <a:r>
              <a:rPr lang="en-US" dirty="0"/>
              <a:t>. Bu, </a:t>
            </a:r>
            <a:r>
              <a:rPr lang="en-US" dirty="0" err="1"/>
              <a:t>kodun</a:t>
            </a:r>
            <a:r>
              <a:rPr lang="en-US" dirty="0"/>
              <a:t> </a:t>
            </a:r>
            <a:r>
              <a:rPr lang="en-US" dirty="0" err="1"/>
              <a:t>esnekliğini</a:t>
            </a:r>
            <a:r>
              <a:rPr lang="en-US" dirty="0"/>
              <a:t> </a:t>
            </a:r>
            <a:r>
              <a:rPr lang="en-US" dirty="0" err="1"/>
              <a:t>inanılmaz</a:t>
            </a:r>
            <a:r>
              <a:rPr lang="en-US" dirty="0"/>
              <a:t> </a:t>
            </a:r>
            <a:r>
              <a:rPr lang="en-US" dirty="0" err="1"/>
              <a:t>derecede</a:t>
            </a:r>
            <a:r>
              <a:rPr lang="en-US" dirty="0"/>
              <a:t> </a:t>
            </a:r>
            <a:r>
              <a:rPr lang="en-US" dirty="0" err="1"/>
              <a:t>artırır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30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69821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i="1" dirty="0" err="1"/>
              <a:t>tamamen</a:t>
            </a:r>
            <a:r>
              <a:rPr lang="en-US" i="1" dirty="0"/>
              <a:t> </a:t>
            </a:r>
            <a:r>
              <a:rPr lang="en-US" i="1" dirty="0" err="1"/>
              <a:t>soyut</a:t>
            </a:r>
            <a:r>
              <a:rPr lang="en-US" i="1" dirty="0"/>
              <a:t> </a:t>
            </a:r>
            <a:r>
              <a:rPr lang="en-US" i="1" dirty="0" err="1"/>
              <a:t>olmak</a:t>
            </a:r>
            <a:r>
              <a:rPr lang="en-US" i="1" dirty="0"/>
              <a:t> </a:t>
            </a:r>
            <a:r>
              <a:rPr lang="en-US" i="1" dirty="0" err="1"/>
              <a:t>zorunda</a:t>
            </a:r>
            <a:r>
              <a:rPr lang="en-US" i="1" dirty="0"/>
              <a:t> </a:t>
            </a:r>
            <a:r>
              <a:rPr lang="en-US" i="1" dirty="0" err="1"/>
              <a:t>değildir</a:t>
            </a:r>
            <a:r>
              <a:rPr lang="en-US" i="1" dirty="0"/>
              <a:t>. </a:t>
            </a:r>
            <a:r>
              <a:rPr lang="en-US" b="1" dirty="0"/>
              <a:t>Abstract class</a:t>
            </a:r>
            <a:r>
              <a:rPr lang="en-US" dirty="0"/>
              <a:t>, hem:</a:t>
            </a:r>
          </a:p>
          <a:p>
            <a:r>
              <a:rPr lang="en-US" b="1" dirty="0" err="1"/>
              <a:t>soyut</a:t>
            </a:r>
            <a:r>
              <a:rPr lang="en-US" b="1" dirty="0"/>
              <a:t> (abstract) </a:t>
            </a:r>
            <a:r>
              <a:rPr lang="en-US" b="1" dirty="0" err="1"/>
              <a:t>metotlar</a:t>
            </a:r>
            <a:endParaRPr lang="en-US" dirty="0"/>
          </a:p>
          <a:p>
            <a:r>
              <a:rPr lang="en-US" b="1" dirty="0"/>
              <a:t>normal (</a:t>
            </a:r>
            <a:r>
              <a:rPr lang="en-US" b="1" dirty="0" err="1"/>
              <a:t>somut</a:t>
            </a:r>
            <a:r>
              <a:rPr lang="en-US" b="1" dirty="0"/>
              <a:t>) </a:t>
            </a:r>
            <a:r>
              <a:rPr lang="en-US" b="1" dirty="0" err="1"/>
              <a:t>metotlar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değişkenler</a:t>
            </a:r>
            <a:br>
              <a:rPr lang="en-US" dirty="0"/>
            </a:br>
            <a:r>
              <a:rPr lang="en-US" dirty="0" err="1"/>
              <a:t>içerebilen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sınıftır</a:t>
            </a:r>
            <a:r>
              <a:rPr lang="en-US" dirty="0"/>
              <a:t>.</a:t>
            </a:r>
          </a:p>
          <a:p>
            <a:br>
              <a:rPr lang="en-US" b="1" dirty="0"/>
            </a:br>
            <a:r>
              <a:rPr lang="en-US" dirty="0"/>
              <a:t>Bir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abstract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tanımladığınızda</a:t>
            </a:r>
            <a:r>
              <a:rPr lang="en-US" dirty="0"/>
              <a:t>, alt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dersiniz</a:t>
            </a:r>
            <a:r>
              <a:rPr lang="en-US" dirty="0"/>
              <a:t>: </a:t>
            </a:r>
            <a:r>
              <a:rPr lang="en-US" b="1" dirty="0"/>
              <a:t>"Bu </a:t>
            </a:r>
            <a:r>
              <a:rPr lang="en-US" b="1" dirty="0" err="1"/>
              <a:t>işi</a:t>
            </a:r>
            <a:r>
              <a:rPr lang="en-US" b="1" dirty="0"/>
              <a:t> </a:t>
            </a:r>
            <a:r>
              <a:rPr lang="en-US" b="1" dirty="0" err="1"/>
              <a:t>yapacağını</a:t>
            </a:r>
            <a:r>
              <a:rPr lang="en-US" b="1" dirty="0"/>
              <a:t> </a:t>
            </a:r>
            <a:r>
              <a:rPr lang="en-US" b="1" dirty="0" err="1"/>
              <a:t>taahhüt</a:t>
            </a:r>
            <a:r>
              <a:rPr lang="en-US" b="1" dirty="0"/>
              <a:t> </a:t>
            </a:r>
            <a:r>
              <a:rPr lang="en-US" b="1" dirty="0" err="1"/>
              <a:t>ediyorsun</a:t>
            </a:r>
            <a:r>
              <a:rPr lang="en-US" b="1" dirty="0"/>
              <a:t> ama </a:t>
            </a:r>
            <a:r>
              <a:rPr lang="en-US" b="1" dirty="0" err="1"/>
              <a:t>nasıl</a:t>
            </a:r>
            <a:r>
              <a:rPr lang="en-US" b="1" dirty="0"/>
              <a:t> </a:t>
            </a:r>
            <a:r>
              <a:rPr lang="en-US" b="1" dirty="0" err="1"/>
              <a:t>yapacağını</a:t>
            </a:r>
            <a:r>
              <a:rPr lang="en-US" b="1" dirty="0"/>
              <a:t> </a:t>
            </a:r>
            <a:r>
              <a:rPr lang="en-US" b="1" dirty="0" err="1"/>
              <a:t>sen</a:t>
            </a:r>
            <a:r>
              <a:rPr lang="en-US" b="1" dirty="0"/>
              <a:t> </a:t>
            </a:r>
            <a:r>
              <a:rPr lang="en-US" b="1" dirty="0" err="1"/>
              <a:t>belirlemelisin</a:t>
            </a:r>
            <a:r>
              <a:rPr lang="en-US" b="1" dirty="0"/>
              <a:t>."</a:t>
            </a:r>
            <a:endParaRPr lang="en-US" dirty="0"/>
          </a:p>
          <a:p>
            <a:r>
              <a:rPr lang="en-US" dirty="0"/>
              <a:t>Alt </a:t>
            </a:r>
            <a:r>
              <a:rPr lang="en-US" dirty="0" err="1"/>
              <a:t>sınıf</a:t>
            </a:r>
            <a:r>
              <a:rPr lang="en-US" dirty="0"/>
              <a:t> bu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ezmek</a:t>
            </a:r>
            <a:r>
              <a:rPr lang="en-US" dirty="0"/>
              <a:t> (implement </a:t>
            </a:r>
            <a:r>
              <a:rPr lang="en-US" dirty="0" err="1"/>
              <a:t>etmek</a:t>
            </a:r>
            <a:r>
              <a:rPr lang="en-US" dirty="0"/>
              <a:t>) </a:t>
            </a:r>
            <a:r>
              <a:rPr lang="en-US" b="1" dirty="0" err="1"/>
              <a:t>zorundadır</a:t>
            </a:r>
            <a:r>
              <a:rPr lang="en-US" b="1" dirty="0"/>
              <a:t>.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Abstract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dirty="0" err="1"/>
              <a:t>gövdesi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normal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metot</a:t>
            </a:r>
            <a:r>
              <a:rPr lang="en-US" dirty="0"/>
              <a:t> </a:t>
            </a:r>
            <a:r>
              <a:rPr lang="en-US" dirty="0" err="1"/>
              <a:t>yazdığınızda</a:t>
            </a:r>
            <a:r>
              <a:rPr lang="en-US" dirty="0"/>
              <a:t>, alt </a:t>
            </a:r>
            <a:r>
              <a:rPr lang="en-US" dirty="0" err="1"/>
              <a:t>sınıfa</a:t>
            </a:r>
            <a:r>
              <a:rPr lang="en-US" dirty="0"/>
              <a:t> </a:t>
            </a:r>
            <a:r>
              <a:rPr lang="en-US" dirty="0" err="1"/>
              <a:t>şunu</a:t>
            </a:r>
            <a:r>
              <a:rPr lang="en-US" dirty="0"/>
              <a:t> </a:t>
            </a:r>
            <a:r>
              <a:rPr lang="en-US" dirty="0" err="1"/>
              <a:t>dersiniz</a:t>
            </a:r>
            <a:r>
              <a:rPr lang="en-US" dirty="0"/>
              <a:t>: </a:t>
            </a:r>
            <a:r>
              <a:rPr lang="en-US" b="1" dirty="0"/>
              <a:t>"Ben bu </a:t>
            </a:r>
            <a:r>
              <a:rPr lang="en-US" b="1" dirty="0" err="1"/>
              <a:t>işin</a:t>
            </a:r>
            <a:r>
              <a:rPr lang="en-US" b="1" dirty="0"/>
              <a:t> </a:t>
            </a:r>
            <a:r>
              <a:rPr lang="en-US" b="1" dirty="0" err="1"/>
              <a:t>nasıl</a:t>
            </a:r>
            <a:r>
              <a:rPr lang="en-US" b="1" dirty="0"/>
              <a:t> </a:t>
            </a:r>
            <a:r>
              <a:rPr lang="en-US" b="1" dirty="0" err="1"/>
              <a:t>yapılacağını</a:t>
            </a:r>
            <a:r>
              <a:rPr lang="en-US" b="1" dirty="0"/>
              <a:t> </a:t>
            </a:r>
            <a:r>
              <a:rPr lang="en-US" b="1" dirty="0" err="1"/>
              <a:t>zaten</a:t>
            </a:r>
            <a:r>
              <a:rPr lang="en-US" b="1" dirty="0"/>
              <a:t> </a:t>
            </a:r>
            <a:r>
              <a:rPr lang="en-US" b="1" dirty="0" err="1"/>
              <a:t>biliyorum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sana </a:t>
            </a:r>
            <a:r>
              <a:rPr lang="en-US" b="1" dirty="0" err="1"/>
              <a:t>hazır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kod</a:t>
            </a:r>
            <a:r>
              <a:rPr lang="en-US" b="1" dirty="0"/>
              <a:t> </a:t>
            </a:r>
            <a:r>
              <a:rPr lang="en-US" b="1" dirty="0" err="1"/>
              <a:t>veriyorum</a:t>
            </a:r>
            <a:r>
              <a:rPr lang="en-US" b="1" dirty="0"/>
              <a:t>."</a:t>
            </a:r>
            <a:endParaRPr lang="en-US" dirty="0"/>
          </a:p>
          <a:p>
            <a:r>
              <a:rPr lang="en-US" dirty="0"/>
              <a:t>Alt </a:t>
            </a:r>
            <a:r>
              <a:rPr lang="en-US" dirty="0" err="1"/>
              <a:t>sınıf</a:t>
            </a:r>
            <a:r>
              <a:rPr lang="en-US" dirty="0"/>
              <a:t> bu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kullanmak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 ama </a:t>
            </a:r>
            <a:r>
              <a:rPr lang="en-US" b="1" dirty="0" err="1"/>
              <a:t>zaten</a:t>
            </a:r>
            <a:r>
              <a:rPr lang="en-US" b="1" dirty="0"/>
              <a:t> </a:t>
            </a:r>
            <a:r>
              <a:rPr lang="en-US" b="1" dirty="0" err="1"/>
              <a:t>ona</a:t>
            </a:r>
            <a:r>
              <a:rPr lang="en-US" b="1" dirty="0"/>
              <a:t> </a:t>
            </a:r>
            <a:r>
              <a:rPr lang="en-US" b="1" dirty="0" err="1"/>
              <a:t>sahiptir</a:t>
            </a:r>
            <a:r>
              <a:rPr lang="en-US" b="1" dirty="0"/>
              <a:t>.</a:t>
            </a:r>
            <a:endParaRPr lang="en-US" dirty="0"/>
          </a:p>
          <a:p>
            <a:endParaRPr lang="en-US" b="1" dirty="0"/>
          </a:p>
          <a:p>
            <a:br>
              <a:rPr lang="en-US" b="1" dirty="0"/>
            </a:br>
            <a:r>
              <a:rPr lang="en-US" b="1" dirty="0" err="1"/>
              <a:t>Farkı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Interface'lerden</a:t>
            </a:r>
            <a:r>
              <a:rPr lang="en-US" dirty="0"/>
              <a:t> </a:t>
            </a:r>
            <a:r>
              <a:rPr lang="en-US" dirty="0" err="1"/>
              <a:t>farkı</a:t>
            </a:r>
            <a:r>
              <a:rPr lang="en-US" dirty="0"/>
              <a:t>, </a:t>
            </a:r>
            <a:r>
              <a:rPr lang="en-US" dirty="0" err="1"/>
              <a:t>içinde</a:t>
            </a:r>
            <a:r>
              <a:rPr lang="en-US" dirty="0"/>
              <a:t> hem </a:t>
            </a:r>
            <a:r>
              <a:rPr lang="en-US" dirty="0" err="1"/>
              <a:t>gövdeli</a:t>
            </a:r>
            <a:r>
              <a:rPr lang="en-US" dirty="0"/>
              <a:t> (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içeren</a:t>
            </a:r>
            <a:r>
              <a:rPr lang="en-US" dirty="0"/>
              <a:t>) </a:t>
            </a:r>
            <a:r>
              <a:rPr lang="en-US" dirty="0" err="1"/>
              <a:t>metodlar</a:t>
            </a:r>
            <a:r>
              <a:rPr lang="en-US" dirty="0"/>
              <a:t> hem de </a:t>
            </a:r>
            <a:r>
              <a:rPr lang="en-US" dirty="0" err="1"/>
              <a:t>soyut</a:t>
            </a:r>
            <a:r>
              <a:rPr lang="en-US" dirty="0"/>
              <a:t> </a:t>
            </a:r>
            <a:r>
              <a:rPr lang="en-US" dirty="0" err="1"/>
              <a:t>metodlar</a:t>
            </a:r>
            <a:r>
              <a:rPr lang="en-US" dirty="0"/>
              <a:t> </a:t>
            </a:r>
            <a:r>
              <a:rPr lang="en-US" dirty="0" err="1"/>
              <a:t>barındırabilmesidir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OdemeSistemi</a:t>
            </a:r>
            <a:r>
              <a:rPr lang="en-US" dirty="0"/>
              <a:t> </a:t>
            </a:r>
            <a:r>
              <a:rPr lang="en-US" dirty="0" err="1"/>
              <a:t>geneldir</a:t>
            </a:r>
            <a:r>
              <a:rPr lang="en-US" dirty="0"/>
              <a:t>, "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ödeme</a:t>
            </a:r>
            <a:r>
              <a:rPr lang="en-US" dirty="0"/>
              <a:t> </a:t>
            </a:r>
            <a:r>
              <a:rPr lang="en-US" dirty="0" err="1"/>
              <a:t>yapılacağı</a:t>
            </a:r>
            <a:r>
              <a:rPr lang="en-US" dirty="0"/>
              <a:t>" alt </a:t>
            </a:r>
            <a:r>
              <a:rPr lang="en-US" dirty="0" err="1"/>
              <a:t>sınıfa</a:t>
            </a:r>
            <a:r>
              <a:rPr lang="en-US" dirty="0"/>
              <a:t> (Nakit, Kart) </a:t>
            </a:r>
            <a:r>
              <a:rPr lang="en-US" dirty="0" err="1"/>
              <a:t>bırakılmıştır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"</a:t>
            </a:r>
            <a:r>
              <a:rPr lang="en-US" dirty="0" err="1"/>
              <a:t>fiş</a:t>
            </a:r>
            <a:r>
              <a:rPr lang="en-US" dirty="0"/>
              <a:t> </a:t>
            </a:r>
            <a:r>
              <a:rPr lang="en-US" dirty="0" err="1"/>
              <a:t>kesme</a:t>
            </a:r>
            <a:r>
              <a:rPr lang="en-US" dirty="0"/>
              <a:t>" </a:t>
            </a:r>
            <a:r>
              <a:rPr lang="en-US" dirty="0" err="1"/>
              <a:t>işlemi</a:t>
            </a:r>
            <a:r>
              <a:rPr lang="en-US" dirty="0"/>
              <a:t> her </a:t>
            </a:r>
            <a:r>
              <a:rPr lang="en-US" dirty="0" err="1"/>
              <a:t>ödemede</a:t>
            </a:r>
            <a:r>
              <a:rPr lang="en-US" dirty="0"/>
              <a:t> </a:t>
            </a:r>
            <a:r>
              <a:rPr lang="en-US" dirty="0" err="1"/>
              <a:t>ortaktır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31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71568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Java'da</a:t>
            </a:r>
            <a:r>
              <a:rPr lang="en-US" dirty="0"/>
              <a:t> </a:t>
            </a:r>
            <a:r>
              <a:rPr lang="en-US" b="1" dirty="0" err="1"/>
              <a:t>üst</a:t>
            </a:r>
            <a:r>
              <a:rPr lang="en-US" b="1" dirty="0"/>
              <a:t> </a:t>
            </a:r>
            <a:r>
              <a:rPr lang="en-US" b="1" dirty="0" err="1"/>
              <a:t>seviye</a:t>
            </a:r>
            <a:r>
              <a:rPr lang="en-US" b="1" dirty="0"/>
              <a:t> (top-level)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tanımlayamazsınız</a:t>
            </a:r>
            <a:r>
              <a:rPr lang="en-US" dirty="0"/>
              <a:t>;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 static class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BenimSinifim</a:t>
            </a:r>
            <a:r>
              <a:rPr lang="en-US" dirty="0"/>
              <a:t> </a:t>
            </a:r>
            <a:r>
              <a:rPr lang="en-US" dirty="0" err="1"/>
              <a:t>şeklinde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ana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oluşturulamaz</a:t>
            </a:r>
            <a:r>
              <a:rPr lang="en-US" dirty="0"/>
              <a:t>. </a:t>
            </a:r>
            <a:r>
              <a:rPr lang="en-US" dirty="0" err="1"/>
              <a:t>Ancak</a:t>
            </a:r>
            <a:r>
              <a:rPr lang="en-US" dirty="0"/>
              <a:t>, </a:t>
            </a:r>
            <a:r>
              <a:rPr lang="en-US" b="1" dirty="0"/>
              <a:t>"</a:t>
            </a:r>
            <a:r>
              <a:rPr lang="en-US" b="1" dirty="0" err="1"/>
              <a:t>İç</a:t>
            </a:r>
            <a:r>
              <a:rPr lang="en-US" b="1" dirty="0"/>
              <a:t> </a:t>
            </a:r>
            <a:r>
              <a:rPr lang="en-US" b="1" dirty="0" err="1"/>
              <a:t>İçe</a:t>
            </a:r>
            <a:r>
              <a:rPr lang="en-US" b="1" dirty="0"/>
              <a:t> </a:t>
            </a:r>
            <a:r>
              <a:rPr lang="en-US" b="1" dirty="0" err="1"/>
              <a:t>Geçmiş</a:t>
            </a:r>
            <a:r>
              <a:rPr lang="en-US" b="1" dirty="0"/>
              <a:t> </a:t>
            </a:r>
            <a:r>
              <a:rPr lang="en-US" b="1" dirty="0" err="1"/>
              <a:t>Sınıflar</a:t>
            </a:r>
            <a:r>
              <a:rPr lang="en-US" b="1" dirty="0"/>
              <a:t>" (Nested Classes)</a:t>
            </a:r>
            <a:r>
              <a:rPr lang="en-US" dirty="0"/>
              <a:t> </a:t>
            </a:r>
            <a:r>
              <a:rPr lang="en-US" dirty="0" err="1"/>
              <a:t>söz</a:t>
            </a:r>
            <a:r>
              <a:rPr lang="en-US" dirty="0"/>
              <a:t> </a:t>
            </a:r>
            <a:r>
              <a:rPr lang="en-US" dirty="0" err="1"/>
              <a:t>konusu</a:t>
            </a:r>
            <a:r>
              <a:rPr lang="en-US" dirty="0"/>
              <a:t> </a:t>
            </a:r>
            <a:r>
              <a:rPr lang="en-US" dirty="0" err="1"/>
              <a:t>olduğunda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 </a:t>
            </a:r>
            <a:r>
              <a:rPr lang="en-US" dirty="0" err="1"/>
              <a:t>anahtar</a:t>
            </a:r>
            <a:r>
              <a:rPr lang="en-US" dirty="0"/>
              <a:t> </a:t>
            </a:r>
            <a:r>
              <a:rPr lang="en-US" dirty="0" err="1"/>
              <a:t>kelimesini</a:t>
            </a:r>
            <a:r>
              <a:rPr lang="en-US" dirty="0"/>
              <a:t> </a:t>
            </a:r>
            <a:r>
              <a:rPr lang="en-US" dirty="0" err="1"/>
              <a:t>kullanabilirsiniz</a:t>
            </a:r>
            <a:r>
              <a:rPr lang="en-US" dirty="0"/>
              <a:t>.</a:t>
            </a: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33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53614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amacınız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metotları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değişkenleri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, </a:t>
            </a:r>
            <a:r>
              <a:rPr lang="en-US" dirty="0" err="1"/>
              <a:t>hiç</a:t>
            </a:r>
            <a:r>
              <a:rPr lang="en-US" dirty="0"/>
              <a:t> </a:t>
            </a:r>
            <a:r>
              <a:rPr lang="en-US" dirty="0" err="1"/>
              <a:t>nesnesi</a:t>
            </a:r>
            <a:r>
              <a:rPr lang="en-US" dirty="0"/>
              <a:t> </a:t>
            </a:r>
            <a:r>
              <a:rPr lang="en-US" dirty="0" err="1"/>
              <a:t>oluşturulmayan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yapmaksa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), </a:t>
            </a:r>
            <a:r>
              <a:rPr lang="en-US" dirty="0" err="1"/>
              <a:t>bunu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tasarlarsınız</a:t>
            </a:r>
            <a:r>
              <a:rPr lang="en-US" dirty="0"/>
              <a:t>:</a:t>
            </a:r>
          </a:p>
          <a:p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</a:t>
            </a:r>
            <a:r>
              <a:rPr lang="en-US" dirty="0"/>
              <a:t> </a:t>
            </a:r>
            <a:r>
              <a:rPr lang="en-US" dirty="0" err="1"/>
              <a:t>yaparsınız</a:t>
            </a:r>
            <a:r>
              <a:rPr lang="en-US" dirty="0"/>
              <a:t> (</a:t>
            </a:r>
            <a:r>
              <a:rPr lang="en-US" dirty="0" err="1"/>
              <a:t>kalıtımı</a:t>
            </a:r>
            <a:r>
              <a:rPr lang="en-US" dirty="0"/>
              <a:t> </a:t>
            </a:r>
            <a:r>
              <a:rPr lang="en-US" dirty="0" err="1"/>
              <a:t>engellemek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).</a:t>
            </a:r>
          </a:p>
          <a:p>
            <a:r>
              <a:rPr lang="en-US" b="1" dirty="0" err="1"/>
              <a:t>Kurucu</a:t>
            </a:r>
            <a:r>
              <a:rPr lang="en-US" b="1" dirty="0"/>
              <a:t> </a:t>
            </a:r>
            <a:r>
              <a:rPr lang="en-US" b="1" dirty="0" err="1"/>
              <a:t>fonksiyonu</a:t>
            </a:r>
            <a:r>
              <a:rPr lang="en-US" b="1" dirty="0"/>
              <a:t> (Constructor)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private</a:t>
            </a:r>
            <a:r>
              <a:rPr lang="en-US" b="1" dirty="0"/>
              <a:t> </a:t>
            </a:r>
            <a:r>
              <a:rPr lang="en-US" b="1" dirty="0" err="1"/>
              <a:t>yaparsınız</a:t>
            </a:r>
            <a:r>
              <a:rPr lang="en-US" dirty="0"/>
              <a:t> (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oluşturulmasını</a:t>
            </a:r>
            <a:r>
              <a:rPr lang="en-US" dirty="0"/>
              <a:t> </a:t>
            </a:r>
            <a:r>
              <a:rPr lang="en-US" dirty="0" err="1"/>
              <a:t>engellemek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).</a:t>
            </a:r>
          </a:p>
          <a:p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metotları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 </a:t>
            </a:r>
            <a:r>
              <a:rPr lang="en-US" dirty="0" err="1"/>
              <a:t>tanımlarsınız</a:t>
            </a:r>
            <a:r>
              <a:rPr lang="en-US" dirty="0"/>
              <a:t>.</a:t>
            </a: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34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82122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içine</a:t>
            </a:r>
            <a:r>
              <a:rPr lang="en-US" dirty="0"/>
              <a:t> </a:t>
            </a:r>
            <a:r>
              <a:rPr lang="en-US" b="1" dirty="0" err="1"/>
              <a:t>yardımcı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sınıf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yazarsan</a:t>
            </a:r>
            <a:r>
              <a:rPr lang="en-US" dirty="0"/>
              <a:t> (buna </a:t>
            </a:r>
            <a:r>
              <a:rPr lang="en-US" i="1" dirty="0" err="1"/>
              <a:t>İç</a:t>
            </a:r>
            <a:r>
              <a:rPr lang="en-US" i="1" dirty="0"/>
              <a:t> </a:t>
            </a:r>
            <a:r>
              <a:rPr lang="en-US" i="1" dirty="0" err="1"/>
              <a:t>Sınıf</a:t>
            </a:r>
            <a:r>
              <a:rPr lang="en-US" i="1" dirty="0"/>
              <a:t>/Nested Class</a:t>
            </a:r>
            <a:r>
              <a:rPr lang="en-US" dirty="0"/>
              <a:t> </a:t>
            </a:r>
            <a:r>
              <a:rPr lang="en-US" dirty="0" err="1"/>
              <a:t>denir</a:t>
            </a:r>
            <a:r>
              <a:rPr lang="en-US" dirty="0"/>
              <a:t>), </a:t>
            </a:r>
            <a:r>
              <a:rPr lang="en-US" dirty="0" err="1"/>
              <a:t>işte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 </a:t>
            </a:r>
            <a:r>
              <a:rPr lang="en-US" dirty="0" err="1"/>
              <a:t>yapabilirsin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b="1" dirty="0" err="1"/>
              <a:t>Bunu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hastane</a:t>
            </a:r>
            <a:r>
              <a:rPr lang="en-US" b="1" dirty="0"/>
              <a:t> </a:t>
            </a:r>
            <a:r>
              <a:rPr lang="en-US" b="1" dirty="0" err="1"/>
              <a:t>örneğiyle</a:t>
            </a:r>
            <a:r>
              <a:rPr lang="en-US" b="1" dirty="0"/>
              <a:t> </a:t>
            </a:r>
            <a:r>
              <a:rPr lang="en-US" b="1" dirty="0" err="1"/>
              <a:t>düşün</a:t>
            </a:r>
            <a:r>
              <a:rPr lang="en-US" b="1" dirty="0"/>
              <a:t>:</a:t>
            </a:r>
            <a:endParaRPr lang="en-US" dirty="0"/>
          </a:p>
          <a:p>
            <a:r>
              <a:rPr lang="en-US" b="1" dirty="0" err="1"/>
              <a:t>Hastane</a:t>
            </a:r>
            <a:r>
              <a:rPr lang="en-US" b="1" dirty="0"/>
              <a:t> (Ana </a:t>
            </a:r>
            <a:r>
              <a:rPr lang="en-US" b="1" dirty="0" err="1"/>
              <a:t>Sınıf</a:t>
            </a:r>
            <a:r>
              <a:rPr lang="en-US" b="1" dirty="0"/>
              <a:t>):</a:t>
            </a:r>
            <a:r>
              <a:rPr lang="en-US" dirty="0"/>
              <a:t> Statik </a:t>
            </a:r>
            <a:r>
              <a:rPr lang="en-US" dirty="0" err="1"/>
              <a:t>olamaz</a:t>
            </a:r>
            <a:r>
              <a:rPr lang="en-US" dirty="0"/>
              <a:t>.</a:t>
            </a:r>
          </a:p>
          <a:p>
            <a:r>
              <a:rPr lang="en-US" b="1" dirty="0" err="1"/>
              <a:t>RöntgenCihazi</a:t>
            </a:r>
            <a:r>
              <a:rPr lang="en-US" b="1" dirty="0"/>
              <a:t> (</a:t>
            </a:r>
            <a:r>
              <a:rPr lang="en-US" b="1" dirty="0" err="1"/>
              <a:t>İç</a:t>
            </a:r>
            <a:r>
              <a:rPr lang="en-US" b="1" dirty="0"/>
              <a:t> </a:t>
            </a:r>
            <a:r>
              <a:rPr lang="en-US" b="1" dirty="0" err="1"/>
              <a:t>Sınıf</a:t>
            </a:r>
            <a:r>
              <a:rPr lang="en-US" b="1" dirty="0"/>
              <a:t>):</a:t>
            </a:r>
            <a:r>
              <a:rPr lang="en-US" dirty="0"/>
              <a:t> Statik </a:t>
            </a:r>
            <a:r>
              <a:rPr lang="en-US" dirty="0" err="1"/>
              <a:t>olabilir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röntgen</a:t>
            </a:r>
            <a:r>
              <a:rPr lang="en-US" dirty="0"/>
              <a:t> </a:t>
            </a:r>
            <a:r>
              <a:rPr lang="en-US" dirty="0" err="1"/>
              <a:t>cihazı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: </a:t>
            </a:r>
            <a:r>
              <a:rPr lang="en-US" dirty="0" err="1"/>
              <a:t>Hastaneden</a:t>
            </a:r>
            <a:r>
              <a:rPr lang="en-US" dirty="0"/>
              <a:t> </a:t>
            </a:r>
            <a:r>
              <a:rPr lang="en-US" dirty="0" err="1"/>
              <a:t>bağımsız</a:t>
            </a:r>
            <a:r>
              <a:rPr lang="en-US" dirty="0"/>
              <a:t> </a:t>
            </a:r>
            <a:r>
              <a:rPr lang="en-US" dirty="0" err="1"/>
              <a:t>çalışabilir</a:t>
            </a:r>
            <a:r>
              <a:rPr lang="en-US" dirty="0"/>
              <a:t> (</a:t>
            </a:r>
            <a:r>
              <a:rPr lang="en-US" dirty="0" err="1"/>
              <a:t>hastaneye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hasta </a:t>
            </a:r>
            <a:r>
              <a:rPr lang="en-US" dirty="0" err="1"/>
              <a:t>kaydı</a:t>
            </a:r>
            <a:r>
              <a:rPr lang="en-US" dirty="0"/>
              <a:t> </a:t>
            </a:r>
            <a:r>
              <a:rPr lang="en-US" dirty="0" err="1"/>
              <a:t>açmadan</a:t>
            </a:r>
            <a:r>
              <a:rPr lang="en-US" dirty="0"/>
              <a:t> </a:t>
            </a:r>
            <a:r>
              <a:rPr lang="en-US" dirty="0" err="1"/>
              <a:t>cihazı</a:t>
            </a:r>
            <a:r>
              <a:rPr lang="en-US" dirty="0"/>
              <a:t> </a:t>
            </a:r>
            <a:r>
              <a:rPr lang="en-US" dirty="0" err="1"/>
              <a:t>fişe</a:t>
            </a:r>
            <a:r>
              <a:rPr lang="en-US" dirty="0"/>
              <a:t> </a:t>
            </a:r>
            <a:r>
              <a:rPr lang="en-US" dirty="0" err="1"/>
              <a:t>takıp</a:t>
            </a:r>
            <a:r>
              <a:rPr lang="en-US" dirty="0"/>
              <a:t> test </a:t>
            </a:r>
            <a:r>
              <a:rPr lang="en-US" dirty="0" err="1"/>
              <a:t>edebilirsin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static</a:t>
            </a:r>
            <a:r>
              <a:rPr lang="en-US" dirty="0"/>
              <a:t> </a:t>
            </a:r>
            <a:r>
              <a:rPr lang="en-US" dirty="0" err="1"/>
              <a:t>değilse</a:t>
            </a:r>
            <a:r>
              <a:rPr lang="en-US" dirty="0"/>
              <a:t>: </a:t>
            </a:r>
            <a:r>
              <a:rPr lang="en-US" dirty="0" err="1"/>
              <a:t>Çalışması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mutlaka</a:t>
            </a:r>
            <a:r>
              <a:rPr lang="en-US" dirty="0"/>
              <a:t> o </a:t>
            </a:r>
            <a:r>
              <a:rPr lang="en-US" dirty="0" err="1"/>
              <a:t>hastaneye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"hasta </a:t>
            </a:r>
            <a:r>
              <a:rPr lang="en-US" dirty="0" err="1"/>
              <a:t>nesnesi</a:t>
            </a:r>
            <a:r>
              <a:rPr lang="en-US" dirty="0"/>
              <a:t>"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</a:t>
            </a: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35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441996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/>
              <a:t>Anahtar</a:t>
            </a:r>
            <a:r>
              <a:rPr lang="en-US" sz="1200" dirty="0"/>
              <a:t>: @Override </a:t>
            </a:r>
            <a:r>
              <a:rPr lang="en-US" sz="1200" dirty="0" err="1"/>
              <a:t>notasyonu</a:t>
            </a:r>
            <a:r>
              <a:rPr lang="en-US" sz="1200" dirty="0"/>
              <a:t> (Annotation). </a:t>
            </a:r>
            <a:r>
              <a:rPr lang="en-US" sz="1200" dirty="0" err="1"/>
              <a:t>Zorunlu</a:t>
            </a:r>
            <a:r>
              <a:rPr lang="en-US" sz="1200" dirty="0"/>
              <a:t> </a:t>
            </a:r>
            <a:r>
              <a:rPr lang="en-US" sz="1200" dirty="0" err="1"/>
              <a:t>değildir</a:t>
            </a:r>
            <a:r>
              <a:rPr lang="en-US" sz="1200" dirty="0"/>
              <a:t> ama </a:t>
            </a:r>
            <a:r>
              <a:rPr lang="en-US" sz="1200" dirty="0" err="1"/>
              <a:t>hataları</a:t>
            </a:r>
            <a:r>
              <a:rPr lang="en-US" sz="1200" dirty="0"/>
              <a:t> </a:t>
            </a:r>
            <a:r>
              <a:rPr lang="en-US" sz="1200" dirty="0" err="1"/>
              <a:t>önlemek</a:t>
            </a:r>
            <a:r>
              <a:rPr lang="en-US" sz="1200" dirty="0"/>
              <a:t> </a:t>
            </a:r>
            <a:r>
              <a:rPr lang="en-US" sz="1200" dirty="0" err="1"/>
              <a:t>için</a:t>
            </a:r>
            <a:r>
              <a:rPr lang="en-US" sz="1200" dirty="0"/>
              <a:t> </a:t>
            </a:r>
            <a:r>
              <a:rPr lang="en-US" sz="1200" dirty="0" err="1"/>
              <a:t>şiddetle</a:t>
            </a:r>
            <a:r>
              <a:rPr lang="en-US" sz="1200" dirty="0"/>
              <a:t> </a:t>
            </a:r>
            <a:r>
              <a:rPr lang="en-US" sz="1200" dirty="0" err="1"/>
              <a:t>tavsiye</a:t>
            </a:r>
            <a:r>
              <a:rPr lang="en-US" sz="1200" dirty="0"/>
              <a:t> </a:t>
            </a:r>
            <a:r>
              <a:rPr lang="en-US" sz="1200" dirty="0" err="1"/>
              <a:t>edilir</a:t>
            </a:r>
            <a:r>
              <a:rPr lang="en-US" sz="1200" dirty="0"/>
              <a:t>.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Yonetici</a:t>
            </a:r>
            <a:r>
              <a:rPr lang="en-US" dirty="0"/>
              <a:t> </a:t>
            </a:r>
            <a:r>
              <a:rPr lang="en-US" dirty="0" err="1"/>
              <a:t>sınıfı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Calisan</a:t>
            </a:r>
            <a:r>
              <a:rPr lang="en-US" dirty="0"/>
              <a:t> </a:t>
            </a:r>
            <a:r>
              <a:rPr lang="en-US" dirty="0" err="1"/>
              <a:t>sınıfındaki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maasHesapla</a:t>
            </a:r>
            <a:r>
              <a:rPr lang="en-US" dirty="0"/>
              <a:t> </a:t>
            </a:r>
            <a:r>
              <a:rPr lang="en-US" dirty="0" err="1"/>
              <a:t>metodunu</a:t>
            </a:r>
            <a:r>
              <a:rPr lang="en-US" dirty="0"/>
              <a:t> "</a:t>
            </a:r>
            <a:r>
              <a:rPr lang="en-US" dirty="0" err="1"/>
              <a:t>ezerek</a:t>
            </a:r>
            <a:r>
              <a:rPr lang="en-US" dirty="0"/>
              <a:t>"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versiyonunu</a:t>
            </a:r>
            <a:r>
              <a:rPr lang="en-US" dirty="0"/>
              <a:t> </a:t>
            </a:r>
            <a:r>
              <a:rPr lang="en-US" dirty="0" err="1"/>
              <a:t>sunar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nesneyi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Calisan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 = new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Yonetici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  <a:r>
              <a:rPr lang="en-US" dirty="0"/>
              <a:t> </a:t>
            </a:r>
            <a:r>
              <a:rPr lang="en-US" dirty="0" err="1"/>
              <a:t>şeklinde</a:t>
            </a:r>
            <a:r>
              <a:rPr lang="en-US" dirty="0"/>
              <a:t> </a:t>
            </a:r>
            <a:r>
              <a:rPr lang="en-US" dirty="0" err="1"/>
              <a:t>tanımlarsan</a:t>
            </a:r>
            <a:r>
              <a:rPr lang="en-US" dirty="0"/>
              <a:t>, </a:t>
            </a: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anında</a:t>
            </a:r>
            <a:r>
              <a:rPr lang="en-US" dirty="0"/>
              <a:t> (runtime) </a:t>
            </a:r>
            <a:r>
              <a:rPr lang="en-US" dirty="0" err="1"/>
              <a:t>yöneticinin</a:t>
            </a:r>
            <a:r>
              <a:rPr lang="en-US" dirty="0"/>
              <a:t>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.</a:t>
            </a:r>
            <a:endParaRPr lang="en-US" sz="1200" dirty="0"/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36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85743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alt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nesnesi</a:t>
            </a:r>
            <a:r>
              <a:rPr lang="en-US" dirty="0"/>
              <a:t> </a:t>
            </a:r>
            <a:r>
              <a:rPr lang="en-US" dirty="0" err="1"/>
              <a:t>oluşturulduğunda</a:t>
            </a:r>
            <a:r>
              <a:rPr lang="en-US" dirty="0"/>
              <a:t>,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nesnesi</a:t>
            </a:r>
            <a:r>
              <a:rPr lang="en-US" dirty="0"/>
              <a:t> </a:t>
            </a:r>
            <a:r>
              <a:rPr lang="en-US" dirty="0" err="1"/>
              <a:t>inşa</a:t>
            </a:r>
            <a:r>
              <a:rPr lang="en-US" dirty="0"/>
              <a:t> </a:t>
            </a:r>
            <a:r>
              <a:rPr lang="en-US" dirty="0" err="1"/>
              <a:t>edilmelidir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parametreli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kurucusu</a:t>
            </a:r>
            <a:r>
              <a:rPr lang="en-US" dirty="0"/>
              <a:t> </a:t>
            </a:r>
            <a:r>
              <a:rPr lang="en-US" dirty="0" err="1"/>
              <a:t>varsa</a:t>
            </a:r>
            <a:r>
              <a:rPr lang="en-US" dirty="0"/>
              <a:t>, alt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super()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bu </a:t>
            </a:r>
            <a:r>
              <a:rPr lang="en-US" dirty="0" err="1"/>
              <a:t>parametreleri</a:t>
            </a:r>
            <a:r>
              <a:rPr lang="en-US" dirty="0"/>
              <a:t> </a:t>
            </a:r>
            <a:r>
              <a:rPr lang="en-US" dirty="0" err="1"/>
              <a:t>yukarıya</a:t>
            </a:r>
            <a:r>
              <a:rPr lang="en-US" dirty="0"/>
              <a:t> </a:t>
            </a:r>
            <a:r>
              <a:rPr lang="en-US" dirty="0" err="1"/>
              <a:t>göndermek</a:t>
            </a:r>
            <a:r>
              <a:rPr lang="en-US" dirty="0"/>
              <a:t> </a:t>
            </a:r>
            <a:r>
              <a:rPr lang="en-US" dirty="0" err="1"/>
              <a:t>zorundadır</a:t>
            </a:r>
            <a:r>
              <a:rPr lang="en-US" dirty="0"/>
              <a:t>.</a:t>
            </a:r>
          </a:p>
          <a:p>
            <a:r>
              <a:rPr lang="en-US" b="1" dirty="0"/>
              <a:t>Kural: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super()</a:t>
            </a:r>
            <a:r>
              <a:rPr lang="en-US" dirty="0"/>
              <a:t> </a:t>
            </a:r>
            <a:r>
              <a:rPr lang="en-US" dirty="0" err="1"/>
              <a:t>ifadesi</a:t>
            </a:r>
            <a:r>
              <a:rPr lang="en-US" dirty="0"/>
              <a:t>, alt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kurucusunun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b="1" dirty="0"/>
              <a:t>her zaman ilk </a:t>
            </a:r>
            <a:r>
              <a:rPr lang="en-US" b="1" dirty="0" err="1"/>
              <a:t>satırda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.</a:t>
            </a:r>
          </a:p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38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184891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Eğer</a:t>
            </a:r>
            <a:r>
              <a:rPr lang="en-US" dirty="0"/>
              <a:t> alt </a:t>
            </a:r>
            <a:r>
              <a:rPr lang="en-US" dirty="0" err="1"/>
              <a:t>sınıf</a:t>
            </a:r>
            <a:r>
              <a:rPr lang="en-US" dirty="0"/>
              <a:t>,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sınıftan</a:t>
            </a:r>
            <a:r>
              <a:rPr lang="en-US" dirty="0"/>
              <a:t> </a:t>
            </a:r>
            <a:r>
              <a:rPr lang="en-US" dirty="0" err="1"/>
              <a:t>gelen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ezmişse</a:t>
            </a:r>
            <a:r>
              <a:rPr lang="en-US" dirty="0"/>
              <a:t>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@Override</a:t>
            </a:r>
            <a:r>
              <a:rPr lang="en-US" dirty="0"/>
              <a:t>), ama </a:t>
            </a:r>
            <a:r>
              <a:rPr lang="en-US" dirty="0" err="1"/>
              <a:t>hala</a:t>
            </a:r>
            <a:r>
              <a:rPr lang="en-US" dirty="0"/>
              <a:t>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sınıftaki</a:t>
            </a:r>
            <a:r>
              <a:rPr lang="en-US" dirty="0"/>
              <a:t> o </a:t>
            </a:r>
            <a:r>
              <a:rPr lang="en-US" dirty="0" err="1"/>
              <a:t>metodun</a:t>
            </a:r>
            <a:r>
              <a:rPr lang="en-US" dirty="0"/>
              <a:t> </a:t>
            </a:r>
            <a:r>
              <a:rPr lang="en-US" dirty="0" err="1"/>
              <a:t>orijinal</a:t>
            </a:r>
            <a:r>
              <a:rPr lang="en-US" dirty="0"/>
              <a:t> </a:t>
            </a:r>
            <a:r>
              <a:rPr lang="en-US" dirty="0" err="1"/>
              <a:t>haline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duyuyorsa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super.metotAdi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39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28697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</a:t>
            </a:r>
            <a:r>
              <a:rPr lang="en-US" dirty="0" err="1"/>
              <a:t>dönüşümün</a:t>
            </a:r>
            <a:r>
              <a:rPr lang="en-US" dirty="0"/>
              <a:t> </a:t>
            </a:r>
            <a:r>
              <a:rPr lang="en-US" dirty="0" err="1"/>
              <a:t>yapılabilmesi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</a:t>
            </a:r>
            <a:r>
              <a:rPr lang="en-US" dirty="0" err="1"/>
              <a:t>mutlaka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b="1" dirty="0" err="1"/>
              <a:t>Kalıtım</a:t>
            </a:r>
            <a:r>
              <a:rPr lang="en-US" b="1" dirty="0"/>
              <a:t> (Inheritance)</a:t>
            </a:r>
            <a:r>
              <a:rPr lang="en-US" dirty="0"/>
              <a:t> 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b="1" dirty="0"/>
              <a:t>Interface</a:t>
            </a:r>
            <a:r>
              <a:rPr lang="en-US" dirty="0"/>
              <a:t> </a:t>
            </a:r>
            <a:r>
              <a:rPr lang="en-US" dirty="0" err="1"/>
              <a:t>ilişkisi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E1E5ED-C8CB-FC40-BC90-8911970EC7DD}" type="slidenum">
              <a:rPr lang="en-TR" smtClean="0"/>
              <a:t>42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483023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71CCB-4D29-D07E-7C18-D395C146C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87FAF-19BC-B0AB-7C45-8A3A0A927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D0285-A68F-91F5-CD7C-6CD735AAD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59D87-9759-FD91-7D39-1D5DD417F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BD417-7FCB-48CD-F6BD-0BA0659E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3108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B191-5C8A-16C9-880E-46A03EFB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3B290-99C6-ED4B-8749-4D6E89809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30FE7-FEE6-A6C1-851A-AD00B3CA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68662-0A5F-0FBA-3678-96C7C55C8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4BE35-886E-FEF3-C596-AF382DED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856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59F0-DEF9-9817-F9BF-15744A7E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27913-9889-9349-08E0-226462318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C0FA9-3C39-9231-EDF8-BA5A2E458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99C85-9045-52FF-FB56-818C2CC7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C3CA0-E225-CE4D-F1E3-0505DF52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73941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3E10-3577-608E-8F9F-775D87D14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88862-F41A-3888-1F94-731543175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1AC57-0D13-1A92-6408-8ACA1B65F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9A67D-BD90-96E3-5CC2-88F2F5106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8CC61-F8CD-6F60-9409-CC20C73D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9411B-2884-2DF4-C0DB-A852F6111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90136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C6B15-CC14-F232-6D42-22CAB082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4A179-7229-BFB4-8B65-A885B76DF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548B5-A048-BF9C-58B3-34CCE6116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7F9194-9E8F-6EE7-ABCA-7AFFDEBB8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C45077-055C-D869-D04C-14070E3C25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3B19DA-04E8-4816-798C-5EB941D47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B1CDB3-576F-FBF8-5DE4-6FC3FE47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F42BEE-B05E-0821-08CE-3EF285FD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94854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354E3-7021-BF04-B0BF-F4DA3E2F0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00C9E-BA32-E543-42EE-0582949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4F01D-9A52-B98C-FE61-6BBD9DFA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594C7-FBD1-AF0B-6F46-BC69CF38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6005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4E1F0-C2C5-D462-13E3-1476B9D6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D9020-E615-D48C-4471-A749341F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82365-F5BD-87BF-517B-93D700DB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5071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E31D-EDDB-240F-1B89-ABE3C68C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BC80E-F0AB-43B0-95D8-6B3826137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1BCAE-883D-588C-D9A8-F5577895D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0B41F-EB20-FF73-0CDD-5EB851801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754B6-60EC-EE42-5860-C772E5CC6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D7DCF-1EFD-8194-BA30-63E957F7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9989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6573-36C6-76A9-381D-92076B3F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3C1C1A-7CAF-0F51-7BFB-49B9F4FB5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56D09-045E-40A3-2112-E3C5EA1BE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0683E-C0F0-0715-F708-5BC8DF0A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9A5B8-A8DA-312C-B597-2970AAAB7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9663F-FCB5-3E40-6C22-BE2D7D29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4891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4816-A55B-0933-60E1-F95E008C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DB581-886D-416F-45B2-3B986E4B7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BC64C-A2D5-EA7D-8586-506E79AA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AB25E-41A8-A8CD-A188-FAB6451F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8227A-7A2F-A876-D846-F91171616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8023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2F71D1-7402-3B11-224D-A3773BDCC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6DF6A-DBC1-2800-D879-CAB755946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E362B-450F-7ADC-FC4D-FC4D7AA1C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539D3-FA16-B647-CD33-B28C3C4E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9F86-8A56-B91F-8752-D3A5A4EE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2755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EB55A-F500-6805-3943-1C4CB5F4B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30E6C-1F25-4583-EA04-14597B6BB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FC09C-7654-C5C2-BA45-3569668537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4FB1C-1FFD-D24C-B9EA-AEB9CFECBC71}" type="datetimeFigureOut">
              <a:rPr lang="en-TR" smtClean="0"/>
              <a:t>20.02.2026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74194-88D4-F683-28C2-0F9C2EFFD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41C46-B9A8-5E53-10C6-5AF99DBA0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EC29AD-8219-0842-BB58-52B8ECD975E8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85927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3E0C-23E1-2D63-E9D6-BABEBDCE75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TR" dirty="0"/>
              <a:t>Nesneye Dayalı Programlama Temelleri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16256-4581-AC77-4EFA-F2BFF5B557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TR" dirty="0"/>
              <a:t>Sümeyye Kaynak</a:t>
            </a:r>
          </a:p>
        </p:txBody>
      </p:sp>
    </p:spTree>
    <p:extLst>
      <p:ext uri="{BB962C8B-B14F-4D97-AF65-F5344CB8AC3E}">
        <p14:creationId xmlns:p14="http://schemas.microsoft.com/office/powerpoint/2010/main" val="1824066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ED84-A050-DA36-5A6A-7C8A35454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Gerçek dünya problemi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7581C-3070-EC6A-8D1F-67A397360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Veri</a:t>
            </a:r>
          </a:p>
          <a:p>
            <a:r>
              <a:rPr lang="en-TR" dirty="0"/>
              <a:t>Algoritma</a:t>
            </a:r>
          </a:p>
          <a:p>
            <a:r>
              <a:rPr lang="en-TR" dirty="0"/>
              <a:t>Program</a:t>
            </a:r>
          </a:p>
          <a:p>
            <a:r>
              <a:rPr lang="en-TR" dirty="0"/>
              <a:t>Veri yapıları</a:t>
            </a:r>
          </a:p>
          <a:p>
            <a:r>
              <a:rPr lang="en-TR" dirty="0"/>
              <a:t>Veritabanları</a:t>
            </a:r>
          </a:p>
          <a:p>
            <a:r>
              <a:rPr lang="en-TR" dirty="0"/>
              <a:t>Çıkış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00113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A88E-1CF9-AFB5-108A-908ED5668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Yazılım</a:t>
            </a:r>
            <a:r>
              <a:rPr lang="en-US" dirty="0"/>
              <a:t> Geliştirme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Döngüsü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A6A2E-E7FD-0B0A-C2E4-512CAAA09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Bir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geliştirmek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“</a:t>
            </a:r>
            <a:r>
              <a:rPr lang="en-US" dirty="0" err="1"/>
              <a:t>Bilgisayarı</a:t>
            </a:r>
            <a:r>
              <a:rPr lang="en-US" dirty="0"/>
              <a:t> </a:t>
            </a:r>
            <a:r>
              <a:rPr lang="en-US" dirty="0" err="1"/>
              <a:t>açıp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yazmaya</a:t>
            </a:r>
            <a:r>
              <a:rPr lang="en-US" dirty="0"/>
              <a:t> </a:t>
            </a:r>
            <a:r>
              <a:rPr lang="en-US" dirty="0" err="1"/>
              <a:t>başlamak</a:t>
            </a:r>
            <a:r>
              <a:rPr lang="en-US" dirty="0"/>
              <a:t>” </a:t>
            </a:r>
            <a:r>
              <a:rPr lang="en-US" dirty="0" err="1"/>
              <a:t>değildir</a:t>
            </a:r>
            <a:r>
              <a:rPr lang="en-US" dirty="0"/>
              <a:t>.</a:t>
            </a:r>
          </a:p>
          <a:p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geliştirme</a:t>
            </a:r>
            <a:r>
              <a:rPr lang="en-US" dirty="0"/>
              <a:t>, </a:t>
            </a:r>
            <a:r>
              <a:rPr lang="en-US" dirty="0" err="1"/>
              <a:t>planlı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sistematik</a:t>
            </a:r>
            <a:r>
              <a:rPr lang="en-US" dirty="0"/>
              <a:t> </a:t>
            </a:r>
            <a:r>
              <a:rPr lang="en-US" dirty="0" err="1"/>
              <a:t>ilerleyen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süreçtir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Bu </a:t>
            </a:r>
            <a:r>
              <a:rPr lang="en-US" dirty="0" err="1"/>
              <a:t>sürece</a:t>
            </a:r>
            <a:r>
              <a:rPr lang="en-US" dirty="0"/>
              <a:t> </a:t>
            </a:r>
            <a:r>
              <a:rPr lang="en-US" b="1" dirty="0" err="1"/>
              <a:t>Yazılım</a:t>
            </a:r>
            <a:r>
              <a:rPr lang="en-US" b="1" dirty="0"/>
              <a:t> Geliştirme </a:t>
            </a:r>
            <a:r>
              <a:rPr lang="en-US" b="1" dirty="0" err="1"/>
              <a:t>Yaşam</a:t>
            </a:r>
            <a:r>
              <a:rPr lang="en-US" b="1" dirty="0"/>
              <a:t> </a:t>
            </a:r>
            <a:r>
              <a:rPr lang="en-US" b="1" dirty="0" err="1"/>
              <a:t>Döngüsü</a:t>
            </a:r>
            <a:r>
              <a:rPr lang="en-US" dirty="0"/>
              <a:t> </a:t>
            </a:r>
            <a:r>
              <a:rPr lang="en-US" dirty="0" err="1"/>
              <a:t>denir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Amaç:</a:t>
            </a:r>
          </a:p>
          <a:p>
            <a:r>
              <a:rPr lang="en-US" dirty="0" err="1"/>
              <a:t>Hataları</a:t>
            </a:r>
            <a:r>
              <a:rPr lang="en-US" dirty="0"/>
              <a:t> </a:t>
            </a:r>
            <a:r>
              <a:rPr lang="en-US" dirty="0" err="1"/>
              <a:t>azaltmak</a:t>
            </a:r>
            <a:endParaRPr lang="en-US" dirty="0"/>
          </a:p>
          <a:p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tutmak</a:t>
            </a:r>
            <a:endParaRPr lang="en-US" dirty="0"/>
          </a:p>
          <a:p>
            <a:r>
              <a:rPr lang="en-US" dirty="0" err="1"/>
              <a:t>Kaliteli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sürdürülebilir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üretmek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41651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7613-FCAE-E9AF-4636-3414650A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İyi Yazılım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8C373-4656-AF93-2AA5-83CEB2DB4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noProof="1"/>
              <a:t>son kullanıcı açısından bakıldığında,</a:t>
            </a:r>
          </a:p>
          <a:p>
            <a:r>
              <a:rPr lang="tr-TR" noProof="1"/>
              <a:t>beklendiği gibi çalışan, </a:t>
            </a:r>
          </a:p>
          <a:p>
            <a:r>
              <a:rPr lang="tr-TR" noProof="1"/>
              <a:t>istenen fonksiyonları yerine getiren,</a:t>
            </a:r>
          </a:p>
          <a:p>
            <a:r>
              <a:rPr lang="tr-TR" noProof="1"/>
              <a:t>hatalı sonuçlar vermeyen yazılım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919295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48EC-5C53-B688-E747-7A9007D3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İyi Yazılım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8665-C89A-5C96-95A4-3470EA3DE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noProof="1"/>
              <a:t>yazılım geliştiriciler açısından,</a:t>
            </a:r>
          </a:p>
          <a:p>
            <a:r>
              <a:rPr lang="tr-TR" noProof="1"/>
              <a:t>sonradan değişikliği kolaylaştıran</a:t>
            </a:r>
          </a:p>
          <a:p>
            <a:r>
              <a:rPr lang="tr-TR" noProof="1"/>
              <a:t>kod tekrar kullanımının fazla olduğu</a:t>
            </a:r>
          </a:p>
          <a:p>
            <a:r>
              <a:rPr lang="tr-TR" noProof="1"/>
              <a:t>yeni özellik kazandırmanın kolay olduğu</a:t>
            </a:r>
          </a:p>
          <a:p>
            <a:r>
              <a:rPr lang="tr-TR" noProof="1"/>
              <a:t>temiz kodlanmış, anlaşılabilir, karmaşıklığı azaltılmış</a:t>
            </a:r>
          </a:p>
          <a:p>
            <a:r>
              <a:rPr lang="tr-TR" noProof="1"/>
              <a:t>yazılımlardır</a:t>
            </a:r>
          </a:p>
          <a:p>
            <a:pPr marL="0" indent="0">
              <a:buNone/>
            </a:pPr>
            <a:r>
              <a:rPr lang="tr-TR" noProof="1"/>
              <a:t>bunu sağlamanın yolu ise tasarım ilkelerinin ve desenlerinin</a:t>
            </a:r>
          </a:p>
          <a:p>
            <a:pPr marL="0" indent="0">
              <a:buNone/>
            </a:pPr>
            <a:r>
              <a:rPr lang="tr-TR" noProof="1"/>
              <a:t>uygun kullanımına bağlıdır.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6651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06CE-9824-17D3-7329-61CB33FFA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Yazılım Geliştirme Yaşam Döngüsü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86F9-7F73-F539-CA20-A61E821B9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noProof="1"/>
              <a:t>Yazılım Geliştirme Yaşam Döngüsü (Software Development Life Cycle - </a:t>
            </a:r>
            <a:r>
              <a:rPr lang="tr-TR" b="1" noProof="1"/>
              <a:t>SDLC</a:t>
            </a:r>
            <a:r>
              <a:rPr lang="tr-TR" noProof="1"/>
              <a:t>), bir yazılım projesinin fikir aşamasından teslimatına ve sonrasındaki bakım sürecine kadar takip ettiği standartlaştırılmış bir metodolojidir.</a:t>
            </a:r>
          </a:p>
          <a:p>
            <a:endParaRPr lang="tr-TR" noProof="1"/>
          </a:p>
          <a:p>
            <a:r>
              <a:rPr lang="en-US" b="1" dirty="0" err="1"/>
              <a:t>Popüler</a:t>
            </a:r>
            <a:r>
              <a:rPr lang="en-US" b="1" dirty="0"/>
              <a:t> SDLC </a:t>
            </a:r>
            <a:r>
              <a:rPr lang="en-US" b="1" dirty="0" err="1"/>
              <a:t>Modelleri</a:t>
            </a:r>
            <a:endParaRPr lang="en-US" b="1" dirty="0"/>
          </a:p>
          <a:p>
            <a:r>
              <a:rPr lang="en-US" dirty="0"/>
              <a:t>Bu </a:t>
            </a:r>
            <a:r>
              <a:rPr lang="en-US" dirty="0" err="1"/>
              <a:t>süreçlerin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yönetileceğine</a:t>
            </a:r>
            <a:r>
              <a:rPr lang="en-US" dirty="0"/>
              <a:t> </a:t>
            </a:r>
            <a:r>
              <a:rPr lang="en-US" dirty="0" err="1"/>
              <a:t>dair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yaklaşımlar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:</a:t>
            </a:r>
          </a:p>
          <a:p>
            <a:r>
              <a:rPr lang="en-US" b="1" dirty="0"/>
              <a:t>Waterfall (</a:t>
            </a:r>
            <a:r>
              <a:rPr lang="en-US" b="1" dirty="0" err="1"/>
              <a:t>Şelale</a:t>
            </a:r>
            <a:r>
              <a:rPr lang="en-US" b="1" dirty="0"/>
              <a:t>) </a:t>
            </a:r>
            <a:r>
              <a:rPr lang="en-US" b="1" dirty="0" err="1"/>
              <a:t>Modeli</a:t>
            </a:r>
            <a:r>
              <a:rPr lang="en-US" b="1" dirty="0"/>
              <a:t>:</a:t>
            </a:r>
            <a:r>
              <a:rPr lang="en-US" dirty="0"/>
              <a:t> Her </a:t>
            </a:r>
            <a:r>
              <a:rPr lang="en-US" dirty="0" err="1"/>
              <a:t>aşama</a:t>
            </a:r>
            <a:r>
              <a:rPr lang="en-US" dirty="0"/>
              <a:t> </a:t>
            </a:r>
            <a:r>
              <a:rPr lang="en-US" dirty="0" err="1"/>
              <a:t>sırayla</a:t>
            </a:r>
            <a:r>
              <a:rPr lang="en-US" dirty="0"/>
              <a:t> biter. Bir </a:t>
            </a:r>
            <a:r>
              <a:rPr lang="en-US" dirty="0" err="1"/>
              <a:t>aşama</a:t>
            </a:r>
            <a:r>
              <a:rPr lang="en-US" dirty="0"/>
              <a:t> </a:t>
            </a:r>
            <a:r>
              <a:rPr lang="en-US" dirty="0" err="1"/>
              <a:t>bitmeden</a:t>
            </a:r>
            <a:r>
              <a:rPr lang="en-US" dirty="0"/>
              <a:t> </a:t>
            </a:r>
            <a:r>
              <a:rPr lang="en-US" dirty="0" err="1"/>
              <a:t>diğerine</a:t>
            </a:r>
            <a:r>
              <a:rPr lang="en-US" dirty="0"/>
              <a:t> </a:t>
            </a:r>
            <a:r>
              <a:rPr lang="en-US" dirty="0" err="1"/>
              <a:t>geçilmez</a:t>
            </a:r>
            <a:r>
              <a:rPr lang="en-US" dirty="0"/>
              <a:t>. </a:t>
            </a:r>
            <a:r>
              <a:rPr lang="en-US" dirty="0" err="1"/>
              <a:t>Katıdır</a:t>
            </a:r>
            <a:r>
              <a:rPr lang="en-US" dirty="0"/>
              <a:t> ama </a:t>
            </a:r>
            <a:r>
              <a:rPr lang="en-US" dirty="0" err="1"/>
              <a:t>planlıdır</a:t>
            </a:r>
            <a:r>
              <a:rPr lang="en-US" dirty="0"/>
              <a:t>.</a:t>
            </a:r>
          </a:p>
          <a:p>
            <a:r>
              <a:rPr lang="en-US" b="1" dirty="0"/>
              <a:t>Agile (Çevik) </a:t>
            </a:r>
            <a:r>
              <a:rPr lang="en-US" b="1" dirty="0" err="1"/>
              <a:t>Metodoloji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parçalara</a:t>
            </a:r>
            <a:r>
              <a:rPr lang="en-US" dirty="0"/>
              <a:t> </a:t>
            </a:r>
            <a:r>
              <a:rPr lang="en-US" dirty="0" err="1"/>
              <a:t>bölünür</a:t>
            </a:r>
            <a:r>
              <a:rPr lang="en-US" dirty="0"/>
              <a:t> (Sprints). </a:t>
            </a:r>
            <a:r>
              <a:rPr lang="en-US" dirty="0" err="1"/>
              <a:t>Sürekli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bildirim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hızlı</a:t>
            </a:r>
            <a:r>
              <a:rPr lang="en-US" dirty="0"/>
              <a:t> </a:t>
            </a:r>
            <a:r>
              <a:rPr lang="en-US" dirty="0" err="1"/>
              <a:t>teslimat</a:t>
            </a:r>
            <a:r>
              <a:rPr lang="en-US" dirty="0"/>
              <a:t> </a:t>
            </a:r>
            <a:r>
              <a:rPr lang="en-US" dirty="0" err="1"/>
              <a:t>odaklıdır</a:t>
            </a:r>
            <a:r>
              <a:rPr lang="en-US" dirty="0"/>
              <a:t>. </a:t>
            </a:r>
            <a:r>
              <a:rPr lang="en-US" dirty="0" err="1"/>
              <a:t>Günümüzde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yaygın</a:t>
            </a:r>
            <a:r>
              <a:rPr lang="en-US" dirty="0"/>
              <a:t> </a:t>
            </a:r>
            <a:r>
              <a:rPr lang="en-US" dirty="0" err="1"/>
              <a:t>olanıdır</a:t>
            </a:r>
            <a:r>
              <a:rPr lang="en-US" dirty="0"/>
              <a:t>.</a:t>
            </a:r>
          </a:p>
          <a:p>
            <a:r>
              <a:rPr lang="en-US" b="1" dirty="0"/>
              <a:t>Iterative (</a:t>
            </a:r>
            <a:r>
              <a:rPr lang="en-US" b="1" dirty="0" err="1"/>
              <a:t>Yinelemeli</a:t>
            </a:r>
            <a:r>
              <a:rPr lang="en-US" b="1" dirty="0"/>
              <a:t>) Model:</a:t>
            </a:r>
            <a:r>
              <a:rPr lang="en-US" dirty="0"/>
              <a:t> </a:t>
            </a:r>
            <a:r>
              <a:rPr lang="en-US" dirty="0" err="1"/>
              <a:t>Yazılımın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versiyonu</a:t>
            </a:r>
            <a:r>
              <a:rPr lang="en-US" dirty="0"/>
              <a:t> </a:t>
            </a:r>
            <a:r>
              <a:rPr lang="en-US" dirty="0" err="1"/>
              <a:t>yapılır</a:t>
            </a:r>
            <a:r>
              <a:rPr lang="en-US" dirty="0"/>
              <a:t>, her </a:t>
            </a:r>
            <a:r>
              <a:rPr lang="en-US" dirty="0" err="1"/>
              <a:t>döngüde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yeni </a:t>
            </a:r>
            <a:r>
              <a:rPr lang="en-US" dirty="0" err="1"/>
              <a:t>özellikler</a:t>
            </a:r>
            <a:r>
              <a:rPr lang="en-US" dirty="0"/>
              <a:t> </a:t>
            </a:r>
            <a:r>
              <a:rPr lang="en-US" dirty="0" err="1"/>
              <a:t>eklenerek</a:t>
            </a:r>
            <a:r>
              <a:rPr lang="en-US" dirty="0"/>
              <a:t> </a:t>
            </a:r>
            <a:r>
              <a:rPr lang="en-US" dirty="0" err="1"/>
              <a:t>geliştirilir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42496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0032-508E-F880-AE27-0794AA9E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Yazılım</a:t>
            </a:r>
            <a:r>
              <a:rPr lang="en-US" dirty="0"/>
              <a:t> Geliştirme </a:t>
            </a:r>
            <a:r>
              <a:rPr lang="en-US" dirty="0" err="1"/>
              <a:t>Yaşam</a:t>
            </a:r>
            <a:r>
              <a:rPr lang="en-US" dirty="0"/>
              <a:t> </a:t>
            </a:r>
            <a:r>
              <a:rPr lang="en-US" dirty="0" err="1"/>
              <a:t>Döngüsü</a:t>
            </a:r>
            <a:endParaRPr lang="en-TR" dirty="0"/>
          </a:p>
        </p:txBody>
      </p:sp>
      <p:pic>
        <p:nvPicPr>
          <p:cNvPr id="5" name="Content Placeholder 4" descr="A blue and orange line with white text&#10;&#10;AI-generated content may be incorrect.">
            <a:extLst>
              <a:ext uri="{FF2B5EF4-FFF2-40B4-BE49-F238E27FC236}">
                <a16:creationId xmlns:a16="http://schemas.microsoft.com/office/drawing/2014/main" id="{7FB221BE-5EAB-DD09-C4B7-0BEFA4FE0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97818"/>
            <a:ext cx="10515600" cy="2806952"/>
          </a:xfrm>
        </p:spPr>
      </p:pic>
    </p:spTree>
    <p:extLst>
      <p:ext uri="{BB962C8B-B14F-4D97-AF65-F5344CB8AC3E}">
        <p14:creationId xmlns:p14="http://schemas.microsoft.com/office/powerpoint/2010/main" val="3039588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CE36-FE9F-A4A7-B0C2-707762AE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Analiz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BDAC-90C6-FE92-A1FC-903D13370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aşamada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soru</a:t>
            </a:r>
            <a:r>
              <a:rPr lang="en-US" dirty="0"/>
              <a:t> </a:t>
            </a:r>
            <a:r>
              <a:rPr lang="en-US" dirty="0" err="1"/>
              <a:t>sorulur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“Biz tam </a:t>
            </a:r>
            <a:r>
              <a:rPr lang="en-US" dirty="0" err="1"/>
              <a:t>olarak</a:t>
            </a:r>
            <a:r>
              <a:rPr lang="en-US" dirty="0"/>
              <a:t> ne </a:t>
            </a:r>
            <a:r>
              <a:rPr lang="en-US" dirty="0" err="1"/>
              <a:t>geliştiriyoruz</a:t>
            </a:r>
            <a:r>
              <a:rPr lang="en-US" dirty="0"/>
              <a:t>?”</a:t>
            </a:r>
          </a:p>
          <a:p>
            <a:pPr marL="0" indent="0">
              <a:buNone/>
            </a:pPr>
            <a:r>
              <a:rPr lang="en-US" dirty="0" err="1"/>
              <a:t>Cevaplanması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sorular</a:t>
            </a:r>
            <a:r>
              <a:rPr lang="en-US" dirty="0"/>
              <a:t>:</a:t>
            </a:r>
          </a:p>
          <a:p>
            <a:r>
              <a:rPr lang="en-US" dirty="0" err="1"/>
              <a:t>Sistem</a:t>
            </a:r>
            <a:r>
              <a:rPr lang="en-US" dirty="0"/>
              <a:t> ne </a:t>
            </a:r>
            <a:r>
              <a:rPr lang="en-US" dirty="0" err="1"/>
              <a:t>yapmalı</a:t>
            </a:r>
            <a:r>
              <a:rPr lang="en-US" dirty="0"/>
              <a:t>?</a:t>
            </a:r>
          </a:p>
          <a:p>
            <a:r>
              <a:rPr lang="en-US" dirty="0"/>
              <a:t>Kim </a:t>
            </a:r>
            <a:r>
              <a:rPr lang="en-US" dirty="0" err="1"/>
              <a:t>kullanacak</a:t>
            </a:r>
            <a:r>
              <a:rPr lang="en-US" dirty="0"/>
              <a:t>?</a:t>
            </a:r>
          </a:p>
          <a:p>
            <a:r>
              <a:rPr lang="en-US" dirty="0"/>
              <a:t>Hangi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girilecek</a:t>
            </a:r>
            <a:r>
              <a:rPr lang="en-US" dirty="0"/>
              <a:t>?</a:t>
            </a:r>
          </a:p>
          <a:p>
            <a:r>
              <a:rPr lang="en-US" dirty="0" err="1"/>
              <a:t>Çıktı</a:t>
            </a:r>
            <a:r>
              <a:rPr lang="en-US" dirty="0"/>
              <a:t> ne </a:t>
            </a:r>
            <a:r>
              <a:rPr lang="en-US" dirty="0" err="1"/>
              <a:t>olacak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gereksinimleri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?</a:t>
            </a:r>
          </a:p>
          <a:p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kısıtlar</a:t>
            </a:r>
            <a:r>
              <a:rPr lang="en-US" dirty="0"/>
              <a:t> </a:t>
            </a:r>
            <a:r>
              <a:rPr lang="en-US" dirty="0" err="1"/>
              <a:t>belirlenir</a:t>
            </a:r>
            <a:r>
              <a:rPr lang="en-US" dirty="0"/>
              <a:t>:</a:t>
            </a:r>
          </a:p>
          <a:p>
            <a:r>
              <a:rPr lang="en-US" dirty="0"/>
              <a:t>Hangi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?</a:t>
            </a:r>
          </a:p>
          <a:p>
            <a:r>
              <a:rPr lang="en-US" dirty="0" err="1"/>
              <a:t>Bellek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gücü</a:t>
            </a:r>
            <a:r>
              <a:rPr lang="en-US" dirty="0"/>
              <a:t> </a:t>
            </a:r>
            <a:r>
              <a:rPr lang="en-US" dirty="0" err="1"/>
              <a:t>sınırları</a:t>
            </a:r>
            <a:r>
              <a:rPr lang="en-US" dirty="0"/>
              <a:t>?</a:t>
            </a:r>
          </a:p>
          <a:p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beklentisi</a:t>
            </a:r>
            <a:r>
              <a:rPr lang="en-US" dirty="0"/>
              <a:t>?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27668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4263D-1BD7-489B-DA67-4627D897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Analiz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3D0C-475D-914A-63F0-DA7487BC2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noProof="1"/>
              <a:t>Geliştirilecek yazılımın gereksinimleri belirlenir.</a:t>
            </a:r>
          </a:p>
          <a:p>
            <a:r>
              <a:rPr lang="tr-TR" noProof="1"/>
              <a:t>Bu adım proje yöneticisi, iş analisti ve uygulama programı yöneticisinin sorumluluğundadır. Uç kullanıcılar, yöneticiler ve geliştirilecek yazılımla ilgili diğer paydaşlarla görüşülerek gereksinimler belirlenir</a:t>
            </a:r>
          </a:p>
          <a:p>
            <a:pPr marL="0" indent="0">
              <a:buNone/>
            </a:pPr>
            <a:r>
              <a:rPr lang="tr-TR" noProof="1"/>
              <a:t>Aşağıdaki sorulara yanıtlar aranır</a:t>
            </a:r>
          </a:p>
          <a:p>
            <a:r>
              <a:rPr lang="tr-TR" noProof="1"/>
              <a:t>Sistem ne yapmalı? ne yapması bekleniyor?</a:t>
            </a:r>
          </a:p>
          <a:p>
            <a:r>
              <a:rPr lang="tr-TR" noProof="1"/>
              <a:t>sistemi kimler, ne yapmak için kullanacak?</a:t>
            </a:r>
          </a:p>
          <a:p>
            <a:r>
              <a:rPr lang="tr-TR" noProof="1"/>
              <a:t>giriş verileri neler?</a:t>
            </a:r>
          </a:p>
          <a:p>
            <a:r>
              <a:rPr lang="tr-TR" noProof="1"/>
              <a:t>çıkış verileri neler?</a:t>
            </a:r>
          </a:p>
          <a:p>
            <a:r>
              <a:rPr lang="tr-TR" noProof="1"/>
              <a:t>ne tür veriler ele alınacak/işlenecek (telefonNo, TC kimlikNo … Bu</a:t>
            </a:r>
          </a:p>
          <a:p>
            <a:r>
              <a:rPr lang="tr-TR" noProof="1"/>
              <a:t>verilere bakılarak veritabanı tasarımı için ihtiyaç duyulan iş kuralları</a:t>
            </a:r>
          </a:p>
          <a:p>
            <a:r>
              <a:rPr lang="tr-TR" noProof="1"/>
              <a:t>da oluşturulur )</a:t>
            </a:r>
          </a:p>
          <a:p>
            <a:r>
              <a:rPr lang="tr-TR" noProof="1"/>
              <a:t>takip edilmesi gereken standartlar, kurallar, yönetmelikler, güvenlik</a:t>
            </a:r>
          </a:p>
          <a:p>
            <a:r>
              <a:rPr lang="tr-TR" noProof="1"/>
              <a:t>gereksinimleri v.s. neler?</a:t>
            </a:r>
          </a:p>
          <a:p>
            <a:endParaRPr lang="tr-TR" noProof="1"/>
          </a:p>
        </p:txBody>
      </p:sp>
    </p:spTree>
    <p:extLst>
      <p:ext uri="{BB962C8B-B14F-4D97-AF65-F5344CB8AC3E}">
        <p14:creationId xmlns:p14="http://schemas.microsoft.com/office/powerpoint/2010/main" val="33425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F206-1D01-7EBD-1791-0875E656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Analiz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26D8-B36E-92EB-53F7-BE96821CC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Geliştirilecek</a:t>
            </a:r>
            <a:r>
              <a:rPr lang="en-US" dirty="0"/>
              <a:t> </a:t>
            </a:r>
            <a:r>
              <a:rPr lang="en-US" dirty="0" err="1"/>
              <a:t>sistemle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kısıtların</a:t>
            </a:r>
            <a:r>
              <a:rPr lang="en-US" dirty="0"/>
              <a:t> </a:t>
            </a:r>
            <a:r>
              <a:rPr lang="en-US" dirty="0" err="1"/>
              <a:t>belirlenmesi</a:t>
            </a:r>
            <a:r>
              <a:rPr lang="en-US" dirty="0"/>
              <a:t> ‘</a:t>
            </a:r>
            <a:r>
              <a:rPr lang="en-US" dirty="0" err="1"/>
              <a:t>Uygulama</a:t>
            </a:r>
            <a:r>
              <a:rPr lang="en-US" dirty="0"/>
              <a:t> Program </a:t>
            </a:r>
            <a:r>
              <a:rPr lang="en-US" dirty="0" err="1"/>
              <a:t>yöneticisi</a:t>
            </a:r>
            <a:r>
              <a:rPr lang="en-US" dirty="0"/>
              <a:t>’ 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sorumluluğundadır</a:t>
            </a:r>
            <a:endParaRPr lang="en-US" dirty="0"/>
          </a:p>
          <a:p>
            <a:r>
              <a:rPr lang="en-US" dirty="0" err="1"/>
              <a:t>Uygulama</a:t>
            </a:r>
            <a:r>
              <a:rPr lang="en-US" dirty="0"/>
              <a:t> hangi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sisteminde</a:t>
            </a:r>
            <a:r>
              <a:rPr lang="en-US" dirty="0"/>
              <a:t> </a:t>
            </a:r>
            <a:r>
              <a:rPr lang="en-US" dirty="0" err="1"/>
              <a:t>çalışacak</a:t>
            </a:r>
            <a:r>
              <a:rPr lang="en-US" dirty="0"/>
              <a:t>?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</a:t>
            </a:r>
            <a:endParaRPr lang="en-US" dirty="0"/>
          </a:p>
          <a:p>
            <a:r>
              <a:rPr lang="en-US" dirty="0" err="1"/>
              <a:t>kısıtları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?</a:t>
            </a:r>
          </a:p>
          <a:p>
            <a:r>
              <a:rPr lang="en-US" dirty="0" err="1"/>
              <a:t>bellek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, </a:t>
            </a:r>
            <a:r>
              <a:rPr lang="en-US" dirty="0" err="1"/>
              <a:t>işlem</a:t>
            </a:r>
            <a:r>
              <a:rPr lang="en-US" dirty="0"/>
              <a:t> </a:t>
            </a:r>
            <a:r>
              <a:rPr lang="en-US" dirty="0" err="1"/>
              <a:t>gücü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,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vb.</a:t>
            </a:r>
          </a:p>
          <a:p>
            <a:r>
              <a:rPr lang="en-US" dirty="0" err="1"/>
              <a:t>operasyonel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mimariyle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kısıtlar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?</a:t>
            </a:r>
          </a:p>
          <a:p>
            <a:r>
              <a:rPr lang="en-US" dirty="0"/>
              <a:t>Kaynak </a:t>
            </a:r>
            <a:r>
              <a:rPr lang="en-US" dirty="0" err="1"/>
              <a:t>kullanımı</a:t>
            </a:r>
            <a:r>
              <a:rPr lang="en-US" dirty="0"/>
              <a:t>, </a:t>
            </a:r>
            <a:r>
              <a:rPr lang="en-US" dirty="0" err="1"/>
              <a:t>hız</a:t>
            </a:r>
            <a:r>
              <a:rPr lang="en-US" dirty="0"/>
              <a:t>,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ihtiyaçlara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dillerin</a:t>
            </a:r>
            <a:r>
              <a:rPr lang="en-US" dirty="0"/>
              <a:t>/</a:t>
            </a:r>
          </a:p>
          <a:p>
            <a:r>
              <a:rPr lang="en-US" dirty="0" err="1"/>
              <a:t>teknolojilerin</a:t>
            </a:r>
            <a:r>
              <a:rPr lang="en-US" dirty="0"/>
              <a:t>/</a:t>
            </a:r>
            <a:r>
              <a:rPr lang="en-US" dirty="0" err="1"/>
              <a:t>algoritmaların</a:t>
            </a:r>
            <a:r>
              <a:rPr lang="en-US" dirty="0"/>
              <a:t>/</a:t>
            </a:r>
            <a:r>
              <a:rPr lang="en-US" dirty="0" err="1"/>
              <a:t>kütüphanelerin</a:t>
            </a:r>
            <a:r>
              <a:rPr lang="en-US" dirty="0"/>
              <a:t> </a:t>
            </a:r>
            <a:r>
              <a:rPr lang="en-US" dirty="0" err="1"/>
              <a:t>seçilmesi</a:t>
            </a:r>
            <a:r>
              <a:rPr lang="en-US" dirty="0"/>
              <a:t>….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069373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850E-12FC-2ADA-CA4D-58BE900A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387"/>
          </a:xfrm>
        </p:spPr>
        <p:txBody>
          <a:bodyPr/>
          <a:lstStyle/>
          <a:p>
            <a:r>
              <a:rPr lang="en-TR" dirty="0"/>
              <a:t>Tasarım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3C21E-F455-E9C8-82A7-16457FF0B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947"/>
            <a:ext cx="10515600" cy="49410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Analizde</a:t>
            </a:r>
            <a:r>
              <a:rPr lang="en-US" dirty="0"/>
              <a:t> </a:t>
            </a:r>
            <a:r>
              <a:rPr lang="en-US" dirty="0" err="1"/>
              <a:t>belirlenen</a:t>
            </a:r>
            <a:r>
              <a:rPr lang="en-US" dirty="0"/>
              <a:t> </a:t>
            </a:r>
            <a:r>
              <a:rPr lang="en-US" dirty="0" err="1"/>
              <a:t>ihtiyaçların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karşılanacağı</a:t>
            </a:r>
            <a:r>
              <a:rPr lang="en-US" dirty="0"/>
              <a:t> </a:t>
            </a:r>
            <a:r>
              <a:rPr lang="en-US" dirty="0" err="1"/>
              <a:t>tasarlanır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aşamada</a:t>
            </a:r>
            <a:r>
              <a:rPr lang="en-US" dirty="0"/>
              <a:t>:</a:t>
            </a:r>
          </a:p>
          <a:p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 </a:t>
            </a:r>
            <a:r>
              <a:rPr lang="en-US" dirty="0" err="1"/>
              <a:t>belirlenir</a:t>
            </a:r>
            <a:endParaRPr lang="en-US" dirty="0"/>
          </a:p>
          <a:p>
            <a:r>
              <a:rPr lang="en-US" dirty="0" err="1"/>
              <a:t>Modüller</a:t>
            </a:r>
            <a:r>
              <a:rPr lang="en-US" dirty="0"/>
              <a:t> </a:t>
            </a:r>
            <a:r>
              <a:rPr lang="en-US" dirty="0" err="1"/>
              <a:t>tanımlanır</a:t>
            </a:r>
            <a:endParaRPr lang="en-US" dirty="0"/>
          </a:p>
          <a:p>
            <a:r>
              <a:rPr lang="en-US" dirty="0" err="1"/>
              <a:t>Modüllerin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iletişim</a:t>
            </a:r>
            <a:r>
              <a:rPr lang="en-US" dirty="0"/>
              <a:t> </a:t>
            </a:r>
            <a:r>
              <a:rPr lang="en-US" dirty="0" err="1"/>
              <a:t>kuracağı</a:t>
            </a:r>
            <a:r>
              <a:rPr lang="en-US" dirty="0"/>
              <a:t> </a:t>
            </a:r>
            <a:r>
              <a:rPr lang="en-US" dirty="0" err="1"/>
              <a:t>planlanır</a:t>
            </a:r>
            <a:endParaRPr lang="en-US" dirty="0"/>
          </a:p>
          <a:p>
            <a:r>
              <a:rPr lang="en-US" dirty="0" err="1"/>
              <a:t>Kullanılacak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teknolojiler</a:t>
            </a:r>
            <a:r>
              <a:rPr lang="en-US" dirty="0"/>
              <a:t> </a:t>
            </a:r>
            <a:r>
              <a:rPr lang="en-US" dirty="0" err="1"/>
              <a:t>seçilir</a:t>
            </a:r>
            <a:endParaRPr lang="en-US" dirty="0"/>
          </a:p>
          <a:p>
            <a:r>
              <a:rPr lang="en-US" dirty="0" err="1"/>
              <a:t>Modelleme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yaygın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Unified Modeling Language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Tasarımın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zihinsel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kurmak</a:t>
            </a:r>
            <a:r>
              <a:rPr lang="en-US" dirty="0"/>
              <a:t>.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hatasını</a:t>
            </a:r>
            <a:r>
              <a:rPr lang="en-US" dirty="0"/>
              <a:t> </a:t>
            </a:r>
            <a:r>
              <a:rPr lang="en-US" dirty="0" err="1"/>
              <a:t>düzeltmek</a:t>
            </a:r>
            <a:r>
              <a:rPr lang="en-US" dirty="0"/>
              <a:t>,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hatasını</a:t>
            </a:r>
            <a:r>
              <a:rPr lang="en-US" dirty="0"/>
              <a:t> </a:t>
            </a:r>
            <a:r>
              <a:rPr lang="en-US" dirty="0" err="1"/>
              <a:t>düzeltmekten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ucuzdur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052613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4CE8-A27D-4266-39CE-BAA6105A4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Tasarım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F0637-C505-19DE-D069-1AC775466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Kısıtlar</a:t>
            </a:r>
            <a:r>
              <a:rPr lang="en-US" dirty="0"/>
              <a:t> </a:t>
            </a:r>
            <a:r>
              <a:rPr lang="en-US" dirty="0" err="1"/>
              <a:t>ihlal</a:t>
            </a:r>
            <a:r>
              <a:rPr lang="en-US" dirty="0"/>
              <a:t> </a:t>
            </a:r>
            <a:r>
              <a:rPr lang="en-US" dirty="0" err="1"/>
              <a:t>edilmeden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gereksinimlerinin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karşılanacağı</a:t>
            </a:r>
            <a:r>
              <a:rPr lang="en-US" dirty="0"/>
              <a:t> </a:t>
            </a:r>
            <a:r>
              <a:rPr lang="en-US" dirty="0" err="1"/>
              <a:t>belirlenir</a:t>
            </a:r>
            <a:r>
              <a:rPr lang="en-US" dirty="0"/>
              <a:t>.</a:t>
            </a:r>
          </a:p>
          <a:p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aşamasında</a:t>
            </a:r>
            <a:r>
              <a:rPr lang="en-US" dirty="0"/>
              <a:t> </a:t>
            </a:r>
            <a:r>
              <a:rPr lang="en-US" dirty="0" err="1"/>
              <a:t>oluşturulacak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yaygın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UML (Unified Modeling Language)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r>
              <a:rPr lang="en-US" dirty="0" err="1"/>
              <a:t>Yazılıma</a:t>
            </a:r>
            <a:r>
              <a:rPr lang="en-US" dirty="0"/>
              <a:t> </a:t>
            </a:r>
            <a:r>
              <a:rPr lang="en-US" dirty="0" err="1"/>
              <a:t>bakış</a:t>
            </a:r>
            <a:r>
              <a:rPr lang="en-US" dirty="0"/>
              <a:t> </a:t>
            </a:r>
            <a:r>
              <a:rPr lang="en-US" dirty="0" err="1"/>
              <a:t>açıları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aktörler</a:t>
            </a:r>
            <a:r>
              <a:rPr lang="en-US" dirty="0"/>
              <a:t>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haberleşmeyi</a:t>
            </a:r>
            <a:r>
              <a:rPr lang="en-US" dirty="0"/>
              <a:t> </a:t>
            </a:r>
            <a:r>
              <a:rPr lang="en-US" dirty="0" err="1"/>
              <a:t>sağlar</a:t>
            </a:r>
            <a:endParaRPr lang="en-US" dirty="0"/>
          </a:p>
          <a:p>
            <a:r>
              <a:rPr lang="en-US" dirty="0" err="1"/>
              <a:t>Kodlamayı</a:t>
            </a:r>
            <a:r>
              <a:rPr lang="en-US" dirty="0"/>
              <a:t> </a:t>
            </a:r>
            <a:r>
              <a:rPr lang="en-US" dirty="0" err="1"/>
              <a:t>kolaylaştırır</a:t>
            </a:r>
            <a:r>
              <a:rPr lang="en-US" dirty="0"/>
              <a:t>. </a:t>
            </a:r>
            <a:r>
              <a:rPr lang="en-US" dirty="0" err="1"/>
              <a:t>Tasarımdaki</a:t>
            </a:r>
            <a:r>
              <a:rPr lang="en-US" dirty="0"/>
              <a:t> </a:t>
            </a:r>
            <a:r>
              <a:rPr lang="en-US" dirty="0" err="1"/>
              <a:t>bileşenler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modüllerine</a:t>
            </a:r>
            <a:r>
              <a:rPr lang="en-US" dirty="0"/>
              <a:t> </a:t>
            </a:r>
            <a:r>
              <a:rPr lang="en-US" dirty="0" err="1"/>
              <a:t>dönüştürülür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modüllerin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etkileşeceği</a:t>
            </a:r>
            <a:r>
              <a:rPr lang="en-US" dirty="0"/>
              <a:t> de bu </a:t>
            </a:r>
            <a:r>
              <a:rPr lang="en-US" dirty="0" err="1"/>
              <a:t>adımda</a:t>
            </a:r>
            <a:r>
              <a:rPr lang="en-US" dirty="0"/>
              <a:t> </a:t>
            </a:r>
            <a:r>
              <a:rPr lang="en-US" dirty="0" err="1"/>
              <a:t>belirlenir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ekibi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gereksinimler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mimari</a:t>
            </a:r>
            <a:r>
              <a:rPr lang="en-US" dirty="0"/>
              <a:t> </a:t>
            </a:r>
            <a:r>
              <a:rPr lang="en-US" dirty="0" err="1"/>
              <a:t>kısıtlar</a:t>
            </a:r>
            <a:r>
              <a:rPr lang="en-US" dirty="0"/>
              <a:t> </a:t>
            </a:r>
            <a:r>
              <a:rPr lang="en-US" dirty="0" err="1"/>
              <a:t>göz</a:t>
            </a:r>
            <a:r>
              <a:rPr lang="en-US" dirty="0"/>
              <a:t> </a:t>
            </a:r>
            <a:r>
              <a:rPr lang="en-US" dirty="0" err="1"/>
              <a:t>önüne</a:t>
            </a:r>
            <a:r>
              <a:rPr lang="en-US" dirty="0"/>
              <a:t> </a:t>
            </a:r>
            <a:r>
              <a:rPr lang="en-US" dirty="0" err="1"/>
              <a:t>alınarak</a:t>
            </a:r>
            <a:r>
              <a:rPr lang="en-US" dirty="0"/>
              <a:t> </a:t>
            </a:r>
            <a:r>
              <a:rPr lang="en-US" dirty="0" err="1"/>
              <a:t>aşağıdakiler</a:t>
            </a:r>
            <a:r>
              <a:rPr lang="en-US" dirty="0"/>
              <a:t> </a:t>
            </a:r>
            <a:r>
              <a:rPr lang="en-US" dirty="0" err="1"/>
              <a:t>belirlenmelidir</a:t>
            </a:r>
            <a:r>
              <a:rPr lang="en-US" dirty="0"/>
              <a:t>:</a:t>
            </a:r>
          </a:p>
          <a:p>
            <a:r>
              <a:rPr lang="en-US" dirty="0" err="1"/>
              <a:t>Kullanılacak</a:t>
            </a:r>
            <a:r>
              <a:rPr lang="en-US" dirty="0"/>
              <a:t> </a:t>
            </a:r>
            <a:r>
              <a:rPr lang="en-US" dirty="0" err="1"/>
              <a:t>diller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</a:t>
            </a:r>
            <a:r>
              <a:rPr lang="en-US" dirty="0" err="1"/>
              <a:t>yöntemleri</a:t>
            </a:r>
            <a:endParaRPr lang="en-US" dirty="0"/>
          </a:p>
          <a:p>
            <a:r>
              <a:rPr lang="en-US" dirty="0" err="1"/>
              <a:t>Takip</a:t>
            </a:r>
            <a:r>
              <a:rPr lang="en-US" dirty="0"/>
              <a:t> </a:t>
            </a:r>
            <a:r>
              <a:rPr lang="en-US" dirty="0" err="1"/>
              <a:t>edilecek</a:t>
            </a:r>
            <a:r>
              <a:rPr lang="en-US" dirty="0"/>
              <a:t> </a:t>
            </a:r>
            <a:r>
              <a:rPr lang="en-US" dirty="0" err="1"/>
              <a:t>kodlama</a:t>
            </a:r>
            <a:r>
              <a:rPr lang="en-US" dirty="0"/>
              <a:t> </a:t>
            </a:r>
            <a:r>
              <a:rPr lang="en-US" dirty="0" err="1"/>
              <a:t>standartları</a:t>
            </a:r>
            <a:r>
              <a:rPr lang="en-US" dirty="0"/>
              <a:t> (</a:t>
            </a:r>
            <a:r>
              <a:rPr lang="en-US" dirty="0" err="1"/>
              <a:t>Kodlama</a:t>
            </a:r>
            <a:r>
              <a:rPr lang="en-US" dirty="0"/>
              <a:t> </a:t>
            </a:r>
            <a:r>
              <a:rPr lang="en-US" dirty="0" err="1"/>
              <a:t>sitili</a:t>
            </a:r>
            <a:r>
              <a:rPr lang="en-US" dirty="0"/>
              <a:t>, </a:t>
            </a:r>
            <a:r>
              <a:rPr lang="en-US" dirty="0" err="1"/>
              <a:t>isimlendirme</a:t>
            </a:r>
            <a:r>
              <a:rPr lang="en-US" dirty="0"/>
              <a:t> </a:t>
            </a:r>
            <a:r>
              <a:rPr lang="en-US" dirty="0" err="1"/>
              <a:t>kuralları</a:t>
            </a:r>
            <a:r>
              <a:rPr lang="en-US" dirty="0"/>
              <a:t>, </a:t>
            </a:r>
            <a:r>
              <a:rPr lang="en-US" dirty="0" err="1"/>
              <a:t>kullanılmaması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modüller</a:t>
            </a:r>
            <a:r>
              <a:rPr lang="en-US" dirty="0"/>
              <a:t> vb.)</a:t>
            </a:r>
          </a:p>
          <a:p>
            <a:r>
              <a:rPr lang="en-US" dirty="0" err="1"/>
              <a:t>Kullanılacak</a:t>
            </a:r>
            <a:r>
              <a:rPr lang="en-US" dirty="0"/>
              <a:t> </a:t>
            </a:r>
            <a:r>
              <a:rPr lang="en-US" dirty="0" err="1"/>
              <a:t>modüller</a:t>
            </a:r>
            <a:r>
              <a:rPr lang="en-US" dirty="0"/>
              <a:t>, </a:t>
            </a:r>
            <a:r>
              <a:rPr lang="en-US" dirty="0" err="1"/>
              <a:t>kütüphaneler</a:t>
            </a:r>
            <a:r>
              <a:rPr lang="en-US" dirty="0"/>
              <a:t>,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yapıları</a:t>
            </a:r>
            <a:r>
              <a:rPr lang="en-US" dirty="0"/>
              <a:t>,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yönetim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…</a:t>
            </a:r>
          </a:p>
          <a:p>
            <a:r>
              <a:rPr lang="en-US" dirty="0" err="1"/>
              <a:t>Oluşturulan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gerçeklenmeden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dikkatli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incelenmelidir</a:t>
            </a:r>
            <a:r>
              <a:rPr lang="en-US" dirty="0"/>
              <a:t>. </a:t>
            </a:r>
            <a:r>
              <a:rPr lang="en-US" dirty="0" err="1"/>
              <a:t>Böylece</a:t>
            </a:r>
            <a:r>
              <a:rPr lang="en-US" dirty="0"/>
              <a:t>, </a:t>
            </a:r>
            <a:r>
              <a:rPr lang="en-US" dirty="0" err="1"/>
              <a:t>olası</a:t>
            </a:r>
            <a:r>
              <a:rPr lang="en-US" dirty="0"/>
              <a:t> </a:t>
            </a:r>
            <a:r>
              <a:rPr lang="en-US" dirty="0" err="1"/>
              <a:t>hataların</a:t>
            </a:r>
            <a:r>
              <a:rPr lang="en-US" dirty="0"/>
              <a:t> </a:t>
            </a:r>
            <a:r>
              <a:rPr lang="en-US" dirty="0" err="1"/>
              <a:t>düzeltilme</a:t>
            </a:r>
            <a:r>
              <a:rPr lang="en-US" dirty="0"/>
              <a:t> </a:t>
            </a:r>
            <a:r>
              <a:rPr lang="en-US" dirty="0" err="1"/>
              <a:t>maliyeti</a:t>
            </a:r>
            <a:r>
              <a:rPr lang="en-US" dirty="0"/>
              <a:t> </a:t>
            </a:r>
            <a:r>
              <a:rPr lang="en-US" dirty="0" err="1"/>
              <a:t>düşürülmüş</a:t>
            </a:r>
            <a:r>
              <a:rPr lang="en-US" dirty="0"/>
              <a:t> </a:t>
            </a:r>
            <a:r>
              <a:rPr lang="en-US" dirty="0" err="1"/>
              <a:t>olur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5121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774B-59EE-318E-B7EA-CC66C62A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Gerçekleme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4C416-1575-EFF3-1F90-06212945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haline</a:t>
            </a:r>
            <a:r>
              <a:rPr lang="en-US" dirty="0"/>
              <a:t> </a:t>
            </a:r>
            <a:r>
              <a:rPr lang="en-US" dirty="0" err="1"/>
              <a:t>getirilir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aşamada</a:t>
            </a:r>
            <a:r>
              <a:rPr lang="en-US" dirty="0"/>
              <a:t>:</a:t>
            </a:r>
          </a:p>
          <a:p>
            <a:r>
              <a:rPr lang="en-US" dirty="0" err="1"/>
              <a:t>Kodlama</a:t>
            </a:r>
            <a:r>
              <a:rPr lang="en-US" dirty="0"/>
              <a:t> </a:t>
            </a:r>
            <a:r>
              <a:rPr lang="en-US" dirty="0" err="1"/>
              <a:t>standartlarına</a:t>
            </a:r>
            <a:r>
              <a:rPr lang="en-US" dirty="0"/>
              <a:t> </a:t>
            </a:r>
            <a:r>
              <a:rPr lang="en-US" dirty="0" err="1"/>
              <a:t>uyulmalı</a:t>
            </a:r>
            <a:endParaRPr lang="en-US" dirty="0"/>
          </a:p>
          <a:p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dokümanı</a:t>
            </a:r>
            <a:r>
              <a:rPr lang="en-US" dirty="0"/>
              <a:t> </a:t>
            </a:r>
            <a:r>
              <a:rPr lang="en-US" dirty="0" err="1"/>
              <a:t>takip</a:t>
            </a:r>
            <a:r>
              <a:rPr lang="en-US" dirty="0"/>
              <a:t> </a:t>
            </a:r>
            <a:r>
              <a:rPr lang="en-US" dirty="0" err="1"/>
              <a:t>edilmeli</a:t>
            </a:r>
            <a:endParaRPr lang="en-US" dirty="0"/>
          </a:p>
          <a:p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incelemesi</a:t>
            </a:r>
            <a:r>
              <a:rPr lang="en-US" dirty="0"/>
              <a:t> </a:t>
            </a:r>
            <a:r>
              <a:rPr lang="en-US" dirty="0" err="1"/>
              <a:t>yapılmalı</a:t>
            </a:r>
            <a:endParaRPr lang="en-US" dirty="0"/>
          </a:p>
          <a:p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açıkları</a:t>
            </a:r>
            <a:r>
              <a:rPr lang="en-US" dirty="0"/>
              <a:t> </a:t>
            </a:r>
            <a:r>
              <a:rPr lang="en-US" dirty="0" err="1"/>
              <a:t>düşünülmeli</a:t>
            </a:r>
            <a:endParaRPr lang="en-US" dirty="0"/>
          </a:p>
          <a:p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yazmak</a:t>
            </a:r>
            <a:r>
              <a:rPr lang="en-US" dirty="0"/>
              <a:t> </a:t>
            </a:r>
            <a:r>
              <a:rPr lang="en-US" dirty="0" err="1"/>
              <a:t>kolaydır</a:t>
            </a:r>
            <a:r>
              <a:rPr lang="en-US" dirty="0"/>
              <a:t>. </a:t>
            </a:r>
            <a:r>
              <a:rPr lang="en-US" dirty="0" err="1"/>
              <a:t>Okunabilir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sürdürülebilir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yazmak</a:t>
            </a:r>
            <a:r>
              <a:rPr lang="en-US" dirty="0"/>
              <a:t> </a:t>
            </a:r>
            <a:r>
              <a:rPr lang="en-US" dirty="0" err="1"/>
              <a:t>zordur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470183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8740-A6BB-F84A-E232-DC9BD8C37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Gerçekleme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33FC0-FE2A-95C6-FAA7-D2156744D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aşamalarda</a:t>
            </a:r>
            <a:r>
              <a:rPr lang="en-US" dirty="0"/>
              <a:t> </a:t>
            </a:r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kodlanarak</a:t>
            </a:r>
            <a:r>
              <a:rPr lang="en-US" dirty="0"/>
              <a:t> </a:t>
            </a: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uygulamasına</a:t>
            </a:r>
            <a:r>
              <a:rPr lang="en-US" dirty="0"/>
              <a:t> </a:t>
            </a:r>
            <a:r>
              <a:rPr lang="en-US" dirty="0" err="1"/>
              <a:t>dönüştürülür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geliştirme</a:t>
            </a:r>
            <a:r>
              <a:rPr lang="en-US" dirty="0"/>
              <a:t> </a:t>
            </a:r>
            <a:r>
              <a:rPr lang="en-US" dirty="0" err="1"/>
              <a:t>ekibi</a:t>
            </a:r>
            <a:r>
              <a:rPr lang="en-US" dirty="0"/>
              <a:t> </a:t>
            </a:r>
            <a:r>
              <a:rPr lang="en-US" dirty="0" err="1"/>
              <a:t>sorumluluğundaki</a:t>
            </a:r>
            <a:r>
              <a:rPr lang="en-US" dirty="0"/>
              <a:t> bu </a:t>
            </a:r>
            <a:r>
              <a:rPr lang="en-US" dirty="0" err="1"/>
              <a:t>adımda</a:t>
            </a:r>
            <a:r>
              <a:rPr lang="en-US" dirty="0"/>
              <a:t>:</a:t>
            </a:r>
          </a:p>
          <a:p>
            <a:r>
              <a:rPr lang="en-US" dirty="0" err="1"/>
              <a:t>Kodlama</a:t>
            </a:r>
            <a:r>
              <a:rPr lang="en-US" dirty="0"/>
              <a:t> </a:t>
            </a:r>
            <a:r>
              <a:rPr lang="en-US" dirty="0" err="1"/>
              <a:t>standartlarına</a:t>
            </a:r>
            <a:r>
              <a:rPr lang="en-US" dirty="0"/>
              <a:t> </a:t>
            </a:r>
            <a:r>
              <a:rPr lang="en-US" dirty="0" err="1"/>
              <a:t>uyulmalı</a:t>
            </a:r>
            <a:endParaRPr lang="en-US" dirty="0"/>
          </a:p>
          <a:p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dökümanı</a:t>
            </a:r>
            <a:r>
              <a:rPr lang="en-US" dirty="0"/>
              <a:t> </a:t>
            </a:r>
            <a:r>
              <a:rPr lang="en-US" dirty="0" err="1"/>
              <a:t>takip</a:t>
            </a:r>
            <a:r>
              <a:rPr lang="en-US" dirty="0"/>
              <a:t> </a:t>
            </a:r>
            <a:r>
              <a:rPr lang="en-US" dirty="0" err="1"/>
              <a:t>edilmeli</a:t>
            </a:r>
            <a:endParaRPr lang="en-US" dirty="0"/>
          </a:p>
          <a:p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incelemesi</a:t>
            </a:r>
            <a:r>
              <a:rPr lang="en-US" dirty="0"/>
              <a:t> (code review) </a:t>
            </a:r>
            <a:r>
              <a:rPr lang="en-US" dirty="0" err="1"/>
              <a:t>yapılarak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kalitesi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artırılmalı</a:t>
            </a:r>
            <a:r>
              <a:rPr lang="en-US" dirty="0"/>
              <a:t>.</a:t>
            </a:r>
          </a:p>
          <a:p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gereksinimleri</a:t>
            </a:r>
            <a:r>
              <a:rPr lang="en-US" dirty="0"/>
              <a:t> </a:t>
            </a:r>
            <a:r>
              <a:rPr lang="en-US" dirty="0" err="1"/>
              <a:t>dikkate</a:t>
            </a:r>
            <a:r>
              <a:rPr lang="en-US" dirty="0"/>
              <a:t> </a:t>
            </a:r>
            <a:r>
              <a:rPr lang="en-US" dirty="0" err="1"/>
              <a:t>alınmalı</a:t>
            </a:r>
            <a:r>
              <a:rPr lang="en-US" dirty="0"/>
              <a:t> (</a:t>
            </a: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filtreleme</a:t>
            </a:r>
            <a:r>
              <a:rPr lang="en-US" dirty="0"/>
              <a:t>, </a:t>
            </a: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kodlama</a:t>
            </a:r>
            <a:r>
              <a:rPr lang="en-US" dirty="0"/>
              <a:t> vb.)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605135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5D09-3A8F-E58D-A69D-4C61C7CC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792C-B759-A284-F55B-456F83E9E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yazıldı</a:t>
            </a:r>
            <a:r>
              <a:rPr lang="en-US" dirty="0"/>
              <a:t>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iş</a:t>
            </a:r>
            <a:r>
              <a:rPr lang="en-US" dirty="0"/>
              <a:t> </a:t>
            </a:r>
            <a:r>
              <a:rPr lang="en-US" dirty="0" err="1"/>
              <a:t>bitmez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aşamasında</a:t>
            </a:r>
            <a:r>
              <a:rPr lang="en-US" dirty="0"/>
              <a:t> </a:t>
            </a:r>
            <a:r>
              <a:rPr lang="en-US" dirty="0" err="1"/>
              <a:t>yazılımın</a:t>
            </a:r>
            <a:r>
              <a:rPr lang="en-US" dirty="0"/>
              <a:t>:</a:t>
            </a:r>
          </a:p>
          <a:p>
            <a:r>
              <a:rPr lang="en-US" dirty="0"/>
              <a:t>Doğru </a:t>
            </a:r>
            <a:r>
              <a:rPr lang="en-US" dirty="0" err="1"/>
              <a:t>çalışıp</a:t>
            </a:r>
            <a:r>
              <a:rPr lang="en-US" dirty="0"/>
              <a:t> </a:t>
            </a:r>
            <a:r>
              <a:rPr lang="en-US" dirty="0" err="1"/>
              <a:t>çalışmadığı</a:t>
            </a:r>
            <a:endParaRPr lang="en-US" dirty="0"/>
          </a:p>
          <a:p>
            <a:r>
              <a:rPr lang="en-US" dirty="0" err="1"/>
              <a:t>Performansının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olup</a:t>
            </a:r>
            <a:r>
              <a:rPr lang="en-US" dirty="0"/>
              <a:t> </a:t>
            </a:r>
            <a:r>
              <a:rPr lang="en-US" dirty="0" err="1"/>
              <a:t>olmadığı</a:t>
            </a:r>
            <a:endParaRPr lang="en-US" dirty="0"/>
          </a:p>
          <a:p>
            <a:r>
              <a:rPr lang="en-US" dirty="0" err="1"/>
              <a:t>Güvenli</a:t>
            </a:r>
            <a:r>
              <a:rPr lang="en-US" dirty="0"/>
              <a:t> </a:t>
            </a:r>
            <a:r>
              <a:rPr lang="en-US" dirty="0" err="1"/>
              <a:t>olup</a:t>
            </a:r>
            <a:r>
              <a:rPr lang="en-US" dirty="0"/>
              <a:t> </a:t>
            </a:r>
            <a:r>
              <a:rPr lang="en-US" dirty="0" err="1"/>
              <a:t>olmadığı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Test </a:t>
            </a:r>
            <a:r>
              <a:rPr lang="en-US" dirty="0" err="1"/>
              <a:t>türleri</a:t>
            </a:r>
            <a:r>
              <a:rPr lang="en-US" dirty="0"/>
              <a:t>:</a:t>
            </a:r>
          </a:p>
          <a:p>
            <a:r>
              <a:rPr lang="en-US" dirty="0" err="1"/>
              <a:t>Birim</a:t>
            </a:r>
            <a:r>
              <a:rPr lang="en-US" dirty="0"/>
              <a:t> Testi (Unit Test)</a:t>
            </a:r>
          </a:p>
          <a:p>
            <a:r>
              <a:rPr lang="en-US" dirty="0" err="1"/>
              <a:t>Tümleştirme</a:t>
            </a:r>
            <a:r>
              <a:rPr lang="en-US" dirty="0"/>
              <a:t> Testi (Integration Test)</a:t>
            </a:r>
          </a:p>
          <a:p>
            <a:r>
              <a:rPr lang="en-US" dirty="0" err="1"/>
              <a:t>Sistem</a:t>
            </a:r>
            <a:r>
              <a:rPr lang="en-US" dirty="0"/>
              <a:t> Testi</a:t>
            </a:r>
          </a:p>
          <a:p>
            <a:r>
              <a:rPr lang="en-US" dirty="0"/>
              <a:t>Kabul Testi</a:t>
            </a:r>
          </a:p>
          <a:p>
            <a:pPr marL="0" indent="0">
              <a:buNone/>
            </a:pPr>
            <a:r>
              <a:rPr lang="en-US" dirty="0"/>
              <a:t>Amaç:</a:t>
            </a:r>
            <a:br>
              <a:rPr lang="en-US" dirty="0"/>
            </a:br>
            <a:r>
              <a:rPr lang="en-US" dirty="0" err="1"/>
              <a:t>Yazılımı</a:t>
            </a:r>
            <a:r>
              <a:rPr lang="en-US" dirty="0"/>
              <a:t> </a:t>
            </a:r>
            <a:r>
              <a:rPr lang="en-US" dirty="0" err="1"/>
              <a:t>kullanıcıya</a:t>
            </a:r>
            <a:r>
              <a:rPr lang="en-US" dirty="0"/>
              <a:t> </a:t>
            </a:r>
            <a:r>
              <a:rPr lang="en-US" dirty="0" err="1"/>
              <a:t>gitmeden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 </a:t>
            </a:r>
            <a:r>
              <a:rPr lang="en-US" dirty="0" err="1"/>
              <a:t>olduğunca</a:t>
            </a:r>
            <a:r>
              <a:rPr lang="en-US" dirty="0"/>
              <a:t> </a:t>
            </a:r>
            <a:r>
              <a:rPr lang="en-US" dirty="0" err="1"/>
              <a:t>hatasız</a:t>
            </a:r>
            <a:r>
              <a:rPr lang="en-US" dirty="0"/>
              <a:t> hale </a:t>
            </a:r>
            <a:r>
              <a:rPr lang="en-US" dirty="0" err="1"/>
              <a:t>getirmek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26493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C096-68D3-E35A-19C0-58A82451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43A7D-8B36-5B83-8E0D-DDB698A51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Geliştirilen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; </a:t>
            </a:r>
            <a:r>
              <a:rPr lang="en-US" dirty="0" err="1"/>
              <a:t>işlevsellik</a:t>
            </a:r>
            <a:r>
              <a:rPr lang="en-US" dirty="0"/>
              <a:t>, </a:t>
            </a:r>
            <a:r>
              <a:rPr lang="en-US" dirty="0" err="1"/>
              <a:t>başarım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güvenlikle</a:t>
            </a:r>
            <a:r>
              <a:rPr lang="en-US" dirty="0"/>
              <a:t> </a:t>
            </a:r>
            <a:r>
              <a:rPr lang="en-US" dirty="0" err="1"/>
              <a:t>ilgili</a:t>
            </a:r>
            <a:r>
              <a:rPr lang="en-US" dirty="0"/>
              <a:t> </a:t>
            </a:r>
            <a:r>
              <a:rPr lang="en-US" dirty="0" err="1"/>
              <a:t>gereksinimler</a:t>
            </a:r>
            <a:r>
              <a:rPr lang="en-US" dirty="0"/>
              <a:t> </a:t>
            </a:r>
            <a:r>
              <a:rPr lang="en-US" dirty="0" err="1"/>
              <a:t>dikkate</a:t>
            </a:r>
            <a:r>
              <a:rPr lang="en-US" dirty="0"/>
              <a:t> </a:t>
            </a:r>
            <a:r>
              <a:rPr lang="en-US" dirty="0" err="1"/>
              <a:t>alınarak</a:t>
            </a:r>
            <a:r>
              <a:rPr lang="en-US" dirty="0"/>
              <a:t> test </a:t>
            </a:r>
            <a:r>
              <a:rPr lang="en-US" dirty="0" err="1"/>
              <a:t>edilir</a:t>
            </a:r>
            <a:r>
              <a:rPr lang="en-US" dirty="0"/>
              <a:t>. </a:t>
            </a:r>
            <a:r>
              <a:rPr lang="en-US" dirty="0" err="1"/>
              <a:t>Böylece</a:t>
            </a:r>
            <a:r>
              <a:rPr lang="en-US" dirty="0"/>
              <a:t> </a:t>
            </a:r>
            <a:r>
              <a:rPr lang="en-US" dirty="0" err="1"/>
              <a:t>uygulamanın</a:t>
            </a:r>
            <a:r>
              <a:rPr lang="en-US" dirty="0"/>
              <a:t> </a:t>
            </a:r>
            <a:r>
              <a:rPr lang="en-US" dirty="0" err="1"/>
              <a:t>beklendiği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çalışması</a:t>
            </a:r>
            <a:r>
              <a:rPr lang="en-US" dirty="0"/>
              <a:t> </a:t>
            </a:r>
            <a:r>
              <a:rPr lang="en-US" dirty="0" err="1"/>
              <a:t>sağlanır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aşamada</a:t>
            </a:r>
            <a:r>
              <a:rPr lang="en-US" dirty="0"/>
              <a:t> </a:t>
            </a:r>
            <a:r>
              <a:rPr lang="en-US" dirty="0" err="1"/>
              <a:t>birim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(unit testing), </a:t>
            </a:r>
            <a:r>
              <a:rPr lang="en-US" dirty="0" err="1"/>
              <a:t>tümleştirme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(integration testing),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(system testing), </a:t>
            </a:r>
            <a:r>
              <a:rPr lang="en-US" dirty="0" err="1"/>
              <a:t>kabul</a:t>
            </a:r>
            <a:r>
              <a:rPr lang="en-US" dirty="0"/>
              <a:t> </a:t>
            </a:r>
            <a:r>
              <a:rPr lang="en-US" dirty="0" err="1"/>
              <a:t>testi</a:t>
            </a:r>
            <a:r>
              <a:rPr lang="en-US" dirty="0"/>
              <a:t> (acceptance testing) </a:t>
            </a:r>
            <a:r>
              <a:rPr lang="en-US" dirty="0" err="1"/>
              <a:t>yapılır</a:t>
            </a:r>
            <a:r>
              <a:rPr lang="en-US" dirty="0"/>
              <a:t>.</a:t>
            </a:r>
          </a:p>
          <a:p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sızma</a:t>
            </a:r>
            <a:r>
              <a:rPr lang="en-US" dirty="0"/>
              <a:t> </a:t>
            </a:r>
            <a:r>
              <a:rPr lang="en-US" dirty="0" err="1"/>
              <a:t>testleri</a:t>
            </a:r>
            <a:r>
              <a:rPr lang="en-US" dirty="0"/>
              <a:t> </a:t>
            </a:r>
            <a:r>
              <a:rPr lang="en-US" dirty="0" err="1"/>
              <a:t>yapılır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aşamadan</a:t>
            </a:r>
            <a:r>
              <a:rPr lang="en-US" dirty="0"/>
              <a:t> </a:t>
            </a:r>
            <a:r>
              <a:rPr lang="en-US" dirty="0" err="1"/>
              <a:t>sorumlu</a:t>
            </a:r>
            <a:r>
              <a:rPr lang="en-US" dirty="0"/>
              <a:t> Test </a:t>
            </a:r>
            <a:r>
              <a:rPr lang="en-US" dirty="0" err="1"/>
              <a:t>ekibi</a:t>
            </a:r>
            <a:r>
              <a:rPr lang="en-US" dirty="0"/>
              <a:t> </a:t>
            </a:r>
            <a:r>
              <a:rPr lang="en-US" dirty="0" err="1"/>
              <a:t>aşağıdakileri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etmelidir</a:t>
            </a:r>
            <a:r>
              <a:rPr lang="en-US" dirty="0"/>
              <a:t>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kararsız</a:t>
            </a:r>
            <a:r>
              <a:rPr lang="en-US" dirty="0"/>
              <a:t> </a:t>
            </a:r>
            <a:r>
              <a:rPr lang="en-US" dirty="0" err="1"/>
              <a:t>çalışmamalı</a:t>
            </a:r>
            <a:r>
              <a:rPr lang="en-US" dirty="0"/>
              <a:t>, </a:t>
            </a:r>
            <a:r>
              <a:rPr lang="en-US" dirty="0" err="1"/>
              <a:t>testler</a:t>
            </a:r>
            <a:r>
              <a:rPr lang="en-US" dirty="0"/>
              <a:t> </a:t>
            </a:r>
            <a:r>
              <a:rPr lang="en-US" dirty="0" err="1"/>
              <a:t>kodların</a:t>
            </a:r>
            <a:r>
              <a:rPr lang="en-US" dirty="0"/>
              <a:t> </a:t>
            </a:r>
            <a:r>
              <a:rPr lang="en-US" dirty="0" err="1"/>
              <a:t>tamamını</a:t>
            </a:r>
            <a:r>
              <a:rPr lang="en-US" dirty="0"/>
              <a:t> </a:t>
            </a:r>
            <a:r>
              <a:rPr lang="en-US" dirty="0" err="1"/>
              <a:t>kapsamalı</a:t>
            </a:r>
            <a:r>
              <a:rPr lang="en-US" dirty="0"/>
              <a:t> (code coverage %100),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gereksinimleri</a:t>
            </a:r>
            <a:r>
              <a:rPr lang="en-US" dirty="0"/>
              <a:t> </a:t>
            </a:r>
            <a:r>
              <a:rPr lang="en-US" dirty="0" err="1"/>
              <a:t>karşılamalı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043899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AD1A3-A2CA-D4DE-65AB-9D141FB3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Bakım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487A-0680-5EB7-FDD8-0BC72A06C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Bakım</a:t>
            </a:r>
            <a:r>
              <a:rPr lang="en-US" b="1" dirty="0"/>
              <a:t> – </a:t>
            </a:r>
            <a:r>
              <a:rPr lang="en-US" b="1" dirty="0" err="1"/>
              <a:t>Yazılımın</a:t>
            </a:r>
            <a:r>
              <a:rPr lang="en-US" b="1" dirty="0"/>
              <a:t> </a:t>
            </a:r>
            <a:r>
              <a:rPr lang="en-US" b="1" dirty="0" err="1"/>
              <a:t>Gerçek</a:t>
            </a:r>
            <a:r>
              <a:rPr lang="en-US" b="1" dirty="0"/>
              <a:t> Hayat </a:t>
            </a:r>
            <a:r>
              <a:rPr lang="en-US" b="1" dirty="0" err="1"/>
              <a:t>Süreci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yayınlandıktan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süreç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Bakım</a:t>
            </a:r>
            <a:r>
              <a:rPr lang="en-US" dirty="0"/>
              <a:t> </a:t>
            </a:r>
            <a:r>
              <a:rPr lang="en-US" dirty="0" err="1"/>
              <a:t>nedenleri</a:t>
            </a:r>
            <a:r>
              <a:rPr lang="en-US" dirty="0"/>
              <a:t> (Lientz and Swanson </a:t>
            </a:r>
            <a:r>
              <a:rPr lang="en-US" dirty="0" err="1"/>
              <a:t>sınıflandırması</a:t>
            </a:r>
            <a:r>
              <a:rPr lang="en-US" dirty="0"/>
              <a:t>):</a:t>
            </a:r>
          </a:p>
          <a:p>
            <a:r>
              <a:rPr lang="en-US" b="1" dirty="0"/>
              <a:t>Adaptive</a:t>
            </a:r>
            <a:r>
              <a:rPr lang="en-US" dirty="0"/>
              <a:t> → </a:t>
            </a:r>
            <a:r>
              <a:rPr lang="en-US" dirty="0" err="1"/>
              <a:t>Ortam</a:t>
            </a:r>
            <a:r>
              <a:rPr lang="en-US" dirty="0"/>
              <a:t> </a:t>
            </a:r>
            <a:r>
              <a:rPr lang="en-US" dirty="0" err="1"/>
              <a:t>değişti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 </a:t>
            </a:r>
            <a:r>
              <a:rPr lang="en-US" dirty="0" err="1"/>
              <a:t>işletim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güncellendi</a:t>
            </a:r>
            <a:r>
              <a:rPr lang="en-US" dirty="0"/>
              <a:t>)</a:t>
            </a:r>
          </a:p>
          <a:p>
            <a:r>
              <a:rPr lang="en-US" b="1" dirty="0"/>
              <a:t>Perfective</a:t>
            </a:r>
            <a:r>
              <a:rPr lang="en-US" dirty="0"/>
              <a:t> → </a:t>
            </a:r>
            <a:r>
              <a:rPr lang="en-US" dirty="0" err="1"/>
              <a:t>Kullanıcı</a:t>
            </a:r>
            <a:r>
              <a:rPr lang="en-US" dirty="0"/>
              <a:t> yeni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istedi</a:t>
            </a:r>
            <a:endParaRPr lang="en-US" dirty="0"/>
          </a:p>
          <a:p>
            <a:r>
              <a:rPr lang="en-US" b="1" dirty="0"/>
              <a:t>Corrective</a:t>
            </a:r>
            <a:r>
              <a:rPr lang="en-US" dirty="0"/>
              <a:t> → Hata </a:t>
            </a:r>
            <a:r>
              <a:rPr lang="en-US" dirty="0" err="1"/>
              <a:t>bulundu</a:t>
            </a:r>
            <a:endParaRPr lang="en-US" dirty="0"/>
          </a:p>
          <a:p>
            <a:r>
              <a:rPr lang="en-US" b="1" dirty="0"/>
              <a:t>Preventive</a:t>
            </a:r>
            <a:r>
              <a:rPr lang="en-US" dirty="0"/>
              <a:t> → </a:t>
            </a:r>
            <a:r>
              <a:rPr lang="en-US" dirty="0" err="1"/>
              <a:t>İleride</a:t>
            </a:r>
            <a:r>
              <a:rPr lang="en-US" dirty="0"/>
              <a:t> </a:t>
            </a:r>
            <a:r>
              <a:rPr lang="en-US" dirty="0" err="1"/>
              <a:t>çıkabilecek</a:t>
            </a:r>
            <a:r>
              <a:rPr lang="en-US" dirty="0"/>
              <a:t> </a:t>
            </a:r>
            <a:r>
              <a:rPr lang="en-US" dirty="0" err="1"/>
              <a:t>sorunları</a:t>
            </a:r>
            <a:r>
              <a:rPr lang="en-US" dirty="0"/>
              <a:t> </a:t>
            </a:r>
            <a:r>
              <a:rPr lang="en-US" dirty="0" err="1"/>
              <a:t>önleme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hayatta</a:t>
            </a:r>
            <a:r>
              <a:rPr lang="en-US" dirty="0"/>
              <a:t> </a:t>
            </a:r>
            <a:r>
              <a:rPr lang="en-US" dirty="0" err="1"/>
              <a:t>bakım</a:t>
            </a:r>
            <a:r>
              <a:rPr lang="en-US" dirty="0"/>
              <a:t> </a:t>
            </a:r>
            <a:r>
              <a:rPr lang="en-US" dirty="0" err="1"/>
              <a:t>süresi</a:t>
            </a:r>
            <a:r>
              <a:rPr lang="en-US" dirty="0"/>
              <a:t>, </a:t>
            </a:r>
            <a:r>
              <a:rPr lang="en-US" dirty="0" err="1"/>
              <a:t>geliştirme</a:t>
            </a:r>
            <a:r>
              <a:rPr lang="en-US" dirty="0"/>
              <a:t> </a:t>
            </a:r>
            <a:r>
              <a:rPr lang="en-US" dirty="0" err="1"/>
              <a:t>süresinden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47220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F0C28-823D-6897-878E-1503D086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Bakım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02BC2-66D5-8569-5558-E9F4095C0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noProof="1"/>
              <a:t>Sürüm Yöneticisi (Release Managers)</a:t>
            </a:r>
          </a:p>
          <a:p>
            <a:r>
              <a:rPr lang="tr-TR" noProof="1"/>
              <a:t>yazılımı kullanıma hazırlar</a:t>
            </a:r>
          </a:p>
          <a:p>
            <a:r>
              <a:rPr lang="tr-TR" noProof="1"/>
              <a:t>uygulamanın kurulum işlemi</a:t>
            </a:r>
          </a:p>
          <a:p>
            <a:r>
              <a:rPr lang="tr-TR" noProof="1"/>
              <a:t>gerekli bileşenlerin kurulumu</a:t>
            </a:r>
          </a:p>
          <a:p>
            <a:r>
              <a:rPr lang="tr-TR" noProof="1"/>
              <a:t>Güncellemeler yapılır.</a:t>
            </a:r>
          </a:p>
          <a:p>
            <a:endParaRPr lang="tr-TR" noProof="1"/>
          </a:p>
        </p:txBody>
      </p:sp>
    </p:spTree>
    <p:extLst>
      <p:ext uri="{BB962C8B-B14F-4D97-AF65-F5344CB8AC3E}">
        <p14:creationId xmlns:p14="http://schemas.microsoft.com/office/powerpoint/2010/main" val="4201888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9ECC-701B-B2D8-6090-E4F330EF7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Değişiklik nedenleri </a:t>
            </a:r>
            <a:r>
              <a:rPr lang="en-US" dirty="0"/>
              <a:t>(Lientz and Swanson):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A957-A61F-1E85-6E45-F6ADC0B57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Adaptive – </a:t>
            </a:r>
            <a:r>
              <a:rPr lang="en-US" dirty="0" err="1"/>
              <a:t>yazılımın</a:t>
            </a:r>
            <a:r>
              <a:rPr lang="en-US" dirty="0"/>
              <a:t> </a:t>
            </a:r>
            <a:r>
              <a:rPr lang="en-US" dirty="0" err="1"/>
              <a:t>çalıştığı</a:t>
            </a:r>
            <a:r>
              <a:rPr lang="en-US" dirty="0"/>
              <a:t> </a:t>
            </a:r>
            <a:r>
              <a:rPr lang="en-US" dirty="0" err="1"/>
              <a:t>ortamın</a:t>
            </a:r>
            <a:r>
              <a:rPr lang="en-US" dirty="0"/>
              <a:t> </a:t>
            </a:r>
            <a:r>
              <a:rPr lang="en-US" dirty="0" err="1"/>
              <a:t>değişmesinden</a:t>
            </a:r>
            <a:r>
              <a:rPr lang="en-US" dirty="0"/>
              <a:t> </a:t>
            </a:r>
            <a:r>
              <a:rPr lang="en-US" dirty="0" err="1"/>
              <a:t>kaynaklanan</a:t>
            </a:r>
            <a:r>
              <a:rPr lang="en-US" dirty="0"/>
              <a:t> (DBMS, OS)</a:t>
            </a:r>
          </a:p>
          <a:p>
            <a:r>
              <a:rPr lang="en-US" dirty="0"/>
              <a:t>Perfective – yeni/</a:t>
            </a:r>
            <a:r>
              <a:rPr lang="en-US" dirty="0" err="1"/>
              <a:t>değişen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isteklerinden</a:t>
            </a:r>
            <a:r>
              <a:rPr lang="en-US" dirty="0"/>
              <a:t> (system </a:t>
            </a:r>
            <a:r>
              <a:rPr lang="en-US" dirty="0" err="1"/>
              <a:t>fonksiyonlarının</a:t>
            </a:r>
            <a:r>
              <a:rPr lang="en-US" dirty="0"/>
              <a:t> </a:t>
            </a:r>
            <a:r>
              <a:rPr lang="en-US" dirty="0" err="1"/>
              <a:t>iyileştirilmesi</a:t>
            </a:r>
            <a:r>
              <a:rPr lang="en-US" dirty="0"/>
              <a:t>) </a:t>
            </a:r>
            <a:r>
              <a:rPr lang="en-US" dirty="0" err="1"/>
              <a:t>kaynaklanan</a:t>
            </a:r>
            <a:endParaRPr lang="en-US" dirty="0"/>
          </a:p>
          <a:p>
            <a:r>
              <a:rPr lang="en-US" dirty="0"/>
              <a:t>Corrective – </a:t>
            </a:r>
            <a:r>
              <a:rPr lang="en-US" dirty="0" err="1"/>
              <a:t>kullanıcılar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</a:t>
            </a:r>
            <a:r>
              <a:rPr lang="en-US" dirty="0" err="1"/>
              <a:t>hatalardan</a:t>
            </a:r>
            <a:r>
              <a:rPr lang="en-US" dirty="0"/>
              <a:t> </a:t>
            </a:r>
            <a:r>
              <a:rPr lang="en-US" dirty="0" err="1"/>
              <a:t>kaynaklanan</a:t>
            </a:r>
            <a:endParaRPr lang="en-US" dirty="0"/>
          </a:p>
          <a:p>
            <a:r>
              <a:rPr lang="en-US" dirty="0"/>
              <a:t>Preventive – </a:t>
            </a:r>
            <a:r>
              <a:rPr lang="en-US" dirty="0" err="1"/>
              <a:t>gelecekte</a:t>
            </a:r>
            <a:r>
              <a:rPr lang="en-US" dirty="0"/>
              <a:t> </a:t>
            </a:r>
            <a:r>
              <a:rPr lang="en-US" dirty="0" err="1"/>
              <a:t>meydana</a:t>
            </a:r>
            <a:r>
              <a:rPr lang="en-US" dirty="0"/>
              <a:t> </a:t>
            </a:r>
            <a:r>
              <a:rPr lang="en-US" dirty="0" err="1"/>
              <a:t>gelebilecek</a:t>
            </a:r>
            <a:r>
              <a:rPr lang="en-US" dirty="0"/>
              <a:t> </a:t>
            </a:r>
            <a:r>
              <a:rPr lang="en-US" dirty="0" err="1"/>
              <a:t>sorunların</a:t>
            </a:r>
            <a:r>
              <a:rPr lang="en-US" dirty="0"/>
              <a:t> </a:t>
            </a:r>
            <a:r>
              <a:rPr lang="en-US" dirty="0" err="1"/>
              <a:t>önlenmesini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 </a:t>
            </a:r>
            <a:r>
              <a:rPr lang="en-US" dirty="0" err="1"/>
              <a:t>için</a:t>
            </a:r>
            <a:endParaRPr lang="en-US" dirty="0"/>
          </a:p>
          <a:p>
            <a:r>
              <a:rPr lang="en-US" dirty="0"/>
              <a:t>75% adaptive </a:t>
            </a:r>
            <a:r>
              <a:rPr lang="en-US" dirty="0" err="1"/>
              <a:t>ve</a:t>
            </a:r>
            <a:r>
              <a:rPr lang="en-US" dirty="0"/>
              <a:t> perfective, ~%21 </a:t>
            </a:r>
            <a:r>
              <a:rPr lang="en-US" dirty="0" err="1"/>
              <a:t>hataların</a:t>
            </a:r>
            <a:r>
              <a:rPr lang="en-US" dirty="0"/>
              <a:t> </a:t>
            </a:r>
            <a:r>
              <a:rPr lang="en-US" dirty="0" err="1"/>
              <a:t>düzeltilmesi</a:t>
            </a:r>
            <a:r>
              <a:rPr lang="en-US" dirty="0"/>
              <a:t> (corrective).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917737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69A6DD-E1BE-45A5-C6C4-466CD66E2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54779" y="643466"/>
            <a:ext cx="728244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91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2CAD-FFFD-ADFF-21CC-7CF8ABC71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Gerçek dünya-Yazılım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DA702-C5A0-0C7D-B064-758A08FC9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hayatta</a:t>
            </a:r>
            <a:r>
              <a:rPr lang="en-US" dirty="0"/>
              <a:t>:</a:t>
            </a:r>
          </a:p>
          <a:p>
            <a:r>
              <a:rPr lang="en-US" dirty="0" err="1"/>
              <a:t>Öğrenci</a:t>
            </a:r>
            <a:endParaRPr lang="en-US" dirty="0"/>
          </a:p>
          <a:p>
            <a:r>
              <a:rPr lang="en-US" dirty="0"/>
              <a:t>Araba</a:t>
            </a:r>
          </a:p>
          <a:p>
            <a:r>
              <a:rPr lang="en-US" dirty="0"/>
              <a:t>Banka </a:t>
            </a:r>
            <a:r>
              <a:rPr lang="en-US" dirty="0" err="1"/>
              <a:t>Hesabı</a:t>
            </a:r>
            <a:endParaRPr lang="en-US" dirty="0"/>
          </a:p>
          <a:p>
            <a:r>
              <a:rPr lang="en-US" dirty="0" err="1"/>
              <a:t>Sipariş</a:t>
            </a:r>
            <a:endParaRPr lang="en-US" dirty="0"/>
          </a:p>
          <a:p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varlıklar</a:t>
            </a:r>
            <a:r>
              <a:rPr lang="en-US" dirty="0"/>
              <a:t> </a:t>
            </a:r>
            <a:r>
              <a:rPr lang="en-US" dirty="0" err="1"/>
              <a:t>vardır</a:t>
            </a:r>
            <a:r>
              <a:rPr lang="en-US" dirty="0"/>
              <a:t>.</a:t>
            </a:r>
          </a:p>
          <a:p>
            <a:r>
              <a:rPr lang="en-US" dirty="0" err="1"/>
              <a:t>Yazılım</a:t>
            </a:r>
            <a:r>
              <a:rPr lang="en-US" dirty="0"/>
              <a:t> </a:t>
            </a:r>
            <a:r>
              <a:rPr lang="en-US" dirty="0" err="1"/>
              <a:t>dünyasında</a:t>
            </a:r>
            <a:r>
              <a:rPr lang="en-US" dirty="0"/>
              <a:t> bu </a:t>
            </a:r>
            <a:r>
              <a:rPr lang="en-US" dirty="0" err="1"/>
              <a:t>varlıkları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ederiz</a:t>
            </a:r>
            <a:r>
              <a:rPr lang="en-US" dirty="0"/>
              <a:t>?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120212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ECE-3A6A-566F-98EB-18D9DCD6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Analizden Sınıfa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EB4CB-490C-9173-6E33-DD5B1EC1E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Analiz </a:t>
            </a:r>
            <a:r>
              <a:rPr lang="en-US" dirty="0" err="1"/>
              <a:t>aşamasında</a:t>
            </a:r>
            <a:r>
              <a:rPr lang="en-US" dirty="0"/>
              <a:t>:</a:t>
            </a:r>
          </a:p>
          <a:p>
            <a:r>
              <a:rPr lang="en-US" dirty="0"/>
              <a:t>“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kimleri</a:t>
            </a:r>
            <a:r>
              <a:rPr lang="en-US" dirty="0"/>
              <a:t> </a:t>
            </a:r>
            <a:r>
              <a:rPr lang="en-US" dirty="0" err="1"/>
              <a:t>içeriyor</a:t>
            </a:r>
            <a:r>
              <a:rPr lang="en-US" dirty="0"/>
              <a:t>?”</a:t>
            </a:r>
          </a:p>
          <a:p>
            <a:r>
              <a:rPr lang="en-US" dirty="0"/>
              <a:t>“Hangi </a:t>
            </a:r>
            <a:r>
              <a:rPr lang="en-US" dirty="0" err="1"/>
              <a:t>varlıklarla</a:t>
            </a:r>
            <a:r>
              <a:rPr lang="en-US" dirty="0"/>
              <a:t> </a:t>
            </a:r>
            <a:r>
              <a:rPr lang="en-US" dirty="0" err="1"/>
              <a:t>çalışıyoruz</a:t>
            </a:r>
            <a:r>
              <a:rPr lang="en-US" dirty="0"/>
              <a:t>?”</a:t>
            </a:r>
          </a:p>
          <a:p>
            <a:r>
              <a:rPr lang="en-US" dirty="0"/>
              <a:t>“Bu </a:t>
            </a:r>
            <a:r>
              <a:rPr lang="en-US" dirty="0" err="1"/>
              <a:t>varlıkların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?”</a:t>
            </a:r>
          </a:p>
          <a:p>
            <a:r>
              <a:rPr lang="en-US" dirty="0"/>
              <a:t>“Ne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davranışları</a:t>
            </a:r>
            <a:r>
              <a:rPr lang="en-US" dirty="0"/>
              <a:t> var?” </a:t>
            </a:r>
            <a:r>
              <a:rPr lang="en-US" dirty="0" err="1"/>
              <a:t>diye</a:t>
            </a:r>
            <a:r>
              <a:rPr lang="en-US" dirty="0"/>
              <a:t> </a:t>
            </a:r>
            <a:r>
              <a:rPr lang="en-US" dirty="0" err="1"/>
              <a:t>düşünmüştük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Aslında</a:t>
            </a:r>
            <a:r>
              <a:rPr lang="en-US" dirty="0"/>
              <a:t> </a:t>
            </a:r>
            <a:r>
              <a:rPr lang="en-US" dirty="0" err="1"/>
              <a:t>farkında</a:t>
            </a:r>
            <a:r>
              <a:rPr lang="en-US" dirty="0"/>
              <a:t> </a:t>
            </a:r>
            <a:r>
              <a:rPr lang="en-US" dirty="0" err="1"/>
              <a:t>olmadan</a:t>
            </a:r>
            <a:r>
              <a:rPr lang="en-US" dirty="0"/>
              <a:t>:</a:t>
            </a:r>
          </a:p>
          <a:p>
            <a:r>
              <a:rPr lang="en-US" dirty="0" err="1"/>
              <a:t>Sınıfları</a:t>
            </a:r>
            <a:endParaRPr lang="en-US" dirty="0"/>
          </a:p>
          <a:p>
            <a:r>
              <a:rPr lang="en-US" dirty="0" err="1"/>
              <a:t>Özellikleri</a:t>
            </a:r>
            <a:r>
              <a:rPr lang="en-US" dirty="0"/>
              <a:t> (fields)</a:t>
            </a:r>
          </a:p>
          <a:p>
            <a:r>
              <a:rPr lang="en-US" dirty="0" err="1"/>
              <a:t>Davranışları</a:t>
            </a:r>
            <a:r>
              <a:rPr lang="en-US" dirty="0"/>
              <a:t> (methods) </a:t>
            </a:r>
            <a:r>
              <a:rPr lang="en-US" dirty="0" err="1"/>
              <a:t>belirlemiş</a:t>
            </a:r>
            <a:r>
              <a:rPr lang="en-US" dirty="0"/>
              <a:t> </a:t>
            </a:r>
            <a:r>
              <a:rPr lang="en-US" dirty="0" err="1"/>
              <a:t>olduk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6066335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D8F6-2B26-CC69-A3EB-3D5552548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Tasarımdan Koda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9D65B-A591-7B32-1852-193A63DDC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Tasarım</a:t>
            </a:r>
            <a:r>
              <a:rPr lang="en-US" dirty="0"/>
              <a:t> </a:t>
            </a:r>
            <a:r>
              <a:rPr lang="en-US" dirty="0" err="1"/>
              <a:t>aşamasında</a:t>
            </a:r>
            <a:r>
              <a:rPr lang="en-US" dirty="0"/>
              <a:t> </a:t>
            </a:r>
            <a:r>
              <a:rPr lang="en-US" dirty="0" err="1"/>
              <a:t>genellikle</a:t>
            </a:r>
            <a:br>
              <a:rPr lang="en-US" dirty="0"/>
            </a:br>
            <a:r>
              <a:rPr lang="en-US" dirty="0"/>
              <a:t>Unified Modeling Language </a:t>
            </a:r>
            <a:r>
              <a:rPr lang="en-US" dirty="0" err="1"/>
              <a:t>diyagramları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 </a:t>
            </a:r>
            <a:r>
              <a:rPr lang="en-US" dirty="0" err="1"/>
              <a:t>diyagramlarda</a:t>
            </a:r>
            <a:r>
              <a:rPr lang="en-US" dirty="0"/>
              <a:t>:</a:t>
            </a:r>
          </a:p>
          <a:p>
            <a:r>
              <a:rPr lang="en-US" dirty="0" err="1"/>
              <a:t>Sınıflar</a:t>
            </a:r>
            <a:r>
              <a:rPr lang="en-US" dirty="0"/>
              <a:t> </a:t>
            </a:r>
            <a:r>
              <a:rPr lang="en-US" dirty="0" err="1"/>
              <a:t>çizilir</a:t>
            </a:r>
            <a:endParaRPr lang="en-US" dirty="0"/>
          </a:p>
          <a:p>
            <a:r>
              <a:rPr lang="en-US" dirty="0" err="1"/>
              <a:t>İlişkiler</a:t>
            </a:r>
            <a:r>
              <a:rPr lang="en-US" dirty="0"/>
              <a:t> </a:t>
            </a:r>
            <a:r>
              <a:rPr lang="en-US" dirty="0" err="1"/>
              <a:t>gösterilir</a:t>
            </a:r>
            <a:endParaRPr lang="en-US" dirty="0"/>
          </a:p>
          <a:p>
            <a:r>
              <a:rPr lang="en-US" dirty="0" err="1"/>
              <a:t>Kalıtım</a:t>
            </a:r>
            <a:r>
              <a:rPr lang="en-US" dirty="0"/>
              <a:t> </a:t>
            </a:r>
            <a:r>
              <a:rPr lang="en-US" dirty="0" err="1"/>
              <a:t>belirtilir</a:t>
            </a:r>
            <a:endParaRPr lang="en-US" dirty="0"/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07209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6E011-4E37-B51B-D665-B40D61AC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Nesne ve Sınıf Yapısı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E0C12-F993-FF07-98F5-2ACCA97E7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2629" cy="4351338"/>
          </a:xfrm>
        </p:spPr>
        <p:txBody>
          <a:bodyPr/>
          <a:lstStyle/>
          <a:p>
            <a:r>
              <a:rPr lang="tr-TR" sz="2000" noProof="1"/>
              <a:t>Sınıf bir taslak, nesne ise o taslaktan üretilmiş canlı bir örnektir.</a:t>
            </a:r>
          </a:p>
          <a:p>
            <a:r>
              <a:rPr lang="tr-TR" sz="2000" b="1" noProof="1"/>
              <a:t>Sınıf:</a:t>
            </a:r>
            <a:r>
              <a:rPr lang="tr-TR" sz="2000" noProof="1"/>
              <a:t> Özelliklerin (fields) ve davranışların (methods) tanımlandığı şablon.</a:t>
            </a:r>
          </a:p>
          <a:p>
            <a:r>
              <a:rPr lang="tr-TR" sz="2000" b="1" noProof="1"/>
              <a:t>Nesne:</a:t>
            </a:r>
            <a:r>
              <a:rPr lang="tr-TR" sz="2000" noProof="1"/>
              <a:t> Bellekte yer kaplayan, sınıftan türetilmiş somut varlık.</a:t>
            </a:r>
          </a:p>
          <a:p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4C03D-80A2-AD37-0B2D-0FED0AC07546}"/>
              </a:ext>
            </a:extLst>
          </p:cNvPr>
          <p:cNvSpPr txBox="1"/>
          <p:nvPr/>
        </p:nvSpPr>
        <p:spPr>
          <a:xfrm>
            <a:off x="5867400" y="1811564"/>
            <a:ext cx="6324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Araba {</a:t>
            </a:r>
          </a:p>
          <a:p>
            <a:r>
              <a:rPr lang="en-TR" dirty="0"/>
              <a:t>    String marka;</a:t>
            </a:r>
          </a:p>
          <a:p>
            <a:r>
              <a:rPr lang="en-TR" dirty="0"/>
              <a:t>    void calistir() {</a:t>
            </a:r>
          </a:p>
          <a:p>
            <a:r>
              <a:rPr lang="en-TR" dirty="0"/>
              <a:t>        System.out.println("Araba çalıştı.");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public class Main {</a:t>
            </a:r>
          </a:p>
          <a:p>
            <a:r>
              <a:rPr lang="en-TR" dirty="0"/>
              <a:t>    public static void main(String[] args) {</a:t>
            </a:r>
          </a:p>
          <a:p>
            <a:r>
              <a:rPr lang="en-TR" dirty="0"/>
              <a:t>        Araba benimArabam = new Araba(); // Nesne oluşturma</a:t>
            </a:r>
          </a:p>
          <a:p>
            <a:r>
              <a:rPr lang="en-TR" dirty="0"/>
              <a:t>        benimArabam.marka = "Toyota";</a:t>
            </a:r>
          </a:p>
          <a:p>
            <a:r>
              <a:rPr lang="en-TR" dirty="0"/>
              <a:t>        benimArabam.calistir();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3282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0265-277F-ED92-3DDB-BF9092FE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Kalıtım</a:t>
            </a:r>
            <a:r>
              <a:rPr lang="en-US" dirty="0"/>
              <a:t> (Inheritance)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9579E-BBE8-463C-7968-61FCE67E4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Bir sınıfın özelliklerini ve metodlarını başka bir sınıfa devretmesidir. Kod tekrarını önler.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E05EC-171D-0B83-EA32-7CB84897CC4A}"/>
              </a:ext>
            </a:extLst>
          </p:cNvPr>
          <p:cNvSpPr txBox="1"/>
          <p:nvPr/>
        </p:nvSpPr>
        <p:spPr>
          <a:xfrm>
            <a:off x="1175657" y="26352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Hayvan {</a:t>
            </a:r>
          </a:p>
          <a:p>
            <a:r>
              <a:rPr lang="en-TR" dirty="0"/>
              <a:t>    void sesCikar() {</a:t>
            </a:r>
          </a:p>
          <a:p>
            <a:r>
              <a:rPr lang="en-TR" dirty="0"/>
              <a:t>        System.out.println("Hayvan ses çıkarıyor...");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class Kedi extends Hayvan {</a:t>
            </a:r>
          </a:p>
          <a:p>
            <a:r>
              <a:rPr lang="en-TR" dirty="0"/>
              <a:t>    @Override</a:t>
            </a:r>
          </a:p>
          <a:p>
            <a:r>
              <a:rPr lang="en-TR" dirty="0"/>
              <a:t>    void sesCikar() {</a:t>
            </a:r>
          </a:p>
          <a:p>
            <a:r>
              <a:rPr lang="en-TR" dirty="0"/>
              <a:t>        System.out.println("Miyav!");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7354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8300-6C00-70C4-9393-74D59BE6B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Metod </a:t>
            </a:r>
            <a:r>
              <a:rPr lang="tr-TR" noProof="1"/>
              <a:t>Aşırı Yükleme </a:t>
            </a:r>
            <a:r>
              <a:rPr lang="en-US" dirty="0"/>
              <a:t>(Function Overloading)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65872-5610-3D32-D1E7-846600688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Aynı isimli metodun, farklı parametre listeleriyle (sayı veya tip) birden fazla kez tanımlanmasıdır. Bu, Statik Polimorfizm örneğidir.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EA8F7-1C2A-287F-6A66-0FFF93BF0629}"/>
              </a:ext>
            </a:extLst>
          </p:cNvPr>
          <p:cNvSpPr txBox="1"/>
          <p:nvPr/>
        </p:nvSpPr>
        <p:spPr>
          <a:xfrm>
            <a:off x="1001486" y="2960638"/>
            <a:ext cx="39406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Hesaplayici {</a:t>
            </a:r>
          </a:p>
          <a:p>
            <a:r>
              <a:rPr lang="en-TR" dirty="0"/>
              <a:t>    int topla(int a, int b) {</a:t>
            </a:r>
          </a:p>
          <a:p>
            <a:r>
              <a:rPr lang="en-TR" dirty="0"/>
              <a:t>        return a + b;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    double topla(double a, double b) {</a:t>
            </a:r>
          </a:p>
          <a:p>
            <a:r>
              <a:rPr lang="en-TR" dirty="0"/>
              <a:t>        return a + b;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E68A1-776C-C01C-C71D-4C4CF5A93625}"/>
              </a:ext>
            </a:extLst>
          </p:cNvPr>
          <p:cNvSpPr txBox="1"/>
          <p:nvPr/>
        </p:nvSpPr>
        <p:spPr>
          <a:xfrm>
            <a:off x="5889171" y="241568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 err="1"/>
              <a:t>Derleyici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metodu</a:t>
            </a:r>
            <a:r>
              <a:rPr lang="en-US" dirty="0"/>
              <a:t> </a:t>
            </a:r>
            <a:r>
              <a:rPr lang="en-US" dirty="0" err="1"/>
              <a:t>çağırdığında</a:t>
            </a:r>
            <a:r>
              <a:rPr lang="en-US" dirty="0"/>
              <a:t> hangi </a:t>
            </a:r>
            <a:r>
              <a:rPr lang="en-US" dirty="0" err="1"/>
              <a:t>gövdeyi</a:t>
            </a:r>
            <a:r>
              <a:rPr lang="en-US" dirty="0"/>
              <a:t> </a:t>
            </a:r>
            <a:r>
              <a:rPr lang="en-US" dirty="0" err="1"/>
              <a:t>çalıştıracağını</a:t>
            </a:r>
            <a:r>
              <a:rPr lang="en-US" dirty="0"/>
              <a:t> </a:t>
            </a:r>
            <a:r>
              <a:rPr lang="en-US" dirty="0" err="1"/>
              <a:t>seçmek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b="1" dirty="0"/>
              <a:t>"Metod </a:t>
            </a:r>
            <a:r>
              <a:rPr lang="en-US" b="1" dirty="0" err="1"/>
              <a:t>İmzasına</a:t>
            </a:r>
            <a:r>
              <a:rPr lang="en-US" b="1" dirty="0"/>
              <a:t>" (Method Signature)</a:t>
            </a:r>
            <a:r>
              <a:rPr lang="en-US" dirty="0"/>
              <a:t> </a:t>
            </a:r>
            <a:r>
              <a:rPr lang="en-US" dirty="0" err="1"/>
              <a:t>bakar</a:t>
            </a:r>
            <a:r>
              <a:rPr lang="en-US" dirty="0"/>
              <a:t>. </a:t>
            </a:r>
            <a:r>
              <a:rPr lang="en-US" dirty="0" err="1"/>
              <a:t>Java'da</a:t>
            </a:r>
            <a:r>
              <a:rPr lang="en-US" dirty="0"/>
              <a:t> </a:t>
            </a:r>
            <a:r>
              <a:rPr lang="en-US" dirty="0" err="1"/>
              <a:t>metod</a:t>
            </a:r>
            <a:r>
              <a:rPr lang="en-US" dirty="0"/>
              <a:t> </a:t>
            </a:r>
            <a:r>
              <a:rPr lang="en-US" dirty="0" err="1"/>
              <a:t>imzası</a:t>
            </a:r>
            <a:r>
              <a:rPr lang="en-US" dirty="0"/>
              <a:t> </a:t>
            </a:r>
            <a:r>
              <a:rPr lang="en-US" dirty="0" err="1"/>
              <a:t>şunlardan</a:t>
            </a:r>
            <a:r>
              <a:rPr lang="en-US" dirty="0"/>
              <a:t> </a:t>
            </a:r>
            <a:r>
              <a:rPr lang="en-US" dirty="0" err="1"/>
              <a:t>oluşur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Metodun</a:t>
            </a:r>
            <a:r>
              <a:rPr lang="en-US" dirty="0"/>
              <a:t> </a:t>
            </a:r>
            <a:r>
              <a:rPr lang="en-US" dirty="0" err="1"/>
              <a:t>Adı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Parametrelerin</a:t>
            </a:r>
            <a:r>
              <a:rPr lang="en-US" dirty="0"/>
              <a:t> </a:t>
            </a:r>
            <a:r>
              <a:rPr lang="en-US" dirty="0" err="1"/>
              <a:t>Sayısı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Parametrelerin</a:t>
            </a:r>
            <a:r>
              <a:rPr lang="en-US" dirty="0"/>
              <a:t> Tipi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Sırası</a:t>
            </a:r>
            <a:endParaRPr lang="en-US" dirty="0"/>
          </a:p>
          <a:p>
            <a:pPr>
              <a:buNone/>
            </a:pPr>
            <a:r>
              <a:rPr lang="en-US" b="1" dirty="0" err="1"/>
              <a:t>Dönüş</a:t>
            </a:r>
            <a:r>
              <a:rPr lang="en-US" b="1" dirty="0"/>
              <a:t> tipi, </a:t>
            </a:r>
            <a:r>
              <a:rPr lang="en-US" b="1" dirty="0" err="1"/>
              <a:t>metod</a:t>
            </a:r>
            <a:r>
              <a:rPr lang="en-US" b="1" dirty="0"/>
              <a:t> </a:t>
            </a:r>
            <a:r>
              <a:rPr lang="en-US" b="1" dirty="0" err="1"/>
              <a:t>imzasının</a:t>
            </a:r>
            <a:r>
              <a:rPr lang="en-US" b="1" dirty="0"/>
              <a:t> </a:t>
            </a:r>
            <a:r>
              <a:rPr lang="en-US" b="1" dirty="0" err="1"/>
              <a:t>bir</a:t>
            </a:r>
            <a:r>
              <a:rPr lang="en-US" b="1" dirty="0"/>
              <a:t> </a:t>
            </a:r>
            <a:r>
              <a:rPr lang="en-US" b="1" dirty="0" err="1"/>
              <a:t>parçası</a:t>
            </a:r>
            <a:r>
              <a:rPr lang="en-US" b="1" dirty="0"/>
              <a:t> </a:t>
            </a:r>
            <a:r>
              <a:rPr lang="en-US" b="1" dirty="0" err="1"/>
              <a:t>değildir</a:t>
            </a:r>
            <a:r>
              <a:rPr lang="en-US" b="1" dirty="0"/>
              <a:t>.</a:t>
            </a:r>
            <a:endParaRPr lang="en-US" dirty="0"/>
          </a:p>
          <a:p>
            <a:pPr>
              <a:buNone/>
            </a:pPr>
            <a:r>
              <a:rPr lang="en-US" dirty="0" err="1"/>
              <a:t>Düşün</a:t>
            </a:r>
            <a:r>
              <a:rPr lang="en-US" dirty="0"/>
              <a:t> ki </a:t>
            </a:r>
            <a:r>
              <a:rPr lang="en-US" dirty="0" err="1"/>
              <a:t>kodun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</a:t>
            </a:r>
            <a:r>
              <a:rPr lang="en-US" dirty="0" err="1"/>
              <a:t>şöyle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çağrı</a:t>
            </a:r>
            <a:r>
              <a:rPr lang="en-US" dirty="0"/>
              <a:t> </a:t>
            </a:r>
            <a:r>
              <a:rPr lang="en-US" dirty="0" err="1"/>
              <a:t>yapıyorsun</a:t>
            </a:r>
            <a:r>
              <a:rPr lang="en-US" dirty="0"/>
              <a:t>: </a:t>
            </a:r>
            <a:r>
              <a:rPr lang="en-US" dirty="0" err="1">
                <a:latin typeface="Courier New" panose="02070309020205020404" pitchFamily="49" charset="0"/>
              </a:rPr>
              <a:t>hesapla</a:t>
            </a:r>
            <a:r>
              <a:rPr lang="en-US" dirty="0">
                <a:latin typeface="Courier New" panose="02070309020205020404" pitchFamily="49" charset="0"/>
              </a:rPr>
              <a:t>(5, 10);</a:t>
            </a:r>
            <a:endParaRPr lang="en-US" dirty="0"/>
          </a:p>
          <a:p>
            <a:pPr>
              <a:buNone/>
            </a:pP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 err="1"/>
              <a:t>sınıfinda</a:t>
            </a:r>
            <a:r>
              <a:rPr lang="en-US" dirty="0"/>
              <a:t>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metod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olabilseydi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int </a:t>
            </a:r>
            <a:r>
              <a:rPr lang="en-US" dirty="0" err="1">
                <a:latin typeface="Courier New" panose="02070309020205020404" pitchFamily="49" charset="0"/>
              </a:rPr>
              <a:t>hesapla</a:t>
            </a:r>
            <a:r>
              <a:rPr lang="en-US" dirty="0">
                <a:latin typeface="Courier New" panose="02070309020205020404" pitchFamily="49" charset="0"/>
              </a:rPr>
              <a:t>(int a, int b) { ... }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double </a:t>
            </a:r>
            <a:r>
              <a:rPr lang="en-US" dirty="0" err="1">
                <a:latin typeface="Courier New" panose="02070309020205020404" pitchFamily="49" charset="0"/>
              </a:rPr>
              <a:t>hesapla</a:t>
            </a:r>
            <a:r>
              <a:rPr lang="en-US" dirty="0">
                <a:latin typeface="Courier New" panose="02070309020205020404" pitchFamily="49" charset="0"/>
              </a:rPr>
              <a:t>(int a, int b) { ... }</a:t>
            </a:r>
            <a:endParaRPr lang="en-US" dirty="0"/>
          </a:p>
          <a:p>
            <a:pPr>
              <a:buNone/>
            </a:pPr>
            <a:r>
              <a:rPr lang="en-US" dirty="0" err="1"/>
              <a:t>Derleyici</a:t>
            </a:r>
            <a:r>
              <a:rPr lang="en-US" dirty="0"/>
              <a:t>, </a:t>
            </a:r>
            <a:r>
              <a:rPr lang="en-US" dirty="0" err="1"/>
              <a:t>senin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int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sonuç</a:t>
            </a:r>
            <a:r>
              <a:rPr lang="en-US" dirty="0"/>
              <a:t> mu </a:t>
            </a:r>
            <a:r>
              <a:rPr lang="en-US" dirty="0" err="1"/>
              <a:t>beklediğini</a:t>
            </a:r>
            <a:r>
              <a:rPr lang="en-US" dirty="0"/>
              <a:t> </a:t>
            </a:r>
            <a:r>
              <a:rPr lang="en-US" dirty="0" err="1"/>
              <a:t>yoksa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double</a:t>
            </a:r>
            <a:r>
              <a:rPr lang="en-US" dirty="0"/>
              <a:t> </a:t>
            </a:r>
            <a:r>
              <a:rPr lang="en-US" dirty="0" err="1"/>
              <a:t>mı</a:t>
            </a:r>
            <a:r>
              <a:rPr lang="en-US" dirty="0"/>
              <a:t> </a:t>
            </a:r>
            <a:r>
              <a:rPr lang="en-US" dirty="0" err="1"/>
              <a:t>beklediğini</a:t>
            </a:r>
            <a:r>
              <a:rPr lang="en-US" dirty="0"/>
              <a:t> o </a:t>
            </a:r>
            <a:r>
              <a:rPr lang="en-US" dirty="0" err="1"/>
              <a:t>satırdan</a:t>
            </a:r>
            <a:r>
              <a:rPr lang="en-US" dirty="0"/>
              <a:t> </a:t>
            </a:r>
            <a:r>
              <a:rPr lang="en-US" dirty="0" err="1"/>
              <a:t>anlayamazdı</a:t>
            </a:r>
            <a:r>
              <a:rPr lang="en-US" dirty="0"/>
              <a:t>. Bu durum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b="1" dirty="0" err="1"/>
              <a:t>belirsizliğe</a:t>
            </a:r>
            <a:r>
              <a:rPr lang="en-US" b="1" dirty="0"/>
              <a:t> (ambiguity)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98882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59CCE4-8812-A00E-19B1-B9BA1F820CA8}"/>
              </a:ext>
            </a:extLst>
          </p:cNvPr>
          <p:cNvSpPr txBox="1"/>
          <p:nvPr/>
        </p:nvSpPr>
        <p:spPr>
          <a:xfrm>
            <a:off x="1306285" y="65308"/>
            <a:ext cx="740228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public class OverloadTest {</a:t>
            </a:r>
          </a:p>
          <a:p>
            <a:endParaRPr lang="en-TR" dirty="0"/>
          </a:p>
          <a:p>
            <a:r>
              <a:rPr lang="en-TR" dirty="0"/>
              <a:t>    // 1. Temel metod</a:t>
            </a:r>
          </a:p>
          <a:p>
            <a:r>
              <a:rPr lang="en-TR" dirty="0"/>
              <a:t>    public int islem(int a, int b) {</a:t>
            </a:r>
          </a:p>
          <a:p>
            <a:r>
              <a:rPr lang="en-TR" dirty="0"/>
              <a:t>        return a + b;</a:t>
            </a:r>
          </a:p>
          <a:p>
            <a:r>
              <a:rPr lang="en-TR" dirty="0"/>
              <a:t>    }</a:t>
            </a:r>
          </a:p>
          <a:p>
            <a:endParaRPr lang="en-TR" dirty="0"/>
          </a:p>
          <a:p>
            <a:r>
              <a:rPr lang="en-TR" dirty="0"/>
              <a:t>    // GEÇERSİZ: Sadece dönüş tipi farklı. Derleme hatası verir!</a:t>
            </a:r>
          </a:p>
          <a:p>
            <a:r>
              <a:rPr lang="en-TR" dirty="0"/>
              <a:t>    /*</a:t>
            </a:r>
          </a:p>
          <a:p>
            <a:r>
              <a:rPr lang="en-TR" dirty="0"/>
              <a:t>    public double islem(int a, int b) { </a:t>
            </a:r>
          </a:p>
          <a:p>
            <a:r>
              <a:rPr lang="en-TR" dirty="0"/>
              <a:t>        return (double) a + b; 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    */</a:t>
            </a:r>
          </a:p>
          <a:p>
            <a:endParaRPr lang="en-TR" dirty="0"/>
          </a:p>
          <a:p>
            <a:r>
              <a:rPr lang="en-TR" dirty="0"/>
              <a:t>    // GEÇERLİ: Parametre tipi farklı (Overloading)</a:t>
            </a:r>
          </a:p>
          <a:p>
            <a:r>
              <a:rPr lang="en-TR" dirty="0"/>
              <a:t>    public double islem(double a, double b) {</a:t>
            </a:r>
          </a:p>
          <a:p>
            <a:r>
              <a:rPr lang="en-TR" dirty="0"/>
              <a:t>        return a + b;</a:t>
            </a:r>
          </a:p>
          <a:p>
            <a:r>
              <a:rPr lang="en-TR" dirty="0"/>
              <a:t>    }</a:t>
            </a:r>
          </a:p>
          <a:p>
            <a:endParaRPr lang="en-TR" dirty="0"/>
          </a:p>
          <a:p>
            <a:r>
              <a:rPr lang="en-TR" dirty="0"/>
              <a:t>    // GEÇERLİ: Parametre sayısı farklı (Overloading)</a:t>
            </a:r>
          </a:p>
          <a:p>
            <a:r>
              <a:rPr lang="en-TR" dirty="0"/>
              <a:t>    public int islem(int a, int b, int c) {</a:t>
            </a:r>
          </a:p>
          <a:p>
            <a:r>
              <a:rPr lang="en-TR" dirty="0"/>
              <a:t>        return a + b + c;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8000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1E88-95DC-769E-80E5-785808AD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Arayüzler</a:t>
            </a:r>
            <a:r>
              <a:rPr lang="en-US" dirty="0"/>
              <a:t> (Interfaces)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D723-6D73-1B96-DD52-618BFEC40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Bir sınıfın "ne yapabileceğini" belirten ama "nasıl yapacağını" söylemeyen kontratlardır.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A7C9F-8544-54A7-918A-FBB05908E78A}"/>
              </a:ext>
            </a:extLst>
          </p:cNvPr>
          <p:cNvSpPr txBox="1"/>
          <p:nvPr/>
        </p:nvSpPr>
        <p:spPr>
          <a:xfrm>
            <a:off x="1012372" y="2789482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interface IOdenebilir {</a:t>
            </a:r>
          </a:p>
          <a:p>
            <a:r>
              <a:rPr lang="en-TR" dirty="0"/>
              <a:t>    void ode();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class KrediKarti implements IOdenebilir {</a:t>
            </a:r>
          </a:p>
          <a:p>
            <a:r>
              <a:rPr lang="en-TR" dirty="0"/>
              <a:t>    public void ode() {</a:t>
            </a:r>
          </a:p>
          <a:p>
            <a:r>
              <a:rPr lang="en-TR" dirty="0"/>
              <a:t>        System.out.println("Kredi kartı ile ödendi.");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57816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CADA-C1FA-5A32-2E6F-53A2581E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Kapsülleme</a:t>
            </a:r>
            <a:r>
              <a:rPr lang="en-US" dirty="0"/>
              <a:t> (Encapsulation)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0EAFA-25E3-E6BC-1DBC-558265667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Veriyi ve o veri üzerinde işlem yapan metodları bir araya getirip, veriyi dış dünyadan saklamaktır. "Bilgi Gizleme" (Information Hiding) ilkesidir.</a:t>
            </a:r>
          </a:p>
          <a:p>
            <a:r>
              <a:rPr lang="tr-TR" sz="2000" noProof="1"/>
              <a:t>Amaç: Verinin kontrolsüz değiştirilmesini engellemek.</a:t>
            </a:r>
          </a:p>
          <a:p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946CA-A592-EDD5-BBBC-9A1F17CD35DA}"/>
              </a:ext>
            </a:extLst>
          </p:cNvPr>
          <p:cNvSpPr txBox="1"/>
          <p:nvPr/>
        </p:nvSpPr>
        <p:spPr>
          <a:xfrm>
            <a:off x="1023257" y="317257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Kullanici {</a:t>
            </a:r>
          </a:p>
          <a:p>
            <a:r>
              <a:rPr lang="en-TR" dirty="0"/>
              <a:t>    private String sifre; // Dışarıdan erişilemez</a:t>
            </a:r>
          </a:p>
          <a:p>
            <a:endParaRPr lang="en-TR" dirty="0"/>
          </a:p>
          <a:p>
            <a:r>
              <a:rPr lang="en-TR" dirty="0"/>
              <a:t>    public void setSifre(String yeniSifre) {</a:t>
            </a:r>
          </a:p>
          <a:p>
            <a:r>
              <a:rPr lang="en-TR" dirty="0"/>
              <a:t>        if(yeniSifre.length() &gt;= 8) {</a:t>
            </a:r>
          </a:p>
          <a:p>
            <a:r>
              <a:rPr lang="en-TR" dirty="0"/>
              <a:t>            this.sifre = yeniSifre;</a:t>
            </a:r>
          </a:p>
          <a:p>
            <a:r>
              <a:rPr lang="en-TR" dirty="0"/>
              <a:t>        } else {</a:t>
            </a:r>
          </a:p>
          <a:p>
            <a:r>
              <a:rPr lang="en-TR" dirty="0"/>
              <a:t>            System.out.println("Şifre çok kısa!");</a:t>
            </a:r>
          </a:p>
          <a:p>
            <a:r>
              <a:rPr lang="en-TR" dirty="0"/>
              <a:t>        }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5852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6370-7585-D2BD-8794-55472897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Çok Biçimlilik </a:t>
            </a:r>
            <a:r>
              <a:rPr lang="en-US" dirty="0"/>
              <a:t>(Polymorphism)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DE61-2563-32CA-524D-1242357DA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Bir nesnenin, kendi türünden bir referans yerine üst sınıfın referansıyla temsil edilebilmesi ve çalışma anında (runtime) farklı davranışlar sergileyebilmesidir.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C5596-D166-AFF5-0745-BDEE98AA9048}"/>
              </a:ext>
            </a:extLst>
          </p:cNvPr>
          <p:cNvSpPr txBox="1"/>
          <p:nvPr/>
        </p:nvSpPr>
        <p:spPr>
          <a:xfrm>
            <a:off x="1143000" y="266371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List&lt;Sekil&gt; sekiller = new ArrayList&lt;&gt;();</a:t>
            </a:r>
          </a:p>
          <a:p>
            <a:r>
              <a:rPr lang="en-TR" dirty="0"/>
              <a:t>sekiller.add(new Daire());</a:t>
            </a:r>
          </a:p>
          <a:p>
            <a:r>
              <a:rPr lang="en-TR" dirty="0"/>
              <a:t>sekiller.add(new Kare());</a:t>
            </a:r>
          </a:p>
          <a:p>
            <a:endParaRPr lang="en-TR" dirty="0"/>
          </a:p>
          <a:p>
            <a:r>
              <a:rPr lang="en-TR" dirty="0"/>
              <a:t>for (Sekil s : sekiller) {</a:t>
            </a:r>
          </a:p>
          <a:p>
            <a:r>
              <a:rPr lang="en-TR" dirty="0"/>
              <a:t>    s.ciz(); // Her nesne kendi 'ciz' metodunu çalıştırır.</a:t>
            </a:r>
          </a:p>
          <a:p>
            <a:r>
              <a:rPr lang="en-TR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A6951-0A9A-AF84-DA5A-5118DAD99D00}"/>
              </a:ext>
            </a:extLst>
          </p:cNvPr>
          <p:cNvSpPr txBox="1"/>
          <p:nvPr/>
        </p:nvSpPr>
        <p:spPr>
          <a:xfrm>
            <a:off x="7543800" y="2557026"/>
            <a:ext cx="4125686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sz="1400" dirty="0"/>
              <a:t>class Sekil {</a:t>
            </a:r>
          </a:p>
          <a:p>
            <a:r>
              <a:rPr lang="en-TR" sz="1400" dirty="0"/>
              <a:t>    void ciz() {</a:t>
            </a:r>
          </a:p>
          <a:p>
            <a:r>
              <a:rPr lang="en-TR" sz="1400" dirty="0"/>
              <a:t>        System.out.println("Şekil çiziliyor");</a:t>
            </a:r>
          </a:p>
          <a:p>
            <a:r>
              <a:rPr lang="en-TR" sz="1400" dirty="0"/>
              <a:t>    }</a:t>
            </a:r>
          </a:p>
          <a:p>
            <a:r>
              <a:rPr lang="en-TR" sz="1400" dirty="0"/>
              <a:t>}</a:t>
            </a:r>
          </a:p>
          <a:p>
            <a:endParaRPr lang="en-TR" sz="1400" dirty="0"/>
          </a:p>
          <a:p>
            <a:r>
              <a:rPr lang="en-TR" sz="1400" dirty="0"/>
              <a:t>class Daire extends Sekil {</a:t>
            </a:r>
          </a:p>
          <a:p>
            <a:r>
              <a:rPr lang="en-TR" sz="1400" dirty="0"/>
              <a:t>    void ciz() {</a:t>
            </a:r>
          </a:p>
          <a:p>
            <a:r>
              <a:rPr lang="en-TR" sz="1400" dirty="0"/>
              <a:t>        System.out.println("Daire çiziliyor");</a:t>
            </a:r>
          </a:p>
          <a:p>
            <a:r>
              <a:rPr lang="en-TR" sz="1400" dirty="0"/>
              <a:t>    }</a:t>
            </a:r>
          </a:p>
          <a:p>
            <a:r>
              <a:rPr lang="en-TR" sz="1400" dirty="0"/>
              <a:t>}</a:t>
            </a:r>
          </a:p>
          <a:p>
            <a:endParaRPr lang="en-TR" sz="1400" dirty="0"/>
          </a:p>
          <a:p>
            <a:r>
              <a:rPr lang="en-TR" sz="1400" dirty="0"/>
              <a:t>class Kare extends Sekil {</a:t>
            </a:r>
          </a:p>
          <a:p>
            <a:r>
              <a:rPr lang="en-TR" sz="1400" dirty="0"/>
              <a:t>    void ciz() {</a:t>
            </a:r>
          </a:p>
          <a:p>
            <a:r>
              <a:rPr lang="en-TR" sz="1400" dirty="0"/>
              <a:t>        System.out.println("Kare çiziliyor");</a:t>
            </a:r>
          </a:p>
          <a:p>
            <a:r>
              <a:rPr lang="en-TR" sz="1400" dirty="0"/>
              <a:t>    }</a:t>
            </a:r>
          </a:p>
          <a:p>
            <a:r>
              <a:rPr lang="en-TR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7538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85169-6CB9-1CAA-4AD6-4AE4D1904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Soyut Sınıflar </a:t>
            </a:r>
            <a:r>
              <a:rPr lang="en-US" dirty="0"/>
              <a:t>(Abstract Classes)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831E3-13B4-F862-BB4D-E9667C2DD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Tamamlanmamış, tek başına nesne oluşturamayan sınıflardır. Diğer sınıflar için bir "alt yapı" sunarlar.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10C0D-C682-953D-2B9D-11E62A0538AF}"/>
              </a:ext>
            </a:extLst>
          </p:cNvPr>
          <p:cNvSpPr txBox="1"/>
          <p:nvPr/>
        </p:nvSpPr>
        <p:spPr>
          <a:xfrm>
            <a:off x="1034143" y="2794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abstract class OdemeSistemi {</a:t>
            </a:r>
          </a:p>
          <a:p>
            <a:r>
              <a:rPr lang="en-TR" dirty="0"/>
              <a:t>    void fişKes() { // Ortak metod</a:t>
            </a:r>
          </a:p>
          <a:p>
            <a:r>
              <a:rPr lang="en-TR" dirty="0"/>
              <a:t>        System.out.println("Fiş oluşturuldu.");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    abstract void odemeYap(); // Alt sınıfa zorunlu kılınan metod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5613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E5F0-B164-2A14-77A7-86603F25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Statik (Static) </a:t>
            </a:r>
            <a:r>
              <a:rPr lang="tr-TR" noProof="1"/>
              <a:t>Kavramı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7B90C-253A-0BD0-4B88-D22169797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Sınıfa ait olan, nesne oluşturmadan erişilebilen öğelerdir. Bellekte tek bir kopya olarak tutulur.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44424-A8D4-BDF5-AED7-A54C31963770}"/>
              </a:ext>
            </a:extLst>
          </p:cNvPr>
          <p:cNvSpPr txBox="1"/>
          <p:nvPr/>
        </p:nvSpPr>
        <p:spPr>
          <a:xfrm>
            <a:off x="1012371" y="279919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Matematik {</a:t>
            </a:r>
          </a:p>
          <a:p>
            <a:r>
              <a:rPr lang="en-TR" dirty="0"/>
              <a:t>    static final double PI = 3.14;</a:t>
            </a:r>
          </a:p>
          <a:p>
            <a:r>
              <a:rPr lang="en-TR" dirty="0"/>
              <a:t>    static int topla(int a, int b) { return a + b; }</a:t>
            </a:r>
          </a:p>
          <a:p>
            <a:r>
              <a:rPr lang="en-TR" dirty="0"/>
              <a:t>}</a:t>
            </a:r>
          </a:p>
          <a:p>
            <a:r>
              <a:rPr lang="en-TR" dirty="0"/>
              <a:t>// Kullanım: Matematik.topla(5, 3); (new demeye gerek yok)</a:t>
            </a:r>
          </a:p>
        </p:txBody>
      </p:sp>
    </p:spTree>
    <p:extLst>
      <p:ext uri="{BB962C8B-B14F-4D97-AF65-F5344CB8AC3E}">
        <p14:creationId xmlns:p14="http://schemas.microsoft.com/office/powerpoint/2010/main" val="2929697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DA3B-6443-27DE-4877-388362586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Statik (Static) </a:t>
            </a:r>
            <a:r>
              <a:rPr lang="tr-TR" noProof="1"/>
              <a:t>Kavramı</a:t>
            </a:r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E1EBA-0B52-D8AB-59AF-16D41B442744}"/>
              </a:ext>
            </a:extLst>
          </p:cNvPr>
          <p:cNvSpPr txBox="1"/>
          <p:nvPr/>
        </p:nvSpPr>
        <p:spPr>
          <a:xfrm>
            <a:off x="838200" y="182562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public class DisSinif {</a:t>
            </a:r>
          </a:p>
          <a:p>
            <a:r>
              <a:rPr lang="en-TR" dirty="0"/>
              <a:t>    private static String disStatikMesaj = "Statik Veri";</a:t>
            </a:r>
          </a:p>
          <a:p>
            <a:r>
              <a:rPr lang="en-TR" dirty="0"/>
              <a:t>    private String disNesneMesaj = "Nesne Verisi";</a:t>
            </a:r>
          </a:p>
          <a:p>
            <a:endParaRPr lang="en-TR" dirty="0"/>
          </a:p>
          <a:p>
            <a:r>
              <a:rPr lang="en-TR" dirty="0"/>
              <a:t>    // STATİK İÇ SINIF</a:t>
            </a:r>
          </a:p>
          <a:p>
            <a:r>
              <a:rPr lang="en-TR" dirty="0"/>
              <a:t>    public static class StatikIcSinif {</a:t>
            </a:r>
          </a:p>
          <a:p>
            <a:r>
              <a:rPr lang="en-TR" dirty="0"/>
              <a:t>        public void mesajVer() {</a:t>
            </a:r>
          </a:p>
          <a:p>
            <a:r>
              <a:rPr lang="en-TR" dirty="0"/>
              <a:t>            // Sadece dış sınıfın statik üyelerine erişebilir</a:t>
            </a:r>
          </a:p>
          <a:p>
            <a:r>
              <a:rPr lang="en-TR" dirty="0"/>
              <a:t>            System.out.println("Dıştan gelen: " + disStatikMesaj);</a:t>
            </a:r>
          </a:p>
          <a:p>
            <a:r>
              <a:rPr lang="en-TR" dirty="0"/>
              <a:t>            </a:t>
            </a:r>
          </a:p>
          <a:p>
            <a:r>
              <a:rPr lang="en-TR" dirty="0"/>
              <a:t>            // HATA: disNesneMesaj'a erişemez çünkü o bir nesneye aittir!</a:t>
            </a:r>
          </a:p>
          <a:p>
            <a:r>
              <a:rPr lang="en-TR" dirty="0"/>
              <a:t>        }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8836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F697-A10A-D0B1-28DD-8F21EF04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"Static Class" Gibi </a:t>
            </a:r>
            <a:r>
              <a:rPr lang="tr-TR" noProof="1"/>
              <a:t>Davranan Sınıflar</a:t>
            </a:r>
            <a:endParaRPr lang="en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76A8F-8944-73D5-2BB7-97A851A830D3}"/>
              </a:ext>
            </a:extLst>
          </p:cNvPr>
          <p:cNvSpPr txBox="1"/>
          <p:nvPr/>
        </p:nvSpPr>
        <p:spPr>
          <a:xfrm>
            <a:off x="3394364" y="212239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public final class MatematikAraclari {</a:t>
            </a:r>
          </a:p>
          <a:p>
            <a:r>
              <a:rPr lang="en-TR" dirty="0"/>
              <a:t>    private MatematikAraclari() {} // Kimse 'new' diyemez</a:t>
            </a:r>
          </a:p>
          <a:p>
            <a:endParaRPr lang="en-TR" dirty="0"/>
          </a:p>
          <a:p>
            <a:r>
              <a:rPr lang="en-TR" dirty="0"/>
              <a:t>    public static double topla(double a, double b) {</a:t>
            </a:r>
          </a:p>
          <a:p>
            <a:r>
              <a:rPr lang="en-TR" dirty="0"/>
              <a:t>        return a + b;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4894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A427-FD33-1C07-13ED-C1F6F46B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Statik (Static) </a:t>
            </a:r>
            <a:r>
              <a:rPr lang="tr-TR" noProof="1"/>
              <a:t>Kavramı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D5692-81D4-3E87-34E0-43B70B3BC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Ana Kural: </a:t>
            </a:r>
            <a:r>
              <a:rPr lang="en-US" b="1" dirty="0" err="1"/>
              <a:t>Sınıfın</a:t>
            </a:r>
            <a:r>
              <a:rPr lang="en-US" b="1" dirty="0"/>
              <a:t> "</a:t>
            </a:r>
            <a:r>
              <a:rPr lang="en-US" b="1" dirty="0" err="1"/>
              <a:t>Dış</a:t>
            </a:r>
            <a:r>
              <a:rPr lang="en-US" b="1" dirty="0"/>
              <a:t> </a:t>
            </a:r>
            <a:r>
              <a:rPr lang="en-US" b="1" dirty="0" err="1"/>
              <a:t>Kapısı</a:t>
            </a:r>
            <a:r>
              <a:rPr lang="en-US" b="1" dirty="0"/>
              <a:t>" Statik </a:t>
            </a:r>
            <a:r>
              <a:rPr lang="en-US" b="1" dirty="0" err="1"/>
              <a:t>Olamaz</a:t>
            </a:r>
            <a:endParaRPr lang="en-US" b="1" dirty="0"/>
          </a:p>
          <a:p>
            <a:r>
              <a:rPr lang="en-US" dirty="0" err="1"/>
              <a:t>Java'da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dosyayı</a:t>
            </a:r>
            <a:r>
              <a:rPr lang="en-US" dirty="0"/>
              <a:t> </a:t>
            </a:r>
            <a:r>
              <a:rPr lang="en-US" dirty="0" err="1"/>
              <a:t>açtığında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dışta</a:t>
            </a:r>
            <a:r>
              <a:rPr lang="en-US" dirty="0"/>
              <a:t> </a:t>
            </a:r>
            <a:r>
              <a:rPr lang="en-US" dirty="0" err="1"/>
              <a:t>yazdığın</a:t>
            </a:r>
            <a:r>
              <a:rPr lang="en-US" dirty="0"/>
              <a:t> ana </a:t>
            </a:r>
            <a:r>
              <a:rPr lang="en-US" dirty="0" err="1"/>
              <a:t>sınıf</a:t>
            </a:r>
            <a:r>
              <a:rPr lang="en-US" dirty="0"/>
              <a:t> (</a:t>
            </a:r>
            <a:r>
              <a:rPr lang="en-US" dirty="0" err="1"/>
              <a:t>dosya</a:t>
            </a:r>
            <a:r>
              <a:rPr lang="en-US" dirty="0"/>
              <a:t> </a:t>
            </a:r>
            <a:r>
              <a:rPr lang="en-US" dirty="0" err="1"/>
              <a:t>ismiyle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) </a:t>
            </a:r>
            <a:r>
              <a:rPr lang="en-US" dirty="0" err="1"/>
              <a:t>asla</a:t>
            </a:r>
            <a:r>
              <a:rPr lang="en-US" dirty="0"/>
              <a:t> static </a:t>
            </a:r>
            <a:r>
              <a:rPr lang="en-US" dirty="0" err="1"/>
              <a:t>olamaz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İstisna</a:t>
            </a:r>
            <a:r>
              <a:rPr lang="en-US" b="1" dirty="0"/>
              <a:t>: </a:t>
            </a:r>
            <a:r>
              <a:rPr lang="en-US" b="1" dirty="0" err="1"/>
              <a:t>Sınıfın</a:t>
            </a:r>
            <a:r>
              <a:rPr lang="en-US" b="1" dirty="0"/>
              <a:t> "</a:t>
            </a:r>
            <a:r>
              <a:rPr lang="en-US" b="1" dirty="0" err="1"/>
              <a:t>İçindeki</a:t>
            </a:r>
            <a:r>
              <a:rPr lang="en-US" b="1" dirty="0"/>
              <a:t> Oda" Statik </a:t>
            </a:r>
            <a:r>
              <a:rPr lang="en-US" b="1" dirty="0" err="1"/>
              <a:t>Olabilir</a:t>
            </a:r>
            <a:r>
              <a:rPr lang="en-US" b="1" dirty="0"/>
              <a:t>. 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636192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B927-4025-694B-DA48-BDB6DE88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Metod Ezme (Method Overriding)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AECBF-6334-6241-5AF0-F5471D7E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Üst sınıftan (Parent) miras alınan bir metodun, alt sınıf (Child) tarafından kendi ihtiyaçlarına göre yeniden yazılmasıdır. Bu, Dinamik (Runtime) Polimorfizm'in temelidir.</a:t>
            </a:r>
          </a:p>
          <a:p>
            <a:r>
              <a:rPr lang="en-US" sz="2000" dirty="0"/>
              <a:t>Amaç: </a:t>
            </a:r>
            <a:r>
              <a:rPr lang="tr-TR" sz="2000" noProof="1"/>
              <a:t>Alt sınıfın, üst sınıftaki bir davranışı daha spesifik hale getirmesini sağlamak.</a:t>
            </a:r>
          </a:p>
          <a:p>
            <a:endParaRPr lang="tr-TR" sz="20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255E64-D0A1-AF0A-2763-862A9FC59D98}"/>
              </a:ext>
            </a:extLst>
          </p:cNvPr>
          <p:cNvSpPr txBox="1"/>
          <p:nvPr/>
        </p:nvSpPr>
        <p:spPr>
          <a:xfrm>
            <a:off x="2133599" y="2981742"/>
            <a:ext cx="76526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Calisan {</a:t>
            </a:r>
          </a:p>
          <a:p>
            <a:r>
              <a:rPr lang="en-TR" dirty="0"/>
              <a:t>    void maasHesapla() {</a:t>
            </a:r>
          </a:p>
          <a:p>
            <a:r>
              <a:rPr lang="en-TR" dirty="0"/>
              <a:t>        System.out.println("Standart çalışan maaşı hesaplandı.");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class Yonetici extends Calisan {</a:t>
            </a:r>
          </a:p>
          <a:p>
            <a:r>
              <a:rPr lang="en-TR" dirty="0"/>
              <a:t>    @Override</a:t>
            </a:r>
          </a:p>
          <a:p>
            <a:r>
              <a:rPr lang="en-TR" dirty="0"/>
              <a:t>    void maasHesapla() {</a:t>
            </a:r>
          </a:p>
          <a:p>
            <a:r>
              <a:rPr lang="en-TR" dirty="0"/>
              <a:t>        // Üst sınıftaki davranışı tamamen değiştiriyoruz</a:t>
            </a:r>
          </a:p>
          <a:p>
            <a:r>
              <a:rPr lang="en-TR" dirty="0"/>
              <a:t>        System.out.println("Yönetici maaşı + Bonuslar hesaplandı.");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5154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D6BF-7453-882F-2BCD-F25C22C02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Override </a:t>
            </a:r>
            <a:r>
              <a:rPr lang="tr-TR" noProof="1"/>
              <a:t>Kuralları</a:t>
            </a:r>
            <a:r>
              <a:rPr lang="en-US" dirty="0"/>
              <a:t> (Kritik </a:t>
            </a:r>
            <a:r>
              <a:rPr lang="tr-TR" noProof="1"/>
              <a:t>Notlar</a:t>
            </a:r>
            <a:r>
              <a:rPr lang="en-US" dirty="0"/>
              <a:t>)</a:t>
            </a:r>
            <a:endParaRPr lang="en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53CCAB-9C25-7DEE-51B4-C30B79FED5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771" y="1888798"/>
            <a:ext cx="1138395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sz="2000" dirty="0"/>
              <a:t>Static ve Final Metodlar: static ve final olarak işaretlenmiş metodlar ezilemez (cannot be overridden).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TR" altLang="en-TR" sz="2000" dirty="0"/>
              <a:t>Çünkü static sınıfa aittir, final ise değişmezliği garanti eder.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sz="2000" dirty="0"/>
              <a:t>Erişim Belirleyiciler: Alt sınıf, metodu ezerken erişim seviyesini daraltamaz.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sz="2000" dirty="0"/>
              <a:t>(Örneğin üst sınıfta public olan bir metod, alt sınıfta private yapılamaz).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sz="2000" dirty="0"/>
              <a:t>super Anahtar Kelimesi: Eğer alt sınıf, üst sınıftaki metodun davranışını tamamen silmek yerine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TR" altLang="en-TR" sz="2000" dirty="0"/>
              <a:t>üzerine ekleme yapmak istiyorsa super.maasHesapla(); diyerek orijinal metodu da çağırabilir.</a:t>
            </a:r>
          </a:p>
        </p:txBody>
      </p:sp>
    </p:spTree>
    <p:extLst>
      <p:ext uri="{BB962C8B-B14F-4D97-AF65-F5344CB8AC3E}">
        <p14:creationId xmlns:p14="http://schemas.microsoft.com/office/powerpoint/2010/main" val="9130350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BC4A-2CE8-A2F9-516B-BE7F2656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564"/>
          </a:xfrm>
        </p:spPr>
        <p:txBody>
          <a:bodyPr/>
          <a:lstStyle/>
          <a:p>
            <a:r>
              <a:rPr lang="en-US" dirty="0"/>
              <a:t>‘s</a:t>
            </a:r>
            <a:r>
              <a:rPr lang="en-TR" dirty="0"/>
              <a:t>uper’ anahtar kelimesi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6CA0-9649-DDF0-223D-2123990B7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9827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Kurucu</a:t>
            </a:r>
            <a:r>
              <a:rPr lang="en-US" dirty="0"/>
              <a:t> </a:t>
            </a:r>
            <a:r>
              <a:rPr lang="en-US" dirty="0" err="1"/>
              <a:t>Fonksiyonunu</a:t>
            </a:r>
            <a:r>
              <a:rPr lang="en-US" dirty="0"/>
              <a:t> (Constructor) </a:t>
            </a:r>
            <a:r>
              <a:rPr lang="en-US" dirty="0" err="1"/>
              <a:t>Çağırmak</a:t>
            </a:r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E75C7-C314-E04F-B495-538D05A72C3B}"/>
              </a:ext>
            </a:extLst>
          </p:cNvPr>
          <p:cNvSpPr txBox="1"/>
          <p:nvPr/>
        </p:nvSpPr>
        <p:spPr>
          <a:xfrm>
            <a:off x="5839691" y="1225689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BankaHesabi {</a:t>
            </a:r>
          </a:p>
          <a:p>
            <a:r>
              <a:rPr lang="en-TR" dirty="0"/>
              <a:t>    protected String sahip;</a:t>
            </a:r>
          </a:p>
          <a:p>
            <a:endParaRPr lang="en-TR" dirty="0"/>
          </a:p>
          <a:p>
            <a:r>
              <a:rPr lang="en-TR" dirty="0"/>
              <a:t>    // Üst sınıf kurucusu</a:t>
            </a:r>
          </a:p>
          <a:p>
            <a:r>
              <a:rPr lang="en-TR" dirty="0"/>
              <a:t>    public BankaHesabi(String isim) {</a:t>
            </a:r>
          </a:p>
          <a:p>
            <a:r>
              <a:rPr lang="en-TR" dirty="0"/>
              <a:t>        this.sahip = isim;</a:t>
            </a:r>
          </a:p>
          <a:p>
            <a:r>
              <a:rPr lang="en-TR" dirty="0"/>
              <a:t>        System.out.println("BankaHesabi kurucusu çalıştı.");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class VadesizHesap extends BankaHesabi {</a:t>
            </a:r>
          </a:p>
          <a:p>
            <a:r>
              <a:rPr lang="en-TR" dirty="0"/>
              <a:t>    private double limit;</a:t>
            </a:r>
          </a:p>
          <a:p>
            <a:endParaRPr lang="en-TR" dirty="0"/>
          </a:p>
          <a:p>
            <a:r>
              <a:rPr lang="en-TR" dirty="0"/>
              <a:t>    public VadesizHesap(String isim, double limit) {</a:t>
            </a:r>
          </a:p>
          <a:p>
            <a:r>
              <a:rPr lang="en-TR" dirty="0"/>
              <a:t>        // Üst sınıfın kurucusuna 'isim' bilgisini gönderiyoruz</a:t>
            </a:r>
          </a:p>
          <a:p>
            <a:r>
              <a:rPr lang="en-TR" dirty="0"/>
              <a:t>        super(isim); </a:t>
            </a:r>
          </a:p>
          <a:p>
            <a:r>
              <a:rPr lang="en-TR" dirty="0"/>
              <a:t>        this.limit = limit;</a:t>
            </a:r>
          </a:p>
          <a:p>
            <a:r>
              <a:rPr lang="en-TR" dirty="0"/>
              <a:t>        System.out.println("VadesizHesap kurucusu çalıştı.");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22601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A38C-C5D4-C7DB-624C-C2CD90F1E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‘s</a:t>
            </a:r>
            <a:r>
              <a:rPr lang="en-TR" dirty="0"/>
              <a:t>uper’ anahtar kelimesi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47FB7-1CEE-784D-FA43-FF1E605AC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noProof="1"/>
              <a:t>2. Üst Sınıfın Metotlarını Çağırmak (Method Overriding Durumunda)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CD74F-1E56-3104-E71A-69A65E454157}"/>
              </a:ext>
            </a:extLst>
          </p:cNvPr>
          <p:cNvSpPr txBox="1"/>
          <p:nvPr/>
        </p:nvSpPr>
        <p:spPr>
          <a:xfrm>
            <a:off x="3186545" y="2441415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BankaHesabi {</a:t>
            </a:r>
          </a:p>
          <a:p>
            <a:r>
              <a:rPr lang="en-TR" dirty="0"/>
              <a:t>    public void bilgiVer() {</a:t>
            </a:r>
          </a:p>
          <a:p>
            <a:r>
              <a:rPr lang="en-TR" dirty="0"/>
              <a:t>        System.out.println("Bu bir banka hesabıdır.");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class VadeliHesap extends BankaHesabi {</a:t>
            </a:r>
          </a:p>
          <a:p>
            <a:r>
              <a:rPr lang="en-TR" dirty="0"/>
              <a:t>    @Override</a:t>
            </a:r>
          </a:p>
          <a:p>
            <a:r>
              <a:rPr lang="en-TR" dirty="0"/>
              <a:t>    public void bilgiVer() {</a:t>
            </a:r>
          </a:p>
          <a:p>
            <a:r>
              <a:rPr lang="en-TR" dirty="0"/>
              <a:t>        super.bilgiVer(); // Önce üst sınıftaki orijinal mesajı yazdırır</a:t>
            </a:r>
          </a:p>
          <a:p>
            <a:r>
              <a:rPr lang="en-TR" dirty="0"/>
              <a:t>        System.out.println("Bu hesap vadeli bir hesaptır."); // Sonra kendi mesajını ekler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5521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FC44C-B741-1CCA-6C7A-BCB7BB28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‘s</a:t>
            </a:r>
            <a:r>
              <a:rPr lang="en-TR" dirty="0"/>
              <a:t>uper’ anahtar kelimesi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A60BE-25A8-9AB5-4E1A-6A8BA80BE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Üst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Üye</a:t>
            </a:r>
            <a:r>
              <a:rPr lang="en-US" dirty="0"/>
              <a:t> </a:t>
            </a:r>
            <a:r>
              <a:rPr lang="en-US" dirty="0" err="1"/>
              <a:t>Değişkenlerine</a:t>
            </a:r>
            <a:r>
              <a:rPr lang="en-US" dirty="0"/>
              <a:t> </a:t>
            </a:r>
            <a:r>
              <a:rPr lang="en-US" dirty="0" err="1"/>
              <a:t>Erişmek</a:t>
            </a:r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B13C9D-DBC1-5177-D518-3B4176339DE9}"/>
              </a:ext>
            </a:extLst>
          </p:cNvPr>
          <p:cNvSpPr txBox="1"/>
          <p:nvPr/>
        </p:nvSpPr>
        <p:spPr>
          <a:xfrm>
            <a:off x="1427018" y="2607531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Parent {</a:t>
            </a:r>
          </a:p>
          <a:p>
            <a:r>
              <a:rPr lang="en-TR" dirty="0"/>
              <a:t>    int sayi = 10;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class Child extends Parent {</a:t>
            </a:r>
          </a:p>
          <a:p>
            <a:r>
              <a:rPr lang="en-TR" dirty="0"/>
              <a:t>    int sayi = 20;</a:t>
            </a:r>
          </a:p>
          <a:p>
            <a:endParaRPr lang="en-TR" dirty="0"/>
          </a:p>
          <a:p>
            <a:r>
              <a:rPr lang="en-TR" dirty="0"/>
              <a:t>    public void goster() {</a:t>
            </a:r>
          </a:p>
          <a:p>
            <a:r>
              <a:rPr lang="en-TR" dirty="0"/>
              <a:t>        System.out.println("Benim sayım: " + this.sayi);   // 20</a:t>
            </a:r>
          </a:p>
          <a:p>
            <a:r>
              <a:rPr lang="en-TR" dirty="0"/>
              <a:t>        System.out.println("Babamın sayısı: " + super.sayi); // 10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6898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10411-1E95-F9AE-DDB4-80209D0DA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 </a:t>
            </a:r>
            <a:r>
              <a:rPr lang="tr-TR" noProof="1"/>
              <a:t>Dönüşümleri</a:t>
            </a:r>
            <a:r>
              <a:rPr lang="en-US" dirty="0"/>
              <a:t> (Type Casting)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C5C59-C3B7-391D-5120-39D52932A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İlkel</a:t>
            </a:r>
            <a:r>
              <a:rPr lang="en-US" sz="2000" dirty="0"/>
              <a:t> Tip </a:t>
            </a:r>
            <a:r>
              <a:rPr lang="en-US" sz="2000" dirty="0" err="1"/>
              <a:t>Dönüşümleri</a:t>
            </a:r>
            <a:r>
              <a:rPr lang="en-US" sz="2000" dirty="0"/>
              <a:t> (Primitive Casting): </a:t>
            </a:r>
            <a:r>
              <a:rPr lang="en-US" sz="2000" dirty="0" err="1"/>
              <a:t>Sayısal</a:t>
            </a:r>
            <a:r>
              <a:rPr lang="en-US" sz="2000" dirty="0"/>
              <a:t>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tiplerinin</a:t>
            </a:r>
            <a:r>
              <a:rPr lang="en-US" sz="2000" dirty="0"/>
              <a:t> </a:t>
            </a:r>
            <a:r>
              <a:rPr lang="en-US" sz="2000" dirty="0" err="1"/>
              <a:t>birbirine</a:t>
            </a:r>
            <a:r>
              <a:rPr lang="en-US" sz="2000" dirty="0"/>
              <a:t> </a:t>
            </a:r>
            <a:r>
              <a:rPr lang="en-US" sz="2000" dirty="0" err="1"/>
              <a:t>dönüştürülmesidir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Genişleten</a:t>
            </a:r>
            <a:r>
              <a:rPr lang="en-US" sz="2000" dirty="0"/>
              <a:t> </a:t>
            </a:r>
            <a:r>
              <a:rPr lang="en-US" sz="2000" dirty="0" err="1"/>
              <a:t>Dönüşüm</a:t>
            </a:r>
            <a:r>
              <a:rPr lang="en-US" sz="2000" dirty="0"/>
              <a:t> (Widening - </a:t>
            </a:r>
            <a:r>
              <a:rPr lang="en-US" sz="2000" dirty="0" err="1"/>
              <a:t>Otomatik</a:t>
            </a:r>
            <a:r>
              <a:rPr lang="en-US" sz="2000" dirty="0"/>
              <a:t>): </a:t>
            </a:r>
            <a:r>
              <a:rPr lang="en-US" sz="2000" dirty="0" err="1"/>
              <a:t>Küçük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tipinin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büyük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</a:t>
            </a:r>
            <a:r>
              <a:rPr lang="en-US" sz="2000" dirty="0" err="1"/>
              <a:t>atanmasıdır</a:t>
            </a:r>
            <a:r>
              <a:rPr lang="en-US" sz="2000" dirty="0"/>
              <a:t>. Veri </a:t>
            </a:r>
            <a:r>
              <a:rPr lang="en-US" sz="2000" dirty="0" err="1"/>
              <a:t>kaybı</a:t>
            </a:r>
            <a:r>
              <a:rPr lang="en-US" sz="2000" dirty="0"/>
              <a:t> </a:t>
            </a:r>
            <a:r>
              <a:rPr lang="en-US" sz="2000" dirty="0" err="1"/>
              <a:t>riski</a:t>
            </a:r>
            <a:r>
              <a:rPr lang="en-US" sz="2000" dirty="0"/>
              <a:t> </a:t>
            </a:r>
            <a:r>
              <a:rPr lang="en-US" sz="2000" dirty="0" err="1"/>
              <a:t>olmadığı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Java </a:t>
            </a:r>
            <a:r>
              <a:rPr lang="en-US" sz="2000" dirty="0" err="1"/>
              <a:t>bunu</a:t>
            </a:r>
            <a:r>
              <a:rPr lang="en-US" sz="2000" dirty="0"/>
              <a:t> </a:t>
            </a:r>
            <a:r>
              <a:rPr lang="en-US" sz="2000" dirty="0" err="1"/>
              <a:t>otomatik</a:t>
            </a:r>
            <a:r>
              <a:rPr lang="en-US" sz="2000" dirty="0"/>
              <a:t> </a:t>
            </a:r>
            <a:r>
              <a:rPr lang="en-US" sz="2000" dirty="0" err="1"/>
              <a:t>yapar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int -&gt; double (</a:t>
            </a:r>
            <a:r>
              <a:rPr lang="en-US" sz="2000" dirty="0" err="1"/>
              <a:t>Kaybedecek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şey</a:t>
            </a:r>
            <a:r>
              <a:rPr lang="en-US" sz="2000" dirty="0"/>
              <a:t> yok).</a:t>
            </a:r>
          </a:p>
          <a:p>
            <a:r>
              <a:rPr lang="en-US" sz="2000" dirty="0" err="1"/>
              <a:t>Daraltan</a:t>
            </a:r>
            <a:r>
              <a:rPr lang="en-US" sz="2000" dirty="0"/>
              <a:t> </a:t>
            </a:r>
            <a:r>
              <a:rPr lang="en-US" sz="2000" dirty="0" err="1"/>
              <a:t>Dönüşüm</a:t>
            </a:r>
            <a:r>
              <a:rPr lang="en-US" sz="2000" dirty="0"/>
              <a:t> (Narrowing - Manuel): Büyük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veri</a:t>
            </a:r>
            <a:r>
              <a:rPr lang="en-US" sz="2000" dirty="0"/>
              <a:t> </a:t>
            </a:r>
            <a:r>
              <a:rPr lang="en-US" sz="2000" dirty="0" err="1"/>
              <a:t>tipinin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küçük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tipe</a:t>
            </a:r>
            <a:r>
              <a:rPr lang="en-US" sz="2000" dirty="0"/>
              <a:t> </a:t>
            </a:r>
            <a:r>
              <a:rPr lang="en-US" sz="2000" dirty="0" err="1"/>
              <a:t>zorla</a:t>
            </a:r>
            <a:r>
              <a:rPr lang="en-US" sz="2000" dirty="0"/>
              <a:t> </a:t>
            </a:r>
            <a:r>
              <a:rPr lang="en-US" sz="2000" dirty="0" err="1"/>
              <a:t>atanmasıdır</a:t>
            </a:r>
            <a:r>
              <a:rPr lang="en-US" sz="2000" dirty="0"/>
              <a:t>. Veri </a:t>
            </a:r>
            <a:r>
              <a:rPr lang="en-US" sz="2000" dirty="0" err="1"/>
              <a:t>kaybı</a:t>
            </a:r>
            <a:r>
              <a:rPr lang="en-US" sz="2000" dirty="0"/>
              <a:t> </a:t>
            </a:r>
            <a:r>
              <a:rPr lang="en-US" sz="2000" dirty="0" err="1"/>
              <a:t>riski</a:t>
            </a:r>
            <a:r>
              <a:rPr lang="en-US" sz="2000" dirty="0"/>
              <a:t> </a:t>
            </a:r>
            <a:r>
              <a:rPr lang="en-US" sz="2000" dirty="0" err="1"/>
              <a:t>vardır</a:t>
            </a:r>
            <a:r>
              <a:rPr lang="en-US" sz="2000" dirty="0"/>
              <a:t>, bu </a:t>
            </a:r>
            <a:r>
              <a:rPr lang="en-US" sz="2000" dirty="0" err="1"/>
              <a:t>yüzden</a:t>
            </a:r>
            <a:r>
              <a:rPr lang="en-US" sz="2000" dirty="0"/>
              <a:t> </a:t>
            </a:r>
            <a:r>
              <a:rPr lang="en-US" sz="2000" dirty="0" err="1"/>
              <a:t>geliştirici</a:t>
            </a:r>
            <a:r>
              <a:rPr lang="en-US" sz="2000" dirty="0"/>
              <a:t> </a:t>
            </a:r>
            <a:r>
              <a:rPr lang="en-US" sz="2000" dirty="0" err="1"/>
              <a:t>sorumluluk</a:t>
            </a:r>
            <a:r>
              <a:rPr lang="en-US" sz="2000" dirty="0"/>
              <a:t> </a:t>
            </a:r>
            <a:r>
              <a:rPr lang="en-US" sz="2000" dirty="0" err="1"/>
              <a:t>almalıdır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double -&gt; int (</a:t>
            </a:r>
            <a:r>
              <a:rPr lang="en-US" sz="2000" dirty="0" err="1"/>
              <a:t>Ondalık</a:t>
            </a:r>
            <a:r>
              <a:rPr lang="en-US" sz="2000" dirty="0"/>
              <a:t> </a:t>
            </a:r>
            <a:r>
              <a:rPr lang="en-US" sz="2000" dirty="0" err="1"/>
              <a:t>kısım</a:t>
            </a:r>
            <a:r>
              <a:rPr lang="en-US" sz="2000" dirty="0"/>
              <a:t> </a:t>
            </a:r>
            <a:r>
              <a:rPr lang="en-US" sz="2000" dirty="0" err="1"/>
              <a:t>uçar</a:t>
            </a:r>
            <a:r>
              <a:rPr lang="en-US" sz="2000" dirty="0"/>
              <a:t>).</a:t>
            </a:r>
          </a:p>
          <a:p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ED7D5-CD7E-BF0C-06F2-F4BC755F6762}"/>
              </a:ext>
            </a:extLst>
          </p:cNvPr>
          <p:cNvSpPr txBox="1"/>
          <p:nvPr/>
        </p:nvSpPr>
        <p:spPr>
          <a:xfrm>
            <a:off x="3048000" y="484754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double fiyat = 99.99;</a:t>
            </a:r>
          </a:p>
          <a:p>
            <a:r>
              <a:rPr lang="en-TR" dirty="0"/>
              <a:t>int tamFiyat = (int) fiyat; // Sonuç: 99 (Veri kaybı var!)</a:t>
            </a:r>
          </a:p>
        </p:txBody>
      </p:sp>
    </p:spTree>
    <p:extLst>
      <p:ext uri="{BB962C8B-B14F-4D97-AF65-F5344CB8AC3E}">
        <p14:creationId xmlns:p14="http://schemas.microsoft.com/office/powerpoint/2010/main" val="3049851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0EE7-368F-8A1E-825F-D6DF7B82E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Referans (Nesne) Tip Dönüşümleri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6952F-FA82-6916-1800-8F8151B27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A. Upcasting (</a:t>
            </a:r>
            <a:r>
              <a:rPr lang="en-US" sz="2000" dirty="0" err="1"/>
              <a:t>Yukarı</a:t>
            </a:r>
            <a:r>
              <a:rPr lang="en-US" sz="2000" dirty="0"/>
              <a:t> Doğru </a:t>
            </a:r>
            <a:r>
              <a:rPr lang="en-US" sz="2000" dirty="0" err="1"/>
              <a:t>Dönüşüm</a:t>
            </a:r>
            <a:r>
              <a:rPr lang="en-US" sz="2000" dirty="0"/>
              <a:t>)</a:t>
            </a:r>
          </a:p>
          <a:p>
            <a:r>
              <a:rPr lang="en-US" sz="2000" dirty="0"/>
              <a:t>Alt </a:t>
            </a:r>
            <a:r>
              <a:rPr lang="en-US" sz="2000" dirty="0" err="1"/>
              <a:t>sınıf</a:t>
            </a:r>
            <a:r>
              <a:rPr lang="en-US" sz="2000" dirty="0"/>
              <a:t> </a:t>
            </a:r>
            <a:r>
              <a:rPr lang="en-US" sz="2000" dirty="0" err="1"/>
              <a:t>referansının</a:t>
            </a:r>
            <a:r>
              <a:rPr lang="en-US" sz="2000" dirty="0"/>
              <a:t>, </a:t>
            </a:r>
            <a:r>
              <a:rPr lang="en-US" sz="2000" dirty="0" err="1"/>
              <a:t>üst</a:t>
            </a:r>
            <a:r>
              <a:rPr lang="en-US" sz="2000" dirty="0"/>
              <a:t> </a:t>
            </a:r>
            <a:r>
              <a:rPr lang="en-US" sz="2000" dirty="0" err="1"/>
              <a:t>sınıf</a:t>
            </a:r>
            <a:r>
              <a:rPr lang="en-US" sz="2000" dirty="0"/>
              <a:t> </a:t>
            </a:r>
            <a:r>
              <a:rPr lang="en-US" sz="2000" dirty="0" err="1"/>
              <a:t>referansına</a:t>
            </a:r>
            <a:r>
              <a:rPr lang="en-US" sz="2000" dirty="0"/>
              <a:t> </a:t>
            </a:r>
            <a:r>
              <a:rPr lang="en-US" sz="2000" dirty="0" err="1"/>
              <a:t>atanmasıdır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Otomatik</a:t>
            </a:r>
            <a:r>
              <a:rPr lang="en-US" sz="2000" dirty="0"/>
              <a:t> </a:t>
            </a:r>
            <a:r>
              <a:rPr lang="en-US" sz="2000" dirty="0" err="1"/>
              <a:t>gerçekleşir</a:t>
            </a:r>
            <a:r>
              <a:rPr lang="en-US" sz="2000" dirty="0"/>
              <a:t>.</a:t>
            </a:r>
          </a:p>
          <a:p>
            <a:r>
              <a:rPr lang="en-US" sz="2000" dirty="0"/>
              <a:t>"Her </a:t>
            </a:r>
            <a:r>
              <a:rPr lang="en-US" sz="2000" dirty="0" err="1"/>
              <a:t>kedi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hayvandır</a:t>
            </a:r>
            <a:r>
              <a:rPr lang="en-US" sz="2000" dirty="0"/>
              <a:t>" </a:t>
            </a:r>
            <a:r>
              <a:rPr lang="en-US" sz="2000" dirty="0" err="1"/>
              <a:t>mantığına</a:t>
            </a:r>
            <a:r>
              <a:rPr lang="en-US" sz="2000" dirty="0"/>
              <a:t> </a:t>
            </a:r>
            <a:r>
              <a:rPr lang="en-US" sz="2000" dirty="0" err="1"/>
              <a:t>dayanır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Güvenlidir</a:t>
            </a:r>
            <a:r>
              <a:rPr lang="en-US" sz="2000" dirty="0"/>
              <a:t>, </a:t>
            </a:r>
            <a:r>
              <a:rPr lang="en-US" sz="2000" dirty="0" err="1"/>
              <a:t>çünkü</a:t>
            </a:r>
            <a:r>
              <a:rPr lang="en-US" sz="2000" dirty="0"/>
              <a:t> alt </a:t>
            </a:r>
            <a:r>
              <a:rPr lang="en-US" sz="2000" dirty="0" err="1"/>
              <a:t>sınıf</a:t>
            </a:r>
            <a:r>
              <a:rPr lang="en-US" sz="2000" dirty="0"/>
              <a:t> </a:t>
            </a:r>
            <a:r>
              <a:rPr lang="en-US" sz="2000" dirty="0" err="1"/>
              <a:t>üst</a:t>
            </a:r>
            <a:r>
              <a:rPr lang="en-US" sz="2000" dirty="0"/>
              <a:t> </a:t>
            </a:r>
            <a:r>
              <a:rPr lang="en-US" sz="2000" dirty="0" err="1"/>
              <a:t>sınıfın</a:t>
            </a:r>
            <a:r>
              <a:rPr lang="en-US" sz="2000" dirty="0"/>
              <a:t> </a:t>
            </a:r>
            <a:r>
              <a:rPr lang="en-US" sz="2000" dirty="0" err="1"/>
              <a:t>tüm</a:t>
            </a:r>
            <a:r>
              <a:rPr lang="en-US" sz="2000" dirty="0"/>
              <a:t> </a:t>
            </a:r>
            <a:r>
              <a:rPr lang="en-US" sz="2000" dirty="0" err="1"/>
              <a:t>özelliklerine</a:t>
            </a:r>
            <a:r>
              <a:rPr lang="en-US" sz="2000" dirty="0"/>
              <a:t> </a:t>
            </a:r>
            <a:r>
              <a:rPr lang="en-US" sz="2000" dirty="0" err="1"/>
              <a:t>zaten</a:t>
            </a:r>
            <a:r>
              <a:rPr lang="en-US" sz="2000" dirty="0"/>
              <a:t> </a:t>
            </a:r>
            <a:r>
              <a:rPr lang="en-US" sz="2000" dirty="0" err="1"/>
              <a:t>sahiptir</a:t>
            </a:r>
            <a:r>
              <a:rPr lang="en-US" sz="2000" dirty="0"/>
              <a:t>.</a:t>
            </a:r>
          </a:p>
          <a:p>
            <a:endParaRPr lang="en-T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85F06-FF54-DFF3-4034-91CA5DADD79B}"/>
              </a:ext>
            </a:extLst>
          </p:cNvPr>
          <p:cNvSpPr txBox="1"/>
          <p:nvPr/>
        </p:nvSpPr>
        <p:spPr>
          <a:xfrm>
            <a:off x="419100" y="44226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class Hayvan { }</a:t>
            </a:r>
          </a:p>
          <a:p>
            <a:r>
              <a:rPr lang="en-TR" dirty="0"/>
              <a:t>class Kopek extends Hayvan { </a:t>
            </a:r>
          </a:p>
          <a:p>
            <a:r>
              <a:rPr lang="en-TR" dirty="0"/>
              <a:t>    void havla() { System.out.println("Hav!"); }</a:t>
            </a:r>
          </a:p>
          <a:p>
            <a:r>
              <a:rPr lang="en-TR" dirty="0"/>
              <a:t>}</a:t>
            </a:r>
          </a:p>
          <a:p>
            <a:endParaRPr lang="en-TR" dirty="0"/>
          </a:p>
          <a:p>
            <a:r>
              <a:rPr lang="en-TR" dirty="0"/>
              <a:t>Hayvan h = new Kopek(); // Upcasting (Otomatik)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EF507-28AF-F794-1E4C-754DA1F37599}"/>
              </a:ext>
            </a:extLst>
          </p:cNvPr>
          <p:cNvSpPr txBox="1"/>
          <p:nvPr/>
        </p:nvSpPr>
        <p:spPr>
          <a:xfrm>
            <a:off x="5886450" y="442263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Upcasting </a:t>
            </a:r>
            <a:r>
              <a:rPr lang="en-US" dirty="0" err="1"/>
              <a:t>yapıldığında</a:t>
            </a:r>
            <a:r>
              <a:rPr lang="en-US" dirty="0"/>
              <a:t>, </a:t>
            </a:r>
            <a:r>
              <a:rPr lang="en-US" dirty="0" err="1"/>
              <a:t>nesne</a:t>
            </a:r>
            <a:r>
              <a:rPr lang="en-US" dirty="0"/>
              <a:t> </a:t>
            </a:r>
            <a:r>
              <a:rPr lang="en-US" dirty="0" err="1"/>
              <a:t>hala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Kopek</a:t>
            </a:r>
            <a:r>
              <a:rPr lang="en-US" dirty="0"/>
              <a:t> </a:t>
            </a:r>
            <a:r>
              <a:rPr lang="en-US" dirty="0" err="1"/>
              <a:t>nesnesidir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biz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Hayvan</a:t>
            </a:r>
            <a:r>
              <a:rPr lang="en-US" dirty="0"/>
              <a:t> </a:t>
            </a:r>
            <a:r>
              <a:rPr lang="en-US" dirty="0" err="1"/>
              <a:t>gözlüğüyle</a:t>
            </a:r>
            <a:r>
              <a:rPr lang="en-US" dirty="0"/>
              <a:t> </a:t>
            </a:r>
            <a:r>
              <a:rPr lang="en-US" dirty="0" err="1"/>
              <a:t>baktığımız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havla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</a:t>
            </a:r>
            <a:r>
              <a:rPr lang="en-US" dirty="0" err="1"/>
              <a:t>metoduna</a:t>
            </a:r>
            <a:r>
              <a:rPr lang="en-US" dirty="0"/>
              <a:t> </a:t>
            </a:r>
            <a:r>
              <a:rPr lang="en-US" dirty="0" err="1"/>
              <a:t>erişemeyiz</a:t>
            </a:r>
            <a:r>
              <a:rPr lang="en-US" dirty="0"/>
              <a:t>.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>
                <a:latin typeface="Courier New" panose="02070309020205020404" pitchFamily="49" charset="0"/>
              </a:rPr>
              <a:t>Hayvan</a:t>
            </a:r>
            <a:r>
              <a:rPr lang="en-US" dirty="0"/>
              <a:t> </a:t>
            </a:r>
            <a:r>
              <a:rPr lang="en-US" dirty="0" err="1"/>
              <a:t>sınıfında</a:t>
            </a:r>
            <a:r>
              <a:rPr lang="en-US" dirty="0"/>
              <a:t> </a:t>
            </a:r>
            <a:r>
              <a:rPr lang="en-US" dirty="0" err="1"/>
              <a:t>tanımlı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metodları</a:t>
            </a:r>
            <a:r>
              <a:rPr lang="en-US" dirty="0"/>
              <a:t> </a:t>
            </a:r>
            <a:r>
              <a:rPr lang="en-US" dirty="0" err="1"/>
              <a:t>görebiliriz</a:t>
            </a:r>
            <a:r>
              <a:rPr lang="en-US" dirty="0"/>
              <a:t>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9511521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96C8-FFED-9DC7-D5E5-2128D0B4A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Referans (Nesne) Tip Dönüşümleri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D4AC1-637D-56CF-6A74-CA03047E9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B. </a:t>
            </a:r>
            <a:r>
              <a:rPr lang="en-US" sz="2000" dirty="0" err="1"/>
              <a:t>Downcasting</a:t>
            </a:r>
            <a:r>
              <a:rPr lang="en-US" sz="2000" dirty="0"/>
              <a:t> (</a:t>
            </a:r>
            <a:r>
              <a:rPr lang="en-US" sz="2000" dirty="0" err="1"/>
              <a:t>Aşağı</a:t>
            </a:r>
            <a:r>
              <a:rPr lang="en-US" sz="2000" dirty="0"/>
              <a:t> Doğru </a:t>
            </a:r>
            <a:r>
              <a:rPr lang="en-US" sz="2000" dirty="0" err="1"/>
              <a:t>Dönüşüm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Üst</a:t>
            </a:r>
            <a:r>
              <a:rPr lang="en-US" sz="2000" dirty="0"/>
              <a:t> </a:t>
            </a:r>
            <a:r>
              <a:rPr lang="en-US" sz="2000" dirty="0" err="1"/>
              <a:t>sınıf</a:t>
            </a:r>
            <a:r>
              <a:rPr lang="en-US" sz="2000" dirty="0"/>
              <a:t> </a:t>
            </a:r>
            <a:r>
              <a:rPr lang="en-US" sz="2000" dirty="0" err="1"/>
              <a:t>referansının</a:t>
            </a:r>
            <a:r>
              <a:rPr lang="en-US" sz="2000" dirty="0"/>
              <a:t>, alt </a:t>
            </a:r>
            <a:r>
              <a:rPr lang="en-US" sz="2000" dirty="0" err="1"/>
              <a:t>sınıf</a:t>
            </a:r>
            <a:r>
              <a:rPr lang="en-US" sz="2000" dirty="0"/>
              <a:t> </a:t>
            </a:r>
            <a:r>
              <a:rPr lang="en-US" sz="2000" dirty="0" err="1"/>
              <a:t>referansına</a:t>
            </a:r>
            <a:r>
              <a:rPr lang="en-US" sz="2000" dirty="0"/>
              <a:t> </a:t>
            </a:r>
            <a:r>
              <a:rPr lang="en-US" sz="2000" dirty="0" err="1"/>
              <a:t>geri</a:t>
            </a:r>
            <a:r>
              <a:rPr lang="en-US" sz="2000" dirty="0"/>
              <a:t> </a:t>
            </a:r>
            <a:r>
              <a:rPr lang="en-US" sz="2000" dirty="0" err="1"/>
              <a:t>döndürülmesidir</a:t>
            </a:r>
            <a:r>
              <a:rPr lang="en-US" sz="2000" dirty="0"/>
              <a:t>.</a:t>
            </a:r>
          </a:p>
          <a:p>
            <a:r>
              <a:rPr lang="en-US" sz="2000" dirty="0"/>
              <a:t>Manuel (</a:t>
            </a:r>
            <a:r>
              <a:rPr lang="en-US" sz="2000" dirty="0" err="1"/>
              <a:t>Açıkça</a:t>
            </a:r>
            <a:r>
              <a:rPr lang="en-US" sz="2000" dirty="0"/>
              <a:t>) </a:t>
            </a:r>
            <a:r>
              <a:rPr lang="en-US" sz="2000" dirty="0" err="1"/>
              <a:t>yapılmalıdır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Riskli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işlemdir</a:t>
            </a:r>
            <a:r>
              <a:rPr lang="en-US" sz="2000" dirty="0"/>
              <a:t>. </a:t>
            </a: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referansın</a:t>
            </a:r>
            <a:r>
              <a:rPr lang="en-US" sz="2000" dirty="0"/>
              <a:t>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gerçek</a:t>
            </a:r>
            <a:r>
              <a:rPr lang="en-US" sz="2000" dirty="0"/>
              <a:t> </a:t>
            </a:r>
            <a:r>
              <a:rPr lang="en-US" sz="2000" dirty="0" err="1"/>
              <a:t>nesne</a:t>
            </a:r>
            <a:r>
              <a:rPr lang="en-US" sz="2000" dirty="0"/>
              <a:t> </a:t>
            </a:r>
            <a:r>
              <a:rPr lang="en-US" sz="2000" dirty="0" err="1"/>
              <a:t>hedef</a:t>
            </a:r>
            <a:r>
              <a:rPr lang="en-US" sz="2000" dirty="0"/>
              <a:t> </a:t>
            </a:r>
            <a:r>
              <a:rPr lang="en-US" sz="2000" dirty="0" err="1"/>
              <a:t>tipte</a:t>
            </a:r>
            <a:r>
              <a:rPr lang="en-US" sz="2000" dirty="0"/>
              <a:t> </a:t>
            </a:r>
            <a:r>
              <a:rPr lang="en-US" sz="2000" dirty="0" err="1"/>
              <a:t>değilse</a:t>
            </a:r>
            <a:r>
              <a:rPr lang="en-US" sz="2000" dirty="0"/>
              <a:t>, Java </a:t>
            </a:r>
            <a:r>
              <a:rPr lang="en-US" sz="2000" dirty="0" err="1"/>
              <a:t>çalışma</a:t>
            </a:r>
            <a:r>
              <a:rPr lang="en-US" sz="2000" dirty="0"/>
              <a:t> </a:t>
            </a:r>
            <a:r>
              <a:rPr lang="en-US" sz="2000" dirty="0" err="1"/>
              <a:t>anında</a:t>
            </a:r>
            <a:r>
              <a:rPr lang="en-US" sz="2000" dirty="0"/>
              <a:t> </a:t>
            </a:r>
            <a:r>
              <a:rPr lang="en-US" sz="2000" dirty="0" err="1"/>
              <a:t>ClassCastException</a:t>
            </a:r>
            <a:r>
              <a:rPr lang="en-US" sz="2000" dirty="0"/>
              <a:t> </a:t>
            </a:r>
            <a:r>
              <a:rPr lang="en-US" sz="2000" dirty="0" err="1"/>
              <a:t>hatası</a:t>
            </a:r>
            <a:r>
              <a:rPr lang="en-US" sz="2000" dirty="0"/>
              <a:t> </a:t>
            </a:r>
            <a:r>
              <a:rPr lang="en-US" sz="2000" dirty="0" err="1"/>
              <a:t>fırlatır</a:t>
            </a:r>
            <a:r>
              <a:rPr lang="en-US" sz="2000" dirty="0"/>
              <a:t>.</a:t>
            </a:r>
          </a:p>
          <a:p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1F4468-46BC-F644-25C0-029791E8A5ED}"/>
              </a:ext>
            </a:extLst>
          </p:cNvPr>
          <p:cNvSpPr txBox="1"/>
          <p:nvPr/>
        </p:nvSpPr>
        <p:spPr>
          <a:xfrm>
            <a:off x="1338942" y="412122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Hayvan h = new Kopek(); // Önce upcasting yapılmıştı</a:t>
            </a:r>
          </a:p>
          <a:p>
            <a:r>
              <a:rPr lang="en-TR" dirty="0"/>
              <a:t>Kopek k = (Kopek) h;    // Downcasting (Manuel)</a:t>
            </a:r>
          </a:p>
          <a:p>
            <a:r>
              <a:rPr lang="en-TR" dirty="0"/>
              <a:t>k.havla();              // Artık havla() metoduna erişebiliriz.</a:t>
            </a:r>
          </a:p>
        </p:txBody>
      </p:sp>
    </p:spTree>
    <p:extLst>
      <p:ext uri="{BB962C8B-B14F-4D97-AF65-F5344CB8AC3E}">
        <p14:creationId xmlns:p14="http://schemas.microsoft.com/office/powerpoint/2010/main" val="42892026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69B84-0840-84D3-95CF-04C09735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Tehlikeyi Önlemek: instanceof Operatörü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B7EDF-3188-1A5B-3B5A-7282F8CC4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 noProof="1"/>
              <a:t>Tasarım yaparken, bir nesneyi downcast etmeden önce o nesnenin gerçekten o tipte olup olmadığını kontrol etmek gerekir. Bu, güvenli kod yazmanın altın kuralıdır.</a:t>
            </a:r>
          </a:p>
          <a:p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E9CD1F-DC49-CC36-CA1A-99BFD3131E4B}"/>
              </a:ext>
            </a:extLst>
          </p:cNvPr>
          <p:cNvSpPr txBox="1"/>
          <p:nvPr/>
        </p:nvSpPr>
        <p:spPr>
          <a:xfrm>
            <a:off x="1230086" y="284713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TR" dirty="0"/>
              <a:t>public void sesCikar(Hayvan h) {</a:t>
            </a:r>
          </a:p>
          <a:p>
            <a:r>
              <a:rPr lang="en-TR" dirty="0"/>
              <a:t>    if (h instanceof Kopek) {</a:t>
            </a:r>
          </a:p>
          <a:p>
            <a:r>
              <a:rPr lang="en-TR" dirty="0"/>
              <a:t>        Kopek k = (Kopek) h;</a:t>
            </a:r>
          </a:p>
          <a:p>
            <a:r>
              <a:rPr lang="en-TR" dirty="0"/>
              <a:t>        k.havla();</a:t>
            </a:r>
          </a:p>
          <a:p>
            <a:r>
              <a:rPr lang="en-TR" dirty="0"/>
              <a:t>    } else {</a:t>
            </a:r>
          </a:p>
          <a:p>
            <a:r>
              <a:rPr lang="en-TR" dirty="0"/>
              <a:t>        System.out.println("Bu hayvan bir köpek değil!");</a:t>
            </a:r>
          </a:p>
          <a:p>
            <a:r>
              <a:rPr lang="en-TR" dirty="0"/>
              <a:t>    }</a:t>
            </a:r>
          </a:p>
          <a:p>
            <a:r>
              <a:rPr lang="en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5821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4100</TotalTime>
  <Words>3714</Words>
  <Application>Microsoft Macintosh PowerPoint</Application>
  <PresentationFormat>Widescreen</PresentationFormat>
  <Paragraphs>501</Paragraphs>
  <Slides>44</Slides>
  <Notes>16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Courier New</vt:lpstr>
      <vt:lpstr>Office Theme</vt:lpstr>
      <vt:lpstr>Nesneye Dayalı Programlama Temelleri</vt:lpstr>
      <vt:lpstr>Gerçek dünya problemi</vt:lpstr>
      <vt:lpstr>Yazılım Geliştirme Yaşam Döngüsü</vt:lpstr>
      <vt:lpstr>İyi Yazılım</vt:lpstr>
      <vt:lpstr>İyi Yazılım</vt:lpstr>
      <vt:lpstr>Yazılım Geliştirme Yaşam Döngüsü</vt:lpstr>
      <vt:lpstr>Yazılım Geliştirme Yaşam Döngüsü</vt:lpstr>
      <vt:lpstr>Analiz</vt:lpstr>
      <vt:lpstr>Analiz</vt:lpstr>
      <vt:lpstr>Analiz</vt:lpstr>
      <vt:lpstr>Tasarım</vt:lpstr>
      <vt:lpstr>Tasarım</vt:lpstr>
      <vt:lpstr>Gerçekleme</vt:lpstr>
      <vt:lpstr>Gerçekleme</vt:lpstr>
      <vt:lpstr>Test</vt:lpstr>
      <vt:lpstr>Test</vt:lpstr>
      <vt:lpstr>Bakım</vt:lpstr>
      <vt:lpstr>Bakım</vt:lpstr>
      <vt:lpstr>Değişiklik nedenleri (Lientz and Swanson):</vt:lpstr>
      <vt:lpstr>PowerPoint Presentation</vt:lpstr>
      <vt:lpstr>Gerçek dünya-Yazılım</vt:lpstr>
      <vt:lpstr>Analizden Sınıfa</vt:lpstr>
      <vt:lpstr>Tasarımdan Koda</vt:lpstr>
      <vt:lpstr>Nesne ve Sınıf Yapısı</vt:lpstr>
      <vt:lpstr>Kalıtım (Inheritance)</vt:lpstr>
      <vt:lpstr>Metod Aşırı Yükleme (Function Overloading)</vt:lpstr>
      <vt:lpstr>PowerPoint Presentation</vt:lpstr>
      <vt:lpstr>Arayüzler (Interfaces)</vt:lpstr>
      <vt:lpstr>Kapsülleme (Encapsulation)</vt:lpstr>
      <vt:lpstr>Çok Biçimlilik (Polymorphism)</vt:lpstr>
      <vt:lpstr>Soyut Sınıflar (Abstract Classes)</vt:lpstr>
      <vt:lpstr>Statik (Static) Kavramı</vt:lpstr>
      <vt:lpstr>Statik (Static) Kavramı</vt:lpstr>
      <vt:lpstr>"Static Class" Gibi Davranan Sınıflar</vt:lpstr>
      <vt:lpstr>Statik (Static) Kavramı</vt:lpstr>
      <vt:lpstr>Metod Ezme (Method Overriding)</vt:lpstr>
      <vt:lpstr>Override Kuralları (Kritik Notlar)</vt:lpstr>
      <vt:lpstr>‘super’ anahtar kelimesi</vt:lpstr>
      <vt:lpstr>‘super’ anahtar kelimesi</vt:lpstr>
      <vt:lpstr>‘super’ anahtar kelimesi</vt:lpstr>
      <vt:lpstr>Tip Dönüşümleri (Type Casting)</vt:lpstr>
      <vt:lpstr>Referans (Nesne) Tip Dönüşümleri</vt:lpstr>
      <vt:lpstr>Referans (Nesne) Tip Dönüşümleri</vt:lpstr>
      <vt:lpstr>Tehlikeyi Önlemek: instanceof Operatörü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Sümeyye Kaynak</dc:creator>
  <cp:lastModifiedBy>Sümeyye Kaynak</cp:lastModifiedBy>
  <cp:revision>44</cp:revision>
  <dcterms:created xsi:type="dcterms:W3CDTF">2026-02-04T11:27:37Z</dcterms:created>
  <dcterms:modified xsi:type="dcterms:W3CDTF">2026-02-20T09:06:46Z</dcterms:modified>
</cp:coreProperties>
</file>
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t" initials="A" lastIdx="3" clrIdx="0">
    <p:extLst>
      <p:ext uri="{19B8F6BF-5375-455C-9EA6-DF929625EA0E}">
        <p15:presenceInfo xmlns:p15="http://schemas.microsoft.com/office/powerpoint/2012/main" userId="Ahm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89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1" d="100"/>
          <a:sy n="81" d="100"/>
        </p:scale>
        <p:origin x="67" y="1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96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-2176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6160C-4172-4CF6-B219-9A474A693A0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9EE3C-D850-48A7-88E0-5727FD835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2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9EE3C-D850-48A7-88E0-5727FD8355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9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1422400"/>
            <a:ext cx="12196233" cy="5435600"/>
            <a:chOff x="0" y="896"/>
            <a:chExt cx="5762" cy="3424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4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9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0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0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1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2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4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6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7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8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9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4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6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8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0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1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2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3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4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5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6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7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8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0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2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3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4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5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6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7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8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9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0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1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2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3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4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5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6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7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8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9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0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1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2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3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4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5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6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7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8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9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0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1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2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7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8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9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0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1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2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3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4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6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7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8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7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8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 h 154"/>
                  <a:gd name="T2" fmla="*/ 0 w 144"/>
                  <a:gd name="T3" fmla="*/ 1 h 154"/>
                  <a:gd name="T4" fmla="*/ 1 w 144"/>
                  <a:gd name="T5" fmla="*/ 1 h 154"/>
                  <a:gd name="T6" fmla="*/ 0 w 144"/>
                  <a:gd name="T7" fmla="*/ 0 h 154"/>
                  <a:gd name="T8" fmla="*/ 1 w 144"/>
                  <a:gd name="T9" fmla="*/ 0 h 154"/>
                  <a:gd name="T10" fmla="*/ 1 w 144"/>
                  <a:gd name="T11" fmla="*/ 0 h 154"/>
                  <a:gd name="T12" fmla="*/ 1 w 144"/>
                  <a:gd name="T13" fmla="*/ 0 h 154"/>
                  <a:gd name="T14" fmla="*/ 1 w 144"/>
                  <a:gd name="T15" fmla="*/ 0 h 154"/>
                  <a:gd name="T16" fmla="*/ 0 w 144"/>
                  <a:gd name="T17" fmla="*/ 0 h 154"/>
                  <a:gd name="T18" fmla="*/ 1 w 144"/>
                  <a:gd name="T19" fmla="*/ 1 h 154"/>
                  <a:gd name="T20" fmla="*/ 0 w 144"/>
                  <a:gd name="T21" fmla="*/ 1 h 154"/>
                  <a:gd name="T22" fmla="*/ 0 w 144"/>
                  <a:gd name="T23" fmla="*/ 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  <p:sp>
            <p:nvSpPr>
              <p:cNvPr id="141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99481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76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9482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155" name="Rectangle 155"/>
          <p:cNvSpPr>
            <a:spLocks noGrp="1" noChangeArrowheads="1"/>
          </p:cNvSpPr>
          <p:nvPr>
            <p:ph type="dt" sz="quarter" idx="10"/>
          </p:nvPr>
        </p:nvSpPr>
        <p:spPr>
          <a:xfrm>
            <a:off x="406400" y="6248400"/>
            <a:ext cx="3048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E411A031-0B37-4DB3-A715-49D83F648870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156" name="Rectangle 15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157" name="Rectangle 15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3048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A2B160-4745-406D-88E7-CD9F33CECEE1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432443"/>
      </p:ext>
    </p:extLst>
  </p:cSld>
  <p:clrMapOvr>
    <a:masterClrMapping/>
  </p:clrMapOvr>
  <p:transition spd="med" advClick="0" advTm="1000"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3A151-EC64-4027-9AB7-70655E41D8F9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9CBB0-09FD-4FB3-A512-12DBE7913E78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889015"/>
      </p:ext>
    </p:extLst>
  </p:cSld>
  <p:clrMapOvr>
    <a:masterClrMapping/>
  </p:clrMapOvr>
  <p:transition spd="med" advClick="0" advTm="1000"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73915-0362-4A00-BDC4-113254B8625B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27849-D356-47DC-B53B-3DEA1B255C1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074129"/>
      </p:ext>
    </p:extLst>
  </p:cSld>
  <p:clrMapOvr>
    <a:masterClrMapping/>
  </p:clrMapOvr>
  <p:transition spd="med" advClick="0" advTm="1000"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79BE8-A69C-48FA-9C35-8506EA76902C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1F090-CA47-4FA3-B099-78D64967F773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40787"/>
      </p:ext>
    </p:extLst>
  </p:cSld>
  <p:clrMapOvr>
    <a:masterClrMapping/>
  </p:clrMapOvr>
  <p:transition spd="med" advClick="0" advTm="1000"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08506-8551-4229-B153-BDA63C4B6913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9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BB206-C8F8-41F1-9F41-E74E253E648F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659486"/>
      </p:ext>
    </p:extLst>
  </p:cSld>
  <p:clrMapOvr>
    <a:masterClrMapping/>
  </p:clrMapOvr>
  <p:transition spd="med" advClick="0" advTm="1000"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AFDA4-A380-49F4-BB0F-FAC67E1C7D43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EAA5E-98A3-43EF-97FF-CAD613BD76C1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727661"/>
      </p:ext>
    </p:extLst>
  </p:cSld>
  <p:clrMapOvr>
    <a:masterClrMapping/>
  </p:clrMapOvr>
  <p:transition spd="med" advClick="0" advTm="1000"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D1CB8-63DB-4FCE-BE81-179D70A48255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684903"/>
      </p:ext>
    </p:extLst>
  </p:cSld>
  <p:clrMapOvr>
    <a:masterClrMapping/>
  </p:clrMapOvr>
  <p:transition spd="med" advClick="0" advTm="1000"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D8A3C-1762-428F-87A2-FEAAD0A8A98E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A2C9E-4E16-458E-A79B-F085F6517BFD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17575"/>
      </p:ext>
    </p:extLst>
  </p:cSld>
  <p:clrMapOvr>
    <a:masterClrMapping/>
  </p:clrMapOvr>
  <p:transition spd="med" advClick="0" advTm="1000"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C10D6-E0F5-464B-87E4-FCBAF152203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0C2AF-84FB-40D2-9400-4234F7687122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70497"/>
      </p:ext>
    </p:extLst>
  </p:cSld>
  <p:clrMapOvr>
    <a:masterClrMapping/>
  </p:clrMapOvr>
  <p:transition spd="med" advClick="0" advTm="1000"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6363-F4EC-4F54-9ED7-62A8B76784B5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ED1E7-7045-458D-BB61-5055ED74DE54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911791"/>
      </p:ext>
    </p:extLst>
  </p:cSld>
  <p:clrMapOvr>
    <a:masterClrMapping/>
  </p:clrMapOvr>
  <p:transition spd="med" advClick="0" advTm="1000"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8942918" y="228601"/>
            <a:ext cx="2846916" cy="587057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02167" y="228601"/>
            <a:ext cx="8337551" cy="587057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D35E1-9952-4B11-9E22-D6F2467EB5FD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D51FD-55D1-4047-B181-5F35DC412E0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465145"/>
      </p:ext>
    </p:extLst>
  </p:cSld>
  <p:clrMapOvr>
    <a:masterClrMapping/>
  </p:clrMapOvr>
  <p:transition spd="med" advClick="0" advTm="1000"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Başlık ve Tab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Tablo Yer Tutucusu"/>
          <p:cNvSpPr>
            <a:spLocks noGrp="1"/>
          </p:cNvSpPr>
          <p:nvPr>
            <p:ph type="tbl" idx="1"/>
          </p:nvPr>
        </p:nvSpPr>
        <p:spPr>
          <a:xfrm>
            <a:off x="402167" y="1600200"/>
            <a:ext cx="11387667" cy="4498975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0AE8D-8C85-4135-85B2-72324DDD044E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8EE4B-D01B-41D7-BAB1-9B6F9C7A9C2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14316"/>
      </p:ext>
    </p:extLst>
  </p:cSld>
  <p:clrMapOvr>
    <a:masterClrMapping/>
  </p:clrMapOvr>
  <p:transition spd="med" advClick="0" advTm="1000"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Başlık, Metin ve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Grafik Yer Tutucusu"/>
          <p:cNvSpPr>
            <a:spLocks noGrp="1"/>
          </p:cNvSpPr>
          <p:nvPr>
            <p:ph type="chart"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6EE1D-64B9-46CC-A882-5B9C9A942E9C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F7D1B-9F93-4071-8547-94C6DFF89CFE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09316"/>
      </p:ext>
    </p:extLst>
  </p:cSld>
  <p:clrMapOvr>
    <a:masterClrMapping/>
  </p:clrMapOvr>
  <p:transition spd="med" advClick="0" advTm="1000"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" y="1422400"/>
            <a:ext cx="12196233" cy="5435600"/>
            <a:chOff x="0" y="896"/>
            <a:chExt cx="5762" cy="3424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169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0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1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2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3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4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5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6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7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8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9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80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81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33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034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6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7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8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9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0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1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2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3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4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5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6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7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8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9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0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1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2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3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4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5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6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7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8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9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0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1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2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3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4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5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6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7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8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9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0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1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2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3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4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5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6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7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8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9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0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1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2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3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4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5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6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7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8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9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0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1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2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3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4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5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6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7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98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9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0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1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2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3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4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5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6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7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8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9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0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1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2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3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4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5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6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7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8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9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0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1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2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3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4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5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6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7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8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9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0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1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2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3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4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5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6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7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8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9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0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1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2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3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4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5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6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8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9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0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1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2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3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4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5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6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7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8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9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0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1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2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3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4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5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6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 h 154"/>
                  <a:gd name="T2" fmla="*/ 0 w 144"/>
                  <a:gd name="T3" fmla="*/ 1 h 154"/>
                  <a:gd name="T4" fmla="*/ 1 w 144"/>
                  <a:gd name="T5" fmla="*/ 1 h 154"/>
                  <a:gd name="T6" fmla="*/ 0 w 144"/>
                  <a:gd name="T7" fmla="*/ 0 h 154"/>
                  <a:gd name="T8" fmla="*/ 1 w 144"/>
                  <a:gd name="T9" fmla="*/ 0 h 154"/>
                  <a:gd name="T10" fmla="*/ 1 w 144"/>
                  <a:gd name="T11" fmla="*/ 0 h 154"/>
                  <a:gd name="T12" fmla="*/ 1 w 144"/>
                  <a:gd name="T13" fmla="*/ 0 h 154"/>
                  <a:gd name="T14" fmla="*/ 1 w 144"/>
                  <a:gd name="T15" fmla="*/ 0 h 154"/>
                  <a:gd name="T16" fmla="*/ 0 w 144"/>
                  <a:gd name="T17" fmla="*/ 0 h 154"/>
                  <a:gd name="T18" fmla="*/ 1 w 144"/>
                  <a:gd name="T19" fmla="*/ 1 h 154"/>
                  <a:gd name="T20" fmla="*/ 0 w 144"/>
                  <a:gd name="T21" fmla="*/ 1 h 154"/>
                  <a:gd name="T22" fmla="*/ 0 w 144"/>
                  <a:gd name="T23" fmla="*/ 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8455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  <p:sp>
            <p:nvSpPr>
              <p:cNvPr id="98456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98457" name="Rectangle 15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228600"/>
            <a:ext cx="113876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</a:p>
        </p:txBody>
      </p:sp>
      <p:sp>
        <p:nvSpPr>
          <p:cNvPr id="98458" name="Rectangle 15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solidFill>
                  <a:schemeClr val="tx1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CAE498-DD1D-415A-8C1C-35469E870CAF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98459" name="Rectangle 15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tx1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98460" name="Rectangle 15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CE1FA2-129A-4228-AD95-E0E7FC92CB3B}" type="slidenum">
              <a:rPr lang="tr-TR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tr-TR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8461" name="Rectangle 157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600200"/>
            <a:ext cx="11387667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8424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 advClick="0" advTm="1000">
    <p:split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Dikdörtgen"/>
          <p:cNvSpPr/>
          <p:nvPr/>
        </p:nvSpPr>
        <p:spPr>
          <a:xfrm>
            <a:off x="644769" y="2159880"/>
            <a:ext cx="10902462" cy="280692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Sakarya Üniversitesi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Bilgisayar ve Bilişim Bilimleri Fakültesi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Bilgisayar Mühendisliği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tr-TR" sz="2800" b="1" spc="50" dirty="0">
              <a:ln w="11430"/>
              <a:gradFill>
                <a:gsLst>
                  <a:gs pos="25000">
                    <a:srgbClr val="9383B3">
                      <a:satMod val="155000"/>
                    </a:srgbClr>
                  </a:gs>
                  <a:gs pos="100000">
                    <a:srgbClr val="9383B3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ahoma" pitchFamily="34" charset="0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Prof. Dr. Ümit Kocabıçak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Prof. Dr. Cemil Öz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13. HAFTA</a:t>
            </a:r>
          </a:p>
        </p:txBody>
      </p:sp>
      <p:sp>
        <p:nvSpPr>
          <p:cNvPr id="10" name="9 Dikdörtgen"/>
          <p:cNvSpPr/>
          <p:nvPr/>
        </p:nvSpPr>
        <p:spPr>
          <a:xfrm>
            <a:off x="1809720" y="335839"/>
            <a:ext cx="8572560" cy="158812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54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Nesneye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1356132548"/>
      </p:ext>
    </p:extLst>
  </p:cSld>
  <p:clrMapOvr>
    <a:masterClrMapping/>
  </p:clrMapOvr>
  <p:transition spd="med" advClick="0" advTm="1000"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13A151-EC64-4027-9AB7-70655E41D8F9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628356" y="355439"/>
            <a:ext cx="10724271" cy="1707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tr-TR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Delegates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Delegate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holds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(s)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an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referred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a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safe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pointer</a:t>
            </a:r>
            <a:r>
              <a:rPr lang="tr-T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628356" y="2413338"/>
            <a:ext cx="111614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Declaring the Delegate Type</a:t>
            </a:r>
            <a:endParaRPr lang="tr-TR" dirty="0"/>
          </a:p>
          <a:p>
            <a:endParaRPr lang="tr-TR" dirty="0"/>
          </a:p>
          <a:p>
            <a:r>
              <a:rPr lang="en-US" dirty="0"/>
              <a:t> Delegates are types, just as classes are types. And as with classes, a delegate type must be declared before you can use it to create variables and objects of the type. The following example code declares a delegate type.</a:t>
            </a:r>
          </a:p>
          <a:p>
            <a:r>
              <a:rPr lang="en-US" dirty="0"/>
              <a:t>• The delegate type declaration, as with all type declarations, does not need to be declared inside a class.</a:t>
            </a:r>
          </a:p>
        </p:txBody>
      </p:sp>
    </p:spTree>
    <p:extLst>
      <p:ext uri="{BB962C8B-B14F-4D97-AF65-F5344CB8AC3E}">
        <p14:creationId xmlns:p14="http://schemas.microsoft.com/office/powerpoint/2010/main" val="3447323918"/>
      </p:ext>
    </p:extLst>
  </p:cSld>
  <p:clrMapOvr>
    <a:masterClrMapping/>
  </p:clrMapOvr>
  <p:transition spd="med" advClick="0" advTm="1000"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1336430" y="165834"/>
            <a:ext cx="10311619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using System;</a:t>
            </a:r>
          </a:p>
          <a:p>
            <a:r>
              <a:rPr lang="en-US" sz="1400" dirty="0"/>
              <a:t>using </a:t>
            </a:r>
            <a:r>
              <a:rPr lang="en-US" sz="1400" dirty="0" err="1"/>
              <a:t>System.Collections.Generic</a:t>
            </a:r>
            <a:r>
              <a:rPr lang="en-US" sz="1400" dirty="0"/>
              <a:t>;</a:t>
            </a:r>
          </a:p>
          <a:p>
            <a:r>
              <a:rPr lang="en-US" sz="1400" dirty="0"/>
              <a:t>using </a:t>
            </a:r>
            <a:r>
              <a:rPr lang="en-US" sz="1400" dirty="0" err="1"/>
              <a:t>System.Linq</a:t>
            </a:r>
            <a:r>
              <a:rPr lang="en-US" sz="1400" dirty="0"/>
              <a:t>;</a:t>
            </a:r>
          </a:p>
          <a:p>
            <a:r>
              <a:rPr lang="en-US" sz="1400" dirty="0"/>
              <a:t>using </a:t>
            </a:r>
            <a:r>
              <a:rPr lang="en-US" sz="1400" dirty="0" err="1"/>
              <a:t>System.Text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dirty="0"/>
              <a:t>namespace </a:t>
            </a:r>
            <a:r>
              <a:rPr lang="en-US" sz="1400" dirty="0" err="1"/>
              <a:t>delege</a:t>
            </a:r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public delegate void </a:t>
            </a:r>
            <a:r>
              <a:rPr lang="en-US" sz="1400" dirty="0" err="1"/>
              <a:t>fonkdelegate</a:t>
            </a:r>
            <a:r>
              <a:rPr lang="en-US" sz="1400" dirty="0"/>
              <a:t>(string </a:t>
            </a:r>
            <a:r>
              <a:rPr lang="en-US" sz="1400" dirty="0" err="1"/>
              <a:t>mesaj</a:t>
            </a:r>
            <a:r>
              <a:rPr lang="en-US" sz="1400" dirty="0"/>
              <a:t>);</a:t>
            </a:r>
          </a:p>
          <a:p>
            <a:r>
              <a:rPr lang="en-US" sz="1400" dirty="0"/>
              <a:t>    class Program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r>
              <a:rPr lang="en-US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fonkdelegate</a:t>
            </a:r>
            <a:r>
              <a:rPr lang="en-US" sz="1400" dirty="0"/>
              <a:t> del = new </a:t>
            </a:r>
            <a:r>
              <a:rPr lang="en-US" sz="1400" dirty="0" err="1"/>
              <a:t>fonkdelegate</a:t>
            </a:r>
            <a:r>
              <a:rPr lang="en-US" sz="1400" dirty="0"/>
              <a:t>(</a:t>
            </a:r>
            <a:r>
              <a:rPr lang="en-US" sz="1400" dirty="0" err="1"/>
              <a:t>Selamlama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del("</a:t>
            </a:r>
            <a:r>
              <a:rPr lang="en-US" sz="1400" dirty="0" err="1"/>
              <a:t>Merhaba</a:t>
            </a:r>
            <a:r>
              <a:rPr lang="en-US" sz="1400" dirty="0"/>
              <a:t> Millet");</a:t>
            </a:r>
          </a:p>
          <a:p>
            <a:r>
              <a:rPr lang="en-US" sz="1400" dirty="0"/>
              <a:t>            del = new </a:t>
            </a:r>
            <a:r>
              <a:rPr lang="en-US" sz="1400" dirty="0" err="1"/>
              <a:t>fonkdelegate</a:t>
            </a:r>
            <a:r>
              <a:rPr lang="en-US" sz="1400" dirty="0"/>
              <a:t>(</a:t>
            </a:r>
            <a:r>
              <a:rPr lang="en-US" sz="1400" dirty="0" err="1"/>
              <a:t>SonSelamlama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del("</a:t>
            </a:r>
            <a:r>
              <a:rPr lang="en-US" sz="1400" dirty="0" err="1"/>
              <a:t>güle</a:t>
            </a:r>
            <a:r>
              <a:rPr lang="en-US" sz="1400" dirty="0"/>
              <a:t> </a:t>
            </a:r>
            <a:r>
              <a:rPr lang="en-US" sz="1400" dirty="0" err="1"/>
              <a:t>güle</a:t>
            </a:r>
            <a:r>
              <a:rPr lang="en-US" sz="1400" dirty="0"/>
              <a:t>");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  public static void </a:t>
            </a:r>
            <a:r>
              <a:rPr lang="en-US" sz="1400" dirty="0" err="1"/>
              <a:t>Selamlama</a:t>
            </a:r>
            <a:r>
              <a:rPr lang="en-US" sz="1400" dirty="0"/>
              <a:t>(string </a:t>
            </a:r>
            <a:r>
              <a:rPr lang="en-US" sz="1400" dirty="0" err="1"/>
              <a:t>selam</a:t>
            </a:r>
            <a:r>
              <a:rPr lang="en-US" sz="1400" dirty="0"/>
              <a:t>)</a:t>
            </a:r>
          </a:p>
          <a:p>
            <a:r>
              <a:rPr lang="en-US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</a:t>
            </a:r>
            <a:r>
              <a:rPr lang="en-US" sz="1400" dirty="0" err="1"/>
              <a:t>selam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Console.Read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  public static void </a:t>
            </a:r>
            <a:r>
              <a:rPr lang="en-US" sz="1400" dirty="0" err="1"/>
              <a:t>SonSelamlama</a:t>
            </a:r>
            <a:r>
              <a:rPr lang="en-US" sz="1400" dirty="0"/>
              <a:t>(string </a:t>
            </a:r>
            <a:r>
              <a:rPr lang="en-US" sz="1400" dirty="0" err="1"/>
              <a:t>selam</a:t>
            </a:r>
            <a:r>
              <a:rPr lang="en-US" sz="1400" dirty="0"/>
              <a:t>)</a:t>
            </a:r>
          </a:p>
          <a:p>
            <a:r>
              <a:rPr lang="en-US" sz="1400" dirty="0"/>
              <a:t>       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</a:t>
            </a:r>
            <a:r>
              <a:rPr lang="en-US" sz="1400" dirty="0" err="1"/>
              <a:t>selam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Console.Read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}</a:t>
            </a:r>
          </a:p>
          <a:p>
            <a:endParaRPr lang="en-US" sz="1400" dirty="0"/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432" y="643616"/>
            <a:ext cx="5518617" cy="215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77163"/>
      </p:ext>
    </p:extLst>
  </p:cSld>
  <p:clrMapOvr>
    <a:masterClrMapping/>
  </p:clrMapOvr>
  <p:transition spd="med" advClick="0" advTm="1000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1017564" y="228193"/>
            <a:ext cx="6030350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using System;</a:t>
            </a:r>
          </a:p>
          <a:p>
            <a:r>
              <a:rPr lang="en-US" sz="1100" dirty="0"/>
              <a:t>using </a:t>
            </a:r>
            <a:r>
              <a:rPr lang="en-US" sz="1100" dirty="0" err="1"/>
              <a:t>System.Collections.Generic</a:t>
            </a:r>
            <a:r>
              <a:rPr lang="en-US" sz="1100" dirty="0"/>
              <a:t>;</a:t>
            </a:r>
          </a:p>
          <a:p>
            <a:r>
              <a:rPr lang="en-US" sz="1100" dirty="0"/>
              <a:t>using </a:t>
            </a:r>
            <a:r>
              <a:rPr lang="en-US" sz="1100" dirty="0" err="1"/>
              <a:t>System.Linq</a:t>
            </a:r>
            <a:r>
              <a:rPr lang="en-US" sz="1100" dirty="0"/>
              <a:t>;</a:t>
            </a:r>
          </a:p>
          <a:p>
            <a:r>
              <a:rPr lang="en-US" sz="1100" dirty="0"/>
              <a:t>using </a:t>
            </a:r>
            <a:r>
              <a:rPr lang="en-US" sz="1100" dirty="0" err="1"/>
              <a:t>System.Text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namespace </a:t>
            </a:r>
            <a:r>
              <a:rPr lang="en-US" sz="1100" dirty="0" err="1"/>
              <a:t>delege</a:t>
            </a:r>
            <a:endParaRPr lang="en-US" sz="1100" dirty="0"/>
          </a:p>
          <a:p>
            <a:r>
              <a:rPr lang="en-US" sz="1100" dirty="0"/>
              <a:t>{</a:t>
            </a:r>
          </a:p>
          <a:p>
            <a:r>
              <a:rPr lang="en-US" sz="1100" dirty="0"/>
              <a:t>    public delegate </a:t>
            </a:r>
            <a:r>
              <a:rPr lang="en-US" sz="1100" dirty="0" err="1"/>
              <a:t>int</a:t>
            </a:r>
            <a:r>
              <a:rPr lang="en-US" sz="1100" dirty="0"/>
              <a:t> </a:t>
            </a:r>
            <a:r>
              <a:rPr lang="en-US" sz="1100" dirty="0" err="1"/>
              <a:t>DortIslem</a:t>
            </a:r>
            <a:r>
              <a:rPr lang="en-US" sz="1100" dirty="0"/>
              <a:t>(</a:t>
            </a:r>
            <a:r>
              <a:rPr lang="en-US" sz="1100" dirty="0" err="1"/>
              <a:t>int</a:t>
            </a:r>
            <a:r>
              <a:rPr lang="en-US" sz="1100" dirty="0"/>
              <a:t> a, </a:t>
            </a:r>
            <a:r>
              <a:rPr lang="en-US" sz="1100" dirty="0" err="1"/>
              <a:t>int</a:t>
            </a:r>
            <a:r>
              <a:rPr lang="en-US" sz="1100" dirty="0"/>
              <a:t> b);</a:t>
            </a:r>
          </a:p>
          <a:p>
            <a:r>
              <a:rPr lang="en-US" sz="1100" dirty="0"/>
              <a:t>    class Program</a:t>
            </a:r>
          </a:p>
          <a:p>
            <a:r>
              <a:rPr lang="en-US" sz="1100" dirty="0"/>
              <a:t>    {</a:t>
            </a:r>
          </a:p>
          <a:p>
            <a:r>
              <a:rPr lang="en-US" sz="1100" dirty="0"/>
              <a:t>        static void Main(string[] </a:t>
            </a:r>
            <a:r>
              <a:rPr lang="en-US" sz="1100" dirty="0" err="1"/>
              <a:t>args</a:t>
            </a:r>
            <a:r>
              <a:rPr lang="en-US" sz="1100" dirty="0"/>
              <a:t>)</a:t>
            </a:r>
          </a:p>
          <a:p>
            <a:r>
              <a:rPr lang="en-US" sz="1100" dirty="0"/>
              <a:t>        {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int</a:t>
            </a:r>
            <a:r>
              <a:rPr lang="en-US" sz="1100" dirty="0"/>
              <a:t> </a:t>
            </a:r>
            <a:r>
              <a:rPr lang="en-US" sz="1100" dirty="0" err="1"/>
              <a:t>sonuc</a:t>
            </a:r>
            <a:r>
              <a:rPr lang="en-US" sz="1100" dirty="0"/>
              <a:t>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DortIslem</a:t>
            </a:r>
            <a:r>
              <a:rPr lang="en-US" sz="1100" dirty="0"/>
              <a:t> </a:t>
            </a:r>
            <a:r>
              <a:rPr lang="en-US" sz="1100" dirty="0" err="1"/>
              <a:t>Islem</a:t>
            </a:r>
            <a:r>
              <a:rPr lang="en-US" sz="1100" dirty="0"/>
              <a:t> = new </a:t>
            </a:r>
            <a:r>
              <a:rPr lang="en-US" sz="1100" dirty="0" err="1"/>
              <a:t>DortIslem</a:t>
            </a:r>
            <a:r>
              <a:rPr lang="en-US" sz="1100" dirty="0"/>
              <a:t>(</a:t>
            </a:r>
            <a:r>
              <a:rPr lang="en-US" sz="1100" dirty="0" err="1"/>
              <a:t>toplama</a:t>
            </a:r>
            <a:r>
              <a:rPr lang="en-US" sz="1100" dirty="0"/>
              <a:t>);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sonuc</a:t>
            </a:r>
            <a:r>
              <a:rPr lang="en-US" sz="1100" dirty="0"/>
              <a:t>=</a:t>
            </a:r>
            <a:r>
              <a:rPr lang="en-US" sz="1100" dirty="0" err="1"/>
              <a:t>Islem</a:t>
            </a:r>
            <a:r>
              <a:rPr lang="en-US" sz="1100" dirty="0"/>
              <a:t>(10,20);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Console.WriteLine</a:t>
            </a:r>
            <a:r>
              <a:rPr lang="en-US" sz="1100" dirty="0"/>
              <a:t>(" </a:t>
            </a:r>
            <a:r>
              <a:rPr lang="en-US" sz="1100" dirty="0" err="1"/>
              <a:t>Toplam</a:t>
            </a:r>
            <a:r>
              <a:rPr lang="en-US" sz="1100" dirty="0"/>
              <a:t> = " + </a:t>
            </a:r>
            <a:r>
              <a:rPr lang="en-US" sz="1100" dirty="0" err="1"/>
              <a:t>sonuc</a:t>
            </a:r>
            <a:r>
              <a:rPr lang="en-US" sz="1100" dirty="0"/>
              <a:t>);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Islem</a:t>
            </a:r>
            <a:r>
              <a:rPr lang="en-US" sz="1100" dirty="0"/>
              <a:t>= new </a:t>
            </a:r>
            <a:r>
              <a:rPr lang="en-US" sz="1100" dirty="0" err="1"/>
              <a:t>DortIslem</a:t>
            </a:r>
            <a:r>
              <a:rPr lang="en-US" sz="1100" dirty="0"/>
              <a:t>(</a:t>
            </a:r>
            <a:r>
              <a:rPr lang="en-US" sz="1100" dirty="0" err="1"/>
              <a:t>carpma</a:t>
            </a:r>
            <a:r>
              <a:rPr lang="en-US" sz="1100" dirty="0"/>
              <a:t>);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sonuc</a:t>
            </a:r>
            <a:r>
              <a:rPr lang="en-US" sz="1100" dirty="0"/>
              <a:t> = </a:t>
            </a:r>
            <a:r>
              <a:rPr lang="en-US" sz="1100" dirty="0" err="1"/>
              <a:t>Islem</a:t>
            </a:r>
            <a:r>
              <a:rPr lang="en-US" sz="1100" dirty="0"/>
              <a:t>(10, 20);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Console.WriteLine</a:t>
            </a:r>
            <a:r>
              <a:rPr lang="en-US" sz="1100" dirty="0"/>
              <a:t>(" </a:t>
            </a:r>
            <a:r>
              <a:rPr lang="en-US" sz="1100" dirty="0" err="1"/>
              <a:t>Çarpım</a:t>
            </a:r>
            <a:r>
              <a:rPr lang="en-US" sz="1100" dirty="0"/>
              <a:t> = " + </a:t>
            </a:r>
            <a:r>
              <a:rPr lang="en-US" sz="1100" dirty="0" err="1"/>
              <a:t>sonuc</a:t>
            </a:r>
            <a:r>
              <a:rPr lang="en-US" sz="1100" dirty="0"/>
              <a:t>);</a:t>
            </a:r>
          </a:p>
          <a:p>
            <a:r>
              <a:rPr lang="en-US" sz="1100" dirty="0"/>
              <a:t>                  </a:t>
            </a:r>
          </a:p>
          <a:p>
            <a:r>
              <a:rPr lang="en-US" sz="1100" dirty="0"/>
              <a:t>            </a:t>
            </a:r>
            <a:r>
              <a:rPr lang="en-US" sz="1100" dirty="0" err="1"/>
              <a:t>Console.Read</a:t>
            </a:r>
            <a:r>
              <a:rPr lang="en-US" sz="1100" dirty="0"/>
              <a:t>();</a:t>
            </a:r>
          </a:p>
          <a:p>
            <a:r>
              <a:rPr lang="en-US" sz="1100" dirty="0"/>
              <a:t>        }</a:t>
            </a:r>
          </a:p>
          <a:p>
            <a:r>
              <a:rPr lang="en-US" sz="1100" dirty="0"/>
              <a:t>        public static </a:t>
            </a:r>
            <a:r>
              <a:rPr lang="en-US" sz="1100" dirty="0" err="1"/>
              <a:t>int</a:t>
            </a:r>
            <a:r>
              <a:rPr lang="en-US" sz="1100" dirty="0"/>
              <a:t> </a:t>
            </a:r>
            <a:r>
              <a:rPr lang="en-US" sz="1100" dirty="0" err="1"/>
              <a:t>toplama</a:t>
            </a:r>
            <a:r>
              <a:rPr lang="en-US" sz="1100" dirty="0"/>
              <a:t>(</a:t>
            </a:r>
            <a:r>
              <a:rPr lang="en-US" sz="1100" dirty="0" err="1"/>
              <a:t>int</a:t>
            </a:r>
            <a:r>
              <a:rPr lang="en-US" sz="1100" dirty="0"/>
              <a:t> </a:t>
            </a:r>
            <a:r>
              <a:rPr lang="en-US" sz="1100" dirty="0" err="1"/>
              <a:t>a,int</a:t>
            </a:r>
            <a:r>
              <a:rPr lang="en-US" sz="1100" dirty="0"/>
              <a:t> b)</a:t>
            </a:r>
          </a:p>
          <a:p>
            <a:r>
              <a:rPr lang="en-US" sz="1100" dirty="0"/>
              <a:t>        {</a:t>
            </a:r>
          </a:p>
          <a:p>
            <a:r>
              <a:rPr lang="en-US" sz="1100" dirty="0"/>
              <a:t>            return a + b;</a:t>
            </a:r>
          </a:p>
          <a:p>
            <a:r>
              <a:rPr lang="en-US" sz="1100" dirty="0"/>
              <a:t>            </a:t>
            </a:r>
          </a:p>
          <a:p>
            <a:r>
              <a:rPr lang="en-US" sz="1100" dirty="0"/>
              <a:t>        }</a:t>
            </a:r>
          </a:p>
          <a:p>
            <a:r>
              <a:rPr lang="en-US" sz="1100" dirty="0"/>
              <a:t>        public static </a:t>
            </a:r>
            <a:r>
              <a:rPr lang="en-US" sz="1100" dirty="0" err="1"/>
              <a:t>int</a:t>
            </a:r>
            <a:r>
              <a:rPr lang="en-US" sz="1100" dirty="0"/>
              <a:t> </a:t>
            </a:r>
            <a:r>
              <a:rPr lang="en-US" sz="1100" dirty="0" err="1"/>
              <a:t>carpma</a:t>
            </a:r>
            <a:r>
              <a:rPr lang="en-US" sz="1100" dirty="0"/>
              <a:t>(</a:t>
            </a:r>
            <a:r>
              <a:rPr lang="en-US" sz="1100" dirty="0" err="1"/>
              <a:t>int</a:t>
            </a:r>
            <a:r>
              <a:rPr lang="en-US" sz="1100" dirty="0"/>
              <a:t> a, </a:t>
            </a:r>
            <a:r>
              <a:rPr lang="en-US" sz="1100" dirty="0" err="1"/>
              <a:t>int</a:t>
            </a:r>
            <a:r>
              <a:rPr lang="en-US" sz="1100" dirty="0"/>
              <a:t> b)</a:t>
            </a:r>
          </a:p>
          <a:p>
            <a:r>
              <a:rPr lang="en-US" sz="1100" dirty="0"/>
              <a:t>        {</a:t>
            </a:r>
          </a:p>
          <a:p>
            <a:r>
              <a:rPr lang="en-US" sz="1100" dirty="0"/>
              <a:t>            return a*b;</a:t>
            </a:r>
          </a:p>
          <a:p>
            <a:r>
              <a:rPr lang="en-US" sz="1100" dirty="0"/>
              <a:t>           </a:t>
            </a:r>
          </a:p>
          <a:p>
            <a:r>
              <a:rPr lang="en-US" sz="1100" dirty="0"/>
              <a:t>        }</a:t>
            </a:r>
          </a:p>
          <a:p>
            <a:endParaRPr lang="en-US" sz="1100" dirty="0"/>
          </a:p>
          <a:p>
            <a:r>
              <a:rPr lang="en-US" sz="1100" dirty="0"/>
              <a:t>    }</a:t>
            </a:r>
          </a:p>
          <a:p>
            <a:r>
              <a:rPr lang="en-US" sz="1100" dirty="0"/>
              <a:t>}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847" y="1197324"/>
            <a:ext cx="5033385" cy="223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80580"/>
      </p:ext>
    </p:extLst>
  </p:cSld>
  <p:clrMapOvr>
    <a:masterClrMapping/>
  </p:clrMapOvr>
  <p:transition spd="med" advClick="0" advTm="1000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BC1DF108-AB57-4AB6-A96D-D023968804A8}"/>
              </a:ext>
            </a:extLst>
          </p:cNvPr>
          <p:cNvSpPr/>
          <p:nvPr/>
        </p:nvSpPr>
        <p:spPr>
          <a:xfrm>
            <a:off x="648071" y="-5417"/>
            <a:ext cx="5447930" cy="68634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delegeatesOrnek2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DortIslem</a:t>
            </a:r>
            <a:endParaRPr lang="tr-TR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delegate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FonkIsaret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b);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FonkIsaret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pointoOku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FonkIsaret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== 1)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 Topla;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== 2)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Cikarma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== 3)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Carpma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== 4)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Bolme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nesneisaretcisi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Topla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Cikarma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 - b;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Carpma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 * b;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Bolme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(b != 0)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a / b;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tr-TR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tr-TR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11811F2-A105-4CBB-B164-E4457E1BC632}"/>
              </a:ext>
            </a:extLst>
          </p:cNvPr>
          <p:cNvSpPr/>
          <p:nvPr/>
        </p:nvSpPr>
        <p:spPr>
          <a:xfrm>
            <a:off x="4678532" y="2333439"/>
            <a:ext cx="7430610" cy="267765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DortIslem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nesne1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DortIslem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Toplama :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nesne1.pointoOku(1).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Invoke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(10, 10));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Çıkarma :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nesne1.pointoOku(2).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Invoke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(10, 10));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Çarpma  :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nesne1.pointoOku(3).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Invoke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(10, 10));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Bölme   :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nesne1.pointoOku(4).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Invoke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(10, 10));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2043779469"/>
      </p:ext>
    </p:extLst>
  </p:cSld>
  <p:clrMapOvr>
    <a:masterClrMapping/>
  </p:clrMapOvr>
  <p:transition spd="med" advClick="0" advTm="1000"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6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36" y="564278"/>
            <a:ext cx="4503243" cy="180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79201"/>
      </p:ext>
    </p:extLst>
  </p:cSld>
  <p:clrMapOvr>
    <a:masterClrMapping/>
  </p:clrMapOvr>
  <p:transition spd="med" advClick="0" advTm="1000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D16E746-7DF7-46C4-BFA7-B5704EB7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3309D4B-491C-45C4-9B4F-0EA2C54F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7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E043E7D-CDF9-4E99-89DC-D05083CA2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779" b="62194"/>
          <a:stretch/>
        </p:blipFill>
        <p:spPr>
          <a:xfrm>
            <a:off x="6927574" y="136524"/>
            <a:ext cx="4164495" cy="2427771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4E5B71CD-3F0B-4616-8036-44D5EFBDED5F}"/>
              </a:ext>
            </a:extLst>
          </p:cNvPr>
          <p:cNvSpPr/>
          <p:nvPr/>
        </p:nvSpPr>
        <p:spPr>
          <a:xfrm>
            <a:off x="255105" y="136525"/>
            <a:ext cx="6096000" cy="3970318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delegatesornek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methoda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methodb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937C31F-9508-42EA-982B-4379CBCFCDC3}"/>
              </a:ext>
            </a:extLst>
          </p:cNvPr>
          <p:cNvSpPr/>
          <p:nvPr/>
        </p:nvSpPr>
        <p:spPr>
          <a:xfrm>
            <a:off x="1474212" y="3749457"/>
            <a:ext cx="8789505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delegate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MyDelegate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s); 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declare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delegate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n-NO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MyDelegate del = </a:t>
            </a:r>
            <a:r>
              <a:rPr lang="nn-NO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n-NO" sz="1400" dirty="0">
                <a:solidFill>
                  <a:srgbClr val="000000"/>
                </a:solidFill>
                <a:latin typeface="Consolas" panose="020B0609020204030204" pitchFamily="49" charset="0"/>
              </a:rPr>
              <a:t> MyDelegate(A.methoda);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or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MyDelegate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 del = 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a.methoda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;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del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B.methodb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77635751"/>
      </p:ext>
    </p:extLst>
  </p:cSld>
  <p:clrMapOvr>
    <a:masterClrMapping/>
  </p:clrMapOvr>
  <p:transition spd="med" advClick="0" advTm="1000"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4665241-36FF-468C-AC99-2700B2E2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0136CB0-9E53-4010-85E4-21D2E1DC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8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29D1FE6-DFE0-4872-B25E-AEEEFDF0BBD8}"/>
              </a:ext>
            </a:extLst>
          </p:cNvPr>
          <p:cNvSpPr/>
          <p:nvPr/>
        </p:nvSpPr>
        <p:spPr>
          <a:xfrm>
            <a:off x="402165" y="136525"/>
            <a:ext cx="7867191" cy="64940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delegatesornek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methoda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methoda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methodb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methodb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delegate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 err="1">
                <a:solidFill>
                  <a:srgbClr val="2B91AF"/>
                </a:solidFill>
                <a:latin typeface="Consolas" panose="020B0609020204030204" pitchFamily="49" charset="0"/>
              </a:rPr>
              <a:t>MyDelegate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s); 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tr-TR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declare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tr-TR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delegate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 a1 =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A();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 b1 =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B();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MyDelegate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del = </a:t>
            </a:r>
            <a:r>
              <a:rPr lang="tr-TR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MyDelegate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(a1.methoda);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tr-TR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or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tr-TR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MyDelegate</a:t>
            </a:r>
            <a:r>
              <a:rPr lang="tr-TR" sz="1300" dirty="0">
                <a:solidFill>
                  <a:srgbClr val="008000"/>
                </a:solidFill>
                <a:latin typeface="Consolas" panose="020B0609020204030204" pitchFamily="49" charset="0"/>
              </a:rPr>
              <a:t> del = a1.methoda;</a:t>
            </a: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del = b1.methodb;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3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A1C4149-36D1-4909-8BF5-3E64455EF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626" y="227390"/>
            <a:ext cx="3628890" cy="270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06918"/>
      </p:ext>
    </p:extLst>
  </p:cSld>
  <p:clrMapOvr>
    <a:masterClrMapping/>
  </p:clrMapOvr>
  <p:transition spd="med" advClick="0" advTm="1000"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6F88EAB-8AA4-4457-9D1A-FFEE17D5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91FE099-3945-4F1E-9E6C-766E27A6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4B02642-6F77-48EC-AE48-310A636DCF04}"/>
              </a:ext>
            </a:extLst>
          </p:cNvPr>
          <p:cNvSpPr/>
          <p:nvPr/>
        </p:nvSpPr>
        <p:spPr>
          <a:xfrm>
            <a:off x="1426588" y="0"/>
            <a:ext cx="6812438" cy="69249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delegeatesOrnek2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methoda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2B91AF"/>
                </a:solidFill>
                <a:latin typeface="Consolas" panose="020B0609020204030204" pitchFamily="49" charset="0"/>
              </a:rPr>
              <a:t>B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methodb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tr-TR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methodb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delegate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MyDelegate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s); 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tr-T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declare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tr-T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delegate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 a1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A();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 b1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B();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MyDelegate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del1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MyDelegate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(a1.methoda);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(del1(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nn-NO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MyDelegate del2 = </a:t>
            </a:r>
            <a:r>
              <a:rPr lang="nn-NO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n-NO" sz="1200" dirty="0">
                <a:solidFill>
                  <a:srgbClr val="000000"/>
                </a:solidFill>
                <a:latin typeface="Consolas" panose="020B0609020204030204" pitchFamily="49" charset="0"/>
              </a:rPr>
              <a:t> MyDelegate(b1.methodb);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(del2(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çağrıldı"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MyDelegate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del = del1 + del2;          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birleşim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del += del1;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(del(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 birleşimler 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548439064"/>
      </p:ext>
    </p:extLst>
  </p:cSld>
  <p:clrMapOvr>
    <a:masterClrMapping/>
  </p:clrMapOvr>
  <p:transition spd="med" advClick="0" advTm="1000"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10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259" y="300903"/>
            <a:ext cx="4600575" cy="3152775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0" y="2760069"/>
            <a:ext cx="78693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=0.0;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(checkBox1.Checked)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(textBox1.Text) * 2.0;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(checkBox2.Checked)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(textBox2.Text) * 3.0;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(checkBox3.Checked)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(textBox3.Text) * 5.0;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tutar.ToString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60851"/>
      </p:ext>
    </p:extLst>
  </p:cSld>
  <p:clrMapOvr>
    <a:masterClrMapping/>
  </p:clrMapOvr>
  <p:transition spd="med" advClick="0" advTm="1000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11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66" y="0"/>
            <a:ext cx="4600575" cy="3152775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402167" y="3152775"/>
            <a:ext cx="86590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(checkBox1.Checked)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(textBox1.Text) * 2.0;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(checkBox2.Checked)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(textBox2.Text) * 3.0;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(checkBox3.Checked)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(textBox3.Text) * 5.0;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tutar.ToString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41940"/>
      </p:ext>
    </p:extLst>
  </p:cSld>
  <p:clrMapOvr>
    <a:masterClrMapping/>
  </p:clrMapOvr>
  <p:transition spd="med" advClick="0" advTm="1000"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12.07.2020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12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36" y="149590"/>
            <a:ext cx="7329056" cy="4997373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4142509" y="535166"/>
            <a:ext cx="8506691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button3_Click(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0.0;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(checkBox1.Checked)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cay=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(textBox1.Text) * 2.0;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(checkBox2.Checked)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simit=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(textBox2.Text) * 3.0;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(checkBox3.Checked)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kahve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(textBox3.Text) * 5.0;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simit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kahve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cayci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label1.Text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tutar.ToString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68749"/>
      </p:ext>
    </p:extLst>
  </p:cSld>
  <p:clrMapOvr>
    <a:masterClrMapping/>
  </p:clrMapOvr>
  <p:transition spd="med" advClick="0" advTm="1000">
    <p:split/>
  </p:transition>
</p:sld>
</file>

<file path=ppt/theme/theme1.xml><?xml version="1.0" encoding="utf-8"?>
<a:theme xmlns:a="http://schemas.openxmlformats.org/drawingml/2006/main" name="Compass">
  <a:themeElements>
    <a:clrScheme name="Compas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mpas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as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84927</TotalTime>
  <Words>1506</Words>
  <Application>Microsoft Office PowerPoint</Application>
  <PresentationFormat>Geniş ekran</PresentationFormat>
  <Paragraphs>293</Paragraphs>
  <Slides>12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Tahoma</vt:lpstr>
      <vt:lpstr>Times New Roman</vt:lpstr>
      <vt:lpstr>Wingdings</vt:lpstr>
      <vt:lpstr>Compass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Sakarya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Ahmet</dc:creator>
  <cp:lastModifiedBy>cemil oz</cp:lastModifiedBy>
  <cp:revision>461</cp:revision>
  <dcterms:created xsi:type="dcterms:W3CDTF">2016-02-10T09:35:02Z</dcterms:created>
  <dcterms:modified xsi:type="dcterms:W3CDTF">2020-07-14T21:40:54Z</dcterms:modified>
</cp:coreProperties>
</file>
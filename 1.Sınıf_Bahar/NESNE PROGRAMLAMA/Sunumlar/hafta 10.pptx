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57" r:id="rId2"/>
    <p:sldId id="259" r:id="rId3"/>
    <p:sldId id="289" r:id="rId4"/>
    <p:sldId id="301" r:id="rId5"/>
    <p:sldId id="300" r:id="rId6"/>
    <p:sldId id="307" r:id="rId7"/>
    <p:sldId id="299" r:id="rId8"/>
    <p:sldId id="309" r:id="rId9"/>
    <p:sldId id="310" r:id="rId10"/>
    <p:sldId id="302" r:id="rId11"/>
    <p:sldId id="308" r:id="rId12"/>
    <p:sldId id="303" r:id="rId13"/>
    <p:sldId id="304" r:id="rId14"/>
    <p:sldId id="305" r:id="rId15"/>
    <p:sldId id="306" r:id="rId16"/>
    <p:sldId id="311" r:id="rId17"/>
    <p:sldId id="313" r:id="rId18"/>
    <p:sldId id="312" r:id="rId19"/>
    <p:sldId id="314" r:id="rId20"/>
    <p:sldId id="315" r:id="rId21"/>
    <p:sldId id="318" r:id="rId22"/>
    <p:sldId id="316" r:id="rId23"/>
    <p:sldId id="317" r:id="rId24"/>
    <p:sldId id="319" r:id="rId25"/>
    <p:sldId id="298" r:id="rId2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t" initials="A" lastIdx="3" clrIdx="0">
    <p:extLst>
      <p:ext uri="{19B8F6BF-5375-455C-9EA6-DF929625EA0E}">
        <p15:presenceInfo xmlns:p15="http://schemas.microsoft.com/office/powerpoint/2012/main" userId="Ahm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89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94660" autoAdjust="0"/>
  </p:normalViewPr>
  <p:slideViewPr>
    <p:cSldViewPr snapToGrid="0">
      <p:cViewPr varScale="1">
        <p:scale>
          <a:sx n="67" d="100"/>
          <a:sy n="67" d="100"/>
        </p:scale>
        <p:origin x="6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96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-2176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6160C-4172-4CF6-B219-9A474A693A05}" type="datetimeFigureOut">
              <a:rPr lang="en-US" smtClean="0"/>
              <a:t>4/22/2019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9EE3C-D850-48A7-88E0-5727FD835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2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69EE3C-D850-48A7-88E0-5727FD8355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9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1422400"/>
            <a:ext cx="12196233" cy="5435600"/>
            <a:chOff x="0" y="896"/>
            <a:chExt cx="5762" cy="3424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42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7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4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5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9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0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5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7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8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9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0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1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2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4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5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6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7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8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2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5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6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7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8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9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0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1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2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3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4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5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6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7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8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59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0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1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2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3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4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5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6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7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8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69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0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1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2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3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4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5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6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7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8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79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0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1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2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3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4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5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6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7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8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9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0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1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2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3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4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5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6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7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8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99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0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1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2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6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7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8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9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0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1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2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3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4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5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6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27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8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2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4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7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38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 h 154"/>
                  <a:gd name="T2" fmla="*/ 0 w 144"/>
                  <a:gd name="T3" fmla="*/ 1 h 154"/>
                  <a:gd name="T4" fmla="*/ 1 w 144"/>
                  <a:gd name="T5" fmla="*/ 1 h 154"/>
                  <a:gd name="T6" fmla="*/ 0 w 144"/>
                  <a:gd name="T7" fmla="*/ 0 h 154"/>
                  <a:gd name="T8" fmla="*/ 1 w 144"/>
                  <a:gd name="T9" fmla="*/ 0 h 154"/>
                  <a:gd name="T10" fmla="*/ 1 w 144"/>
                  <a:gd name="T11" fmla="*/ 0 h 154"/>
                  <a:gd name="T12" fmla="*/ 1 w 144"/>
                  <a:gd name="T13" fmla="*/ 0 h 154"/>
                  <a:gd name="T14" fmla="*/ 1 w 144"/>
                  <a:gd name="T15" fmla="*/ 0 h 154"/>
                  <a:gd name="T16" fmla="*/ 0 w 144"/>
                  <a:gd name="T17" fmla="*/ 0 h 154"/>
                  <a:gd name="T18" fmla="*/ 1 w 144"/>
                  <a:gd name="T19" fmla="*/ 1 h 154"/>
                  <a:gd name="T20" fmla="*/ 0 w 144"/>
                  <a:gd name="T21" fmla="*/ 1 h 154"/>
                  <a:gd name="T22" fmla="*/ 0 w 144"/>
                  <a:gd name="T23" fmla="*/ 1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  <p:sp>
            <p:nvSpPr>
              <p:cNvPr id="141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</p:grpSp>
      </p:grpSp>
      <p:sp>
        <p:nvSpPr>
          <p:cNvPr id="99481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76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99482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155" name="Rectangle 155"/>
          <p:cNvSpPr>
            <a:spLocks noGrp="1" noChangeArrowheads="1"/>
          </p:cNvSpPr>
          <p:nvPr>
            <p:ph type="dt" sz="quarter" idx="10"/>
          </p:nvPr>
        </p:nvSpPr>
        <p:spPr>
          <a:xfrm>
            <a:off x="406400" y="6248400"/>
            <a:ext cx="3048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E411A031-0B37-4DB3-A715-49D83F648870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156" name="Rectangle 15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157" name="Rectangle 15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3048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A2B160-4745-406D-88E7-CD9F33CECEE1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432443"/>
      </p:ext>
    </p:extLst>
  </p:cSld>
  <p:clrMapOvr>
    <a:masterClrMapping/>
  </p:clrMapOvr>
  <p:transition spd="med" advClick="0" advTm="1000">
    <p:spli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3A151-EC64-4027-9AB7-70655E41D8F9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9CBB0-09FD-4FB3-A512-12DBE7913E78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889015"/>
      </p:ext>
    </p:extLst>
  </p:cSld>
  <p:clrMapOvr>
    <a:masterClrMapping/>
  </p:clrMapOvr>
  <p:transition spd="med" advClick="0" advTm="1000"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73915-0362-4A00-BDC4-113254B8625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27849-D356-47DC-B53B-3DEA1B255C10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074129"/>
      </p:ext>
    </p:extLst>
  </p:cSld>
  <p:clrMapOvr>
    <a:masterClrMapping/>
  </p:clrMapOvr>
  <p:transition spd="med" advClick="0" advTm="1000"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79BE8-A69C-48FA-9C35-8506EA76902C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11F090-CA47-4FA3-B099-78D64967F773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840787"/>
      </p:ext>
    </p:extLst>
  </p:cSld>
  <p:clrMapOvr>
    <a:masterClrMapping/>
  </p:clrMapOvr>
  <p:transition spd="med" advClick="0" advTm="1000"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08506-8551-4229-B153-BDA63C4B6913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9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BB206-C8F8-41F1-9F41-E74E253E648F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659486"/>
      </p:ext>
    </p:extLst>
  </p:cSld>
  <p:clrMapOvr>
    <a:masterClrMapping/>
  </p:clrMapOvr>
  <p:transition spd="med" advClick="0" advTm="1000">
    <p:spli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AFDA4-A380-49F4-BB0F-FAC67E1C7D43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EAA5E-98A3-43EF-97FF-CAD613BD76C1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727661"/>
      </p:ext>
    </p:extLst>
  </p:cSld>
  <p:clrMapOvr>
    <a:masterClrMapping/>
  </p:clrMapOvr>
  <p:transition spd="med" advClick="0" advTm="1000"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D1CB8-63DB-4FCE-BE81-179D70A48255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684903"/>
      </p:ext>
    </p:extLst>
  </p:cSld>
  <p:clrMapOvr>
    <a:masterClrMapping/>
  </p:clrMapOvr>
  <p:transition spd="med" advClick="0" advTm="1000"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AD8A3C-1762-428F-87A2-FEAAD0A8A98E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A2C9E-4E16-458E-A79B-F085F6517BFD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017575"/>
      </p:ext>
    </p:extLst>
  </p:cSld>
  <p:clrMapOvr>
    <a:masterClrMapping/>
  </p:clrMapOvr>
  <p:transition spd="med" advClick="0" advTm="1000"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C10D6-E0F5-464B-87E4-FCBAF1522038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0C2AF-84FB-40D2-9400-4234F7687122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70497"/>
      </p:ext>
    </p:extLst>
  </p:cSld>
  <p:clrMapOvr>
    <a:masterClrMapping/>
  </p:clrMapOvr>
  <p:transition spd="med" advClick="0" advTm="1000"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06363-F4EC-4F54-9ED7-62A8B76784B5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ED1E7-7045-458D-BB61-5055ED74DE54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911791"/>
      </p:ext>
    </p:extLst>
  </p:cSld>
  <p:clrMapOvr>
    <a:masterClrMapping/>
  </p:clrMapOvr>
  <p:transition spd="med" advClick="0" advTm="1000"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8942918" y="228601"/>
            <a:ext cx="2846916" cy="587057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02167" y="228601"/>
            <a:ext cx="8337551" cy="587057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D35E1-9952-4B11-9E22-D6F2467EB5FD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D51FD-55D1-4047-B181-5F35DC412E00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465145"/>
      </p:ext>
    </p:extLst>
  </p:cSld>
  <p:clrMapOvr>
    <a:masterClrMapping/>
  </p:clrMapOvr>
  <p:transition spd="med" advClick="0" advTm="1000"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Başlık ve Tab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Tablo Yer Tutucusu"/>
          <p:cNvSpPr>
            <a:spLocks noGrp="1"/>
          </p:cNvSpPr>
          <p:nvPr>
            <p:ph type="tbl" idx="1"/>
          </p:nvPr>
        </p:nvSpPr>
        <p:spPr>
          <a:xfrm>
            <a:off x="402167" y="1600200"/>
            <a:ext cx="11387667" cy="4498975"/>
          </a:xfrm>
        </p:spPr>
        <p:txBody>
          <a:bodyPr/>
          <a:lstStyle/>
          <a:p>
            <a:pPr lvl="0"/>
            <a:endParaRPr lang="tr-TR" noProof="0"/>
          </a:p>
        </p:txBody>
      </p:sp>
      <p:sp>
        <p:nvSpPr>
          <p:cNvPr id="4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0AE8D-8C85-4135-85B2-72324DDD044E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8EE4B-D01B-41D7-BAB1-9B6F9C7A9C20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14316"/>
      </p:ext>
    </p:extLst>
  </p:cSld>
  <p:clrMapOvr>
    <a:masterClrMapping/>
  </p:clrMapOvr>
  <p:transition spd="med" advClick="0" advTm="1000"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Başlık, Metin ve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Grafik Yer Tutucusu"/>
          <p:cNvSpPr>
            <a:spLocks noGrp="1"/>
          </p:cNvSpPr>
          <p:nvPr>
            <p:ph type="chart"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endParaRPr lang="tr-TR" noProof="0"/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6EE1D-64B9-46CC-A882-5B9C9A942E9C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F7D1B-9F93-4071-8547-94C6DFF89CFE}" type="slidenum">
              <a:rPr lang="tr-T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09316"/>
      </p:ext>
    </p:extLst>
  </p:cSld>
  <p:clrMapOvr>
    <a:masterClrMapping/>
  </p:clrMapOvr>
  <p:transition spd="med" advClick="0" advTm="1000">
    <p:spli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5254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" y="1422400"/>
            <a:ext cx="12196233" cy="5435600"/>
            <a:chOff x="0" y="896"/>
            <a:chExt cx="5762" cy="3424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169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0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1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2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3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4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5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6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7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8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79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80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81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33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1034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5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6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7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8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39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0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1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2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3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4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5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6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7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8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49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0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1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2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3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4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5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6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7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8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59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0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1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2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3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4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5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6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7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8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69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0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1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2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3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4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5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6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7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8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79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0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1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2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3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4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5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6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7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8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89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0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1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2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3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4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5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6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7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98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099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0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1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2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3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4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5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6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7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8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09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0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1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2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3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4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5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6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7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8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19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0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1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2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3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4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5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6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7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8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29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0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1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2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3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4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5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6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7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8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39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0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1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2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3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4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5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6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7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8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49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0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1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2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3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54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5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6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7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8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59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0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1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2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3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64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1165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66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 h 154"/>
                  <a:gd name="T2" fmla="*/ 0 w 144"/>
                  <a:gd name="T3" fmla="*/ 1 h 154"/>
                  <a:gd name="T4" fmla="*/ 1 w 144"/>
                  <a:gd name="T5" fmla="*/ 1 h 154"/>
                  <a:gd name="T6" fmla="*/ 0 w 144"/>
                  <a:gd name="T7" fmla="*/ 0 h 154"/>
                  <a:gd name="T8" fmla="*/ 1 w 144"/>
                  <a:gd name="T9" fmla="*/ 0 h 154"/>
                  <a:gd name="T10" fmla="*/ 1 w 144"/>
                  <a:gd name="T11" fmla="*/ 0 h 154"/>
                  <a:gd name="T12" fmla="*/ 1 w 144"/>
                  <a:gd name="T13" fmla="*/ 0 h 154"/>
                  <a:gd name="T14" fmla="*/ 1 w 144"/>
                  <a:gd name="T15" fmla="*/ 0 h 154"/>
                  <a:gd name="T16" fmla="*/ 0 w 144"/>
                  <a:gd name="T17" fmla="*/ 0 h 154"/>
                  <a:gd name="T18" fmla="*/ 1 w 144"/>
                  <a:gd name="T19" fmla="*/ 1 h 154"/>
                  <a:gd name="T20" fmla="*/ 0 w 144"/>
                  <a:gd name="T21" fmla="*/ 1 h 154"/>
                  <a:gd name="T22" fmla="*/ 0 w 144"/>
                  <a:gd name="T23" fmla="*/ 1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4400">
                  <a:solidFill>
                    <a:srgbClr val="FFFFCC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8455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  <p:sp>
            <p:nvSpPr>
              <p:cNvPr id="98456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tr-TR" sz="1800">
                  <a:solidFill>
                    <a:srgbClr val="FFFFFF"/>
                  </a:solidFill>
                  <a:latin typeface="Tahoma" pitchFamily="34" charset="0"/>
                </a:endParaRPr>
              </a:p>
            </p:txBody>
          </p:sp>
        </p:grpSp>
      </p:grpSp>
      <p:sp>
        <p:nvSpPr>
          <p:cNvPr id="98457" name="Rectangle 15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228600"/>
            <a:ext cx="1138766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title style</a:t>
            </a:r>
          </a:p>
        </p:txBody>
      </p:sp>
      <p:sp>
        <p:nvSpPr>
          <p:cNvPr id="98458" name="Rectangle 15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solidFill>
                  <a:schemeClr val="tx1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CAE498-DD1D-415A-8C1C-35469E870CAF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98459" name="Rectangle 15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tx1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tr-TR">
              <a:solidFill>
                <a:srgbClr val="FFFFFF"/>
              </a:solidFill>
            </a:endParaRPr>
          </a:p>
        </p:txBody>
      </p:sp>
      <p:sp>
        <p:nvSpPr>
          <p:cNvPr id="98460" name="Rectangle 15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CE1FA2-129A-4228-AD95-E0E7FC92CB3B}" type="slidenum">
              <a:rPr lang="tr-TR">
                <a:solidFill>
                  <a:srgbClr val="FFFFFF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tr-TR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8461" name="Rectangle 157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600200"/>
            <a:ext cx="11387667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48424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 advClick="0" advTm="1000">
    <p:split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Dikdörtgen"/>
          <p:cNvSpPr/>
          <p:nvPr/>
        </p:nvSpPr>
        <p:spPr>
          <a:xfrm>
            <a:off x="644769" y="2159880"/>
            <a:ext cx="10902462" cy="319472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Sakarya Üniversitesi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Bilgisayar ve Bilişim Bilimleri Fakültesi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Bilgisayar Mühendisliği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tr-TR" sz="2800" b="1" spc="50" dirty="0">
              <a:ln w="11430"/>
              <a:gradFill>
                <a:gsLst>
                  <a:gs pos="25000">
                    <a:srgbClr val="9383B3">
                      <a:satMod val="155000"/>
                    </a:srgbClr>
                  </a:gs>
                  <a:gs pos="100000">
                    <a:srgbClr val="9383B3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ahoma" pitchFamily="34" charset="0"/>
            </a:endParaRP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Prof. Dr. Ümit Kocabıçak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Prof. Dr. Cemil Öz</a:t>
            </a: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tr-TR" sz="2800" b="1" spc="50" dirty="0">
              <a:ln w="11430"/>
              <a:gradFill>
                <a:gsLst>
                  <a:gs pos="25000">
                    <a:srgbClr val="9383B3">
                      <a:satMod val="155000"/>
                    </a:srgbClr>
                  </a:gs>
                  <a:gs pos="100000">
                    <a:srgbClr val="9383B3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ahoma" pitchFamily="34" charset="0"/>
            </a:endParaRPr>
          </a:p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28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12. HAFTA</a:t>
            </a:r>
          </a:p>
        </p:txBody>
      </p:sp>
      <p:sp>
        <p:nvSpPr>
          <p:cNvPr id="10" name="9 Dikdörtgen"/>
          <p:cNvSpPr/>
          <p:nvPr/>
        </p:nvSpPr>
        <p:spPr>
          <a:xfrm>
            <a:off x="1809720" y="335839"/>
            <a:ext cx="8572560" cy="158812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tr-TR" sz="5400" b="1" spc="50" dirty="0">
                <a:ln w="11430"/>
                <a:gradFill>
                  <a:gsLst>
                    <a:gs pos="25000">
                      <a:srgbClr val="9383B3">
                        <a:satMod val="155000"/>
                      </a:srgbClr>
                    </a:gs>
                    <a:gs pos="100000">
                      <a:srgbClr val="9383B3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ahoma" pitchFamily="34" charset="0"/>
              </a:rPr>
              <a:t>Nesneye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1356132548"/>
      </p:ext>
    </p:extLst>
  </p:cSld>
  <p:clrMapOvr>
    <a:masterClrMapping/>
  </p:clrMapOvr>
  <p:transition spd="med" advClick="0" advTm="1000"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35905" y="294860"/>
            <a:ext cx="11387667" cy="11430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tr-TR" altLang="tr-TR" dirty="0">
                <a:effectLst/>
                <a:latin typeface="Arial" panose="020B0604020202020204" pitchFamily="34" charset="0"/>
              </a:rPr>
              <a:t>12. Hafta İçeriği</a:t>
            </a:r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56591" y="1616765"/>
            <a:ext cx="9433570" cy="4878164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tr-TR" dirty="0">
                <a:effectLst/>
                <a:latin typeface="American Typewriter"/>
                <a:cs typeface="American Typewriter"/>
              </a:rPr>
              <a:t>İstisnalar ve Temel Kavramlar</a:t>
            </a:r>
          </a:p>
          <a:p>
            <a:r>
              <a:rPr lang="tr-TR" dirty="0">
                <a:effectLst/>
                <a:latin typeface="American Typewriter"/>
                <a:cs typeface="American Typewriter"/>
              </a:rPr>
              <a:t>İstisna Yönetimi</a:t>
            </a:r>
          </a:p>
          <a:p>
            <a:pPr lvl="1">
              <a:lnSpc>
                <a:spcPct val="90000"/>
              </a:lnSpc>
            </a:pPr>
            <a:r>
              <a:rPr lang="tr-TR" altLang="tr-TR" dirty="0" err="1">
                <a:effectLst/>
                <a:latin typeface="American Typewriter"/>
                <a:cs typeface="American Typewriter"/>
              </a:rPr>
              <a:t>try</a:t>
            </a:r>
            <a:endParaRPr lang="tr-TR" altLang="tr-TR" dirty="0">
              <a:effectLst/>
              <a:latin typeface="American Typewriter"/>
              <a:cs typeface="American Typewriter"/>
            </a:endParaRPr>
          </a:p>
          <a:p>
            <a:pPr lvl="1">
              <a:lnSpc>
                <a:spcPct val="90000"/>
              </a:lnSpc>
            </a:pPr>
            <a:r>
              <a:rPr lang="tr-TR" altLang="tr-TR" dirty="0">
                <a:effectLst/>
                <a:latin typeface="American Typewriter"/>
                <a:cs typeface="American Typewriter"/>
              </a:rPr>
              <a:t>catch</a:t>
            </a:r>
          </a:p>
          <a:p>
            <a:pPr lvl="1">
              <a:lnSpc>
                <a:spcPct val="90000"/>
              </a:lnSpc>
            </a:pPr>
            <a:r>
              <a:rPr lang="tr-TR" altLang="tr-TR" dirty="0">
                <a:effectLst/>
                <a:latin typeface="American Typewriter"/>
                <a:cs typeface="American Typewriter"/>
              </a:rPr>
              <a:t>throw</a:t>
            </a:r>
          </a:p>
          <a:p>
            <a:pPr lvl="1">
              <a:lnSpc>
                <a:spcPct val="90000"/>
              </a:lnSpc>
            </a:pPr>
            <a:r>
              <a:rPr lang="tr-TR" altLang="tr-TR" dirty="0" err="1">
                <a:effectLst/>
                <a:latin typeface="American Typewriter"/>
                <a:cs typeface="American Typewriter"/>
              </a:rPr>
              <a:t>finally</a:t>
            </a:r>
            <a:endParaRPr lang="tr-TR" altLang="tr-TR" dirty="0">
              <a:effectLst/>
              <a:latin typeface="American Typewriter"/>
              <a:cs typeface="American Typewriter"/>
            </a:endParaRPr>
          </a:p>
          <a:p>
            <a:pPr>
              <a:lnSpc>
                <a:spcPct val="90000"/>
              </a:lnSpc>
            </a:pPr>
            <a:r>
              <a:rPr lang="tr-TR" altLang="tr-TR" dirty="0" err="1">
                <a:solidFill>
                  <a:srgbClr val="FFFF00"/>
                </a:solidFill>
                <a:effectLst/>
                <a:latin typeface="American Typewriter"/>
                <a:cs typeface="American Typewriter"/>
              </a:rPr>
              <a:t>checked</a:t>
            </a:r>
            <a:r>
              <a:rPr lang="tr-TR" altLang="tr-TR" dirty="0">
                <a:solidFill>
                  <a:srgbClr val="FFFF00"/>
                </a:solidFill>
                <a:effectLst/>
                <a:latin typeface="American Typewriter"/>
                <a:cs typeface="American Typewriter"/>
              </a:rPr>
              <a:t> </a:t>
            </a:r>
            <a:r>
              <a:rPr lang="tr-TR" altLang="tr-TR" dirty="0">
                <a:effectLst/>
                <a:latin typeface="American Typewriter"/>
                <a:cs typeface="American Typewriter"/>
              </a:rPr>
              <a:t>ve </a:t>
            </a:r>
            <a:r>
              <a:rPr lang="tr-TR" altLang="tr-TR" dirty="0" err="1">
                <a:solidFill>
                  <a:srgbClr val="FFFF00"/>
                </a:solidFill>
                <a:effectLst/>
                <a:latin typeface="American Typewriter"/>
                <a:cs typeface="American Typewriter"/>
              </a:rPr>
              <a:t>unchecked</a:t>
            </a:r>
            <a:r>
              <a:rPr lang="tr-TR" altLang="tr-TR" dirty="0">
                <a:solidFill>
                  <a:srgbClr val="FFFF00"/>
                </a:solidFill>
                <a:effectLst/>
                <a:latin typeface="American Typewriter"/>
                <a:cs typeface="American Typewriter"/>
              </a:rPr>
              <a:t> </a:t>
            </a:r>
            <a:r>
              <a:rPr lang="tr-TR" altLang="tr-TR" dirty="0">
                <a:effectLst/>
                <a:latin typeface="American Typewriter"/>
                <a:cs typeface="American Typewriter"/>
              </a:rPr>
              <a:t>Kullanımı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tr-TR" altLang="tr-TR" dirty="0">
              <a:effectLst/>
              <a:latin typeface="American Typewriter"/>
              <a:cs typeface="American Typewriter"/>
            </a:endParaRPr>
          </a:p>
          <a:p>
            <a:pPr lvl="1">
              <a:lnSpc>
                <a:spcPct val="90000"/>
              </a:lnSpc>
            </a:pPr>
            <a:endParaRPr lang="tr-TR" altLang="tr-TR" dirty="0">
              <a:effectLst/>
              <a:latin typeface="American Typewriter"/>
              <a:cs typeface="American Typewriter"/>
            </a:endParaRPr>
          </a:p>
          <a:p>
            <a:pPr lvl="1">
              <a:lnSpc>
                <a:spcPct val="90000"/>
              </a:lnSpc>
            </a:pPr>
            <a:endParaRPr lang="tr-TR" altLang="tr-TR" dirty="0">
              <a:effectLst/>
              <a:latin typeface="American Typewriter"/>
              <a:cs typeface="American Typewriter"/>
            </a:endParaRPr>
          </a:p>
        </p:txBody>
      </p:sp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57676C-642F-4623-98ED-A064C79F1E0D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215830"/>
      </p:ext>
    </p:extLst>
  </p:cSld>
  <p:clrMapOvr>
    <a:masterClrMapping/>
  </p:clrMapOvr>
  <p:transition spd="med" advClick="0" advTm="1000"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20054" y="192823"/>
            <a:ext cx="11387667" cy="862598"/>
          </a:xfrm>
        </p:spPr>
        <p:txBody>
          <a:bodyPr/>
          <a:lstStyle/>
          <a:p>
            <a:r>
              <a:rPr lang="tr-TR" dirty="0"/>
              <a:t>İstisnalar ve Temel Kavramlar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0823" y="981281"/>
            <a:ext cx="11387667" cy="5199529"/>
          </a:xfrm>
        </p:spPr>
        <p:txBody>
          <a:bodyPr/>
          <a:lstStyle/>
          <a:p>
            <a:r>
              <a:rPr lang="tr-TR" sz="3000" dirty="0"/>
              <a:t>İstisnalar, </a:t>
            </a:r>
            <a:r>
              <a:rPr lang="tr-TR" sz="3000" dirty="0">
                <a:solidFill>
                  <a:schemeClr val="tx2">
                    <a:lumMod val="75000"/>
                  </a:schemeClr>
                </a:solidFill>
              </a:rPr>
              <a:t>çalışma-zamanında</a:t>
            </a:r>
            <a:r>
              <a:rPr lang="tr-TR" sz="3000" dirty="0"/>
              <a:t> ortaya çıkan </a:t>
            </a:r>
            <a:r>
              <a:rPr lang="tr-TR" sz="3000" dirty="0">
                <a:solidFill>
                  <a:schemeClr val="tx2">
                    <a:lumMod val="75000"/>
                  </a:schemeClr>
                </a:solidFill>
              </a:rPr>
              <a:t>öngörülmeyen</a:t>
            </a:r>
            <a:r>
              <a:rPr lang="tr-TR" sz="3000" dirty="0"/>
              <a:t> </a:t>
            </a:r>
            <a:r>
              <a:rPr lang="tr-TR" sz="3000" dirty="0">
                <a:solidFill>
                  <a:schemeClr val="tx2">
                    <a:lumMod val="75000"/>
                  </a:schemeClr>
                </a:solidFill>
              </a:rPr>
              <a:t>hatalar</a:t>
            </a:r>
            <a:r>
              <a:rPr lang="tr-TR" sz="3000" dirty="0"/>
              <a:t> veya durumlardır. İstisnanın kaynağı ya </a:t>
            </a:r>
            <a:r>
              <a:rPr lang="tr-TR" sz="3000" dirty="0">
                <a:solidFill>
                  <a:schemeClr val="tx2">
                    <a:lumMod val="50000"/>
                  </a:schemeClr>
                </a:solidFill>
              </a:rPr>
              <a:t>CLR</a:t>
            </a:r>
            <a:r>
              <a:rPr lang="tr-TR" sz="3000" dirty="0"/>
              <a:t> </a:t>
            </a:r>
            <a:r>
              <a:rPr lang="tr-TR" sz="3000" dirty="0" err="1"/>
              <a:t>dir</a:t>
            </a:r>
            <a:r>
              <a:rPr lang="tr-TR" sz="3000" dirty="0"/>
              <a:t> ya da sizin yazdığınız koddur.</a:t>
            </a:r>
          </a:p>
          <a:p>
            <a:r>
              <a:rPr lang="tr-TR" sz="3000" dirty="0"/>
              <a:t>İSTİSNA ÖRNEKLERİ</a:t>
            </a:r>
          </a:p>
          <a:p>
            <a:pPr lvl="1"/>
            <a:r>
              <a:rPr lang="tr-TR" sz="2600" dirty="0"/>
              <a:t>Aritmetik işlem hataları: sıfıra bölme hatası, taşma hatası</a:t>
            </a:r>
          </a:p>
          <a:p>
            <a:pPr lvl="1"/>
            <a:r>
              <a:rPr lang="tr-TR" sz="2600" dirty="0"/>
              <a:t>Bir dizinin indis sınırlarının aşılması</a:t>
            </a:r>
          </a:p>
          <a:p>
            <a:pPr lvl="1"/>
            <a:r>
              <a:rPr lang="tr-TR" sz="2600" dirty="0"/>
              <a:t>Bir dosyadan okuma veya dosyaya yazma sorunu</a:t>
            </a:r>
          </a:p>
          <a:p>
            <a:pPr lvl="1"/>
            <a:r>
              <a:rPr lang="tr-TR" sz="2600" dirty="0"/>
              <a:t>Sayı veya nesne dönüşümündeki uyumsuzluklar</a:t>
            </a:r>
          </a:p>
          <a:p>
            <a:pPr lvl="1"/>
            <a:r>
              <a:rPr lang="tr-TR" sz="2600" dirty="0"/>
              <a:t>Sayı veya değerlerin yanlış formatta girilmesi</a:t>
            </a:r>
          </a:p>
          <a:p>
            <a:pPr lvl="1"/>
            <a:r>
              <a:rPr lang="tr-TR" sz="2600" dirty="0"/>
              <a:t>Argüman olarak </a:t>
            </a:r>
            <a:r>
              <a:rPr lang="tr-TR" sz="2600" dirty="0">
                <a:solidFill>
                  <a:schemeClr val="tx2">
                    <a:lumMod val="75000"/>
                  </a:schemeClr>
                </a:solidFill>
              </a:rPr>
              <a:t>null</a:t>
            </a:r>
            <a:r>
              <a:rPr lang="tr-TR" sz="2600" dirty="0"/>
              <a:t> kabul etmeyen yöntemin </a:t>
            </a:r>
            <a:r>
              <a:rPr lang="tr-TR" sz="2600" dirty="0">
                <a:solidFill>
                  <a:schemeClr val="tx2">
                    <a:lumMod val="75000"/>
                  </a:schemeClr>
                </a:solidFill>
              </a:rPr>
              <a:t>null</a:t>
            </a:r>
            <a:r>
              <a:rPr lang="tr-TR" sz="2600" dirty="0"/>
              <a:t> ile çağrılması </a:t>
            </a:r>
          </a:p>
          <a:p>
            <a:pPr lvl="1"/>
            <a:r>
              <a:rPr lang="tr-TR" sz="2600" dirty="0"/>
              <a:t>Boş bir yığın (</a:t>
            </a:r>
            <a:r>
              <a:rPr lang="tr-TR" sz="2600" dirty="0" err="1"/>
              <a:t>stack</a:t>
            </a:r>
            <a:r>
              <a:rPr lang="tr-TR" sz="2600" dirty="0"/>
              <a:t>) bellekten veri okunmaya çalışılması</a:t>
            </a:r>
          </a:p>
          <a:p>
            <a:endParaRPr lang="tr-TR" sz="3000" dirty="0"/>
          </a:p>
          <a:p>
            <a:endParaRPr lang="tr-TR" sz="3000" dirty="0"/>
          </a:p>
          <a:p>
            <a:endParaRPr lang="tr-TR" sz="30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618800"/>
      </p:ext>
    </p:extLst>
  </p:cSld>
  <p:clrMapOvr>
    <a:masterClrMapping/>
  </p:clrMapOvr>
  <p:transition spd="med" advClick="0" advTm="1000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20054" y="192823"/>
            <a:ext cx="11387667" cy="862598"/>
          </a:xfrm>
        </p:spPr>
        <p:txBody>
          <a:bodyPr/>
          <a:lstStyle/>
          <a:p>
            <a:r>
              <a:rPr lang="tr-TR" dirty="0"/>
              <a:t>İstisnalar ve Temel Kavramlar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66309" y="1111909"/>
            <a:ext cx="5526491" cy="5199529"/>
          </a:xfrm>
        </p:spPr>
        <p:txBody>
          <a:bodyPr/>
          <a:lstStyle/>
          <a:p>
            <a:r>
              <a:rPr lang="tr-TR" sz="3000" dirty="0"/>
              <a:t>İstisna Sınıflarının Hiyerarşisi			</a:t>
            </a:r>
          </a:p>
          <a:p>
            <a:endParaRPr lang="tr-TR" sz="3000" dirty="0"/>
          </a:p>
          <a:p>
            <a:endParaRPr lang="tr-TR" sz="3000" dirty="0"/>
          </a:p>
          <a:p>
            <a:endParaRPr lang="tr-TR" sz="30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2220686" y="1712685"/>
            <a:ext cx="1973944" cy="827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Object</a:t>
            </a:r>
            <a:endParaRPr lang="en-US" dirty="0"/>
          </a:p>
        </p:txBody>
      </p:sp>
      <p:sp>
        <p:nvSpPr>
          <p:cNvPr id="7" name="Yuvarlatılmış Dikdörtgen 6"/>
          <p:cNvSpPr/>
          <p:nvPr/>
        </p:nvSpPr>
        <p:spPr>
          <a:xfrm>
            <a:off x="2249715" y="3251200"/>
            <a:ext cx="1915887" cy="827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Exception</a:t>
            </a:r>
            <a:endParaRPr lang="en-US" dirty="0"/>
          </a:p>
        </p:txBody>
      </p:sp>
      <p:sp>
        <p:nvSpPr>
          <p:cNvPr id="8" name="Yuvarlatılmış Dikdörtgen 7"/>
          <p:cNvSpPr/>
          <p:nvPr/>
        </p:nvSpPr>
        <p:spPr>
          <a:xfrm>
            <a:off x="449945" y="5167087"/>
            <a:ext cx="1785256" cy="827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err="1"/>
              <a:t>SystemException</a:t>
            </a:r>
            <a:endParaRPr lang="en-US" sz="1600" dirty="0"/>
          </a:p>
        </p:txBody>
      </p:sp>
      <p:sp>
        <p:nvSpPr>
          <p:cNvPr id="9" name="İçerik Yer Tutucusu 2"/>
          <p:cNvSpPr txBox="1">
            <a:spLocks/>
          </p:cNvSpPr>
          <p:nvPr/>
        </p:nvSpPr>
        <p:spPr bwMode="auto">
          <a:xfrm>
            <a:off x="6084937" y="1111910"/>
            <a:ext cx="5526491" cy="519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tr-TR" sz="3000" kern="0" dirty="0"/>
              <a:t>Önemli İstisna Sınıfları			</a:t>
            </a:r>
          </a:p>
          <a:p>
            <a:endParaRPr lang="tr-TR" sz="3000" kern="0" dirty="0"/>
          </a:p>
          <a:p>
            <a:endParaRPr lang="tr-TR" sz="3000" kern="0" dirty="0"/>
          </a:p>
          <a:p>
            <a:endParaRPr lang="tr-TR" sz="3000" kern="0" dirty="0"/>
          </a:p>
        </p:txBody>
      </p:sp>
      <p:graphicFrame>
        <p:nvGraphicFramePr>
          <p:cNvPr id="10" name="Tablo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19825"/>
              </p:ext>
            </p:extLst>
          </p:nvPr>
        </p:nvGraphicFramePr>
        <p:xfrm>
          <a:off x="6255656" y="1735661"/>
          <a:ext cx="5558972" cy="317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61">
                <a:tc>
                  <a:txBody>
                    <a:bodyPr/>
                    <a:lstStyle/>
                    <a:p>
                      <a:r>
                        <a:rPr lang="tr-TR" dirty="0"/>
                        <a:t>İstisna Sınıfı (Türetilen Sınıf)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Temel</a:t>
                      </a:r>
                      <a:r>
                        <a:rPr lang="tr-TR" baseline="0" dirty="0"/>
                        <a:t> Sınıf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61">
                <a:tc>
                  <a:txBody>
                    <a:bodyPr/>
                    <a:lstStyle/>
                    <a:p>
                      <a:r>
                        <a:rPr lang="en-US" dirty="0" err="1"/>
                        <a:t>IndexOutOfRangeException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SystemException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61">
                <a:tc>
                  <a:txBody>
                    <a:bodyPr/>
                    <a:lstStyle/>
                    <a:p>
                      <a:r>
                        <a:rPr lang="en-US" dirty="0" err="1"/>
                        <a:t>NullReferenceException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SystemException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61">
                <a:tc>
                  <a:txBody>
                    <a:bodyPr/>
                    <a:lstStyle/>
                    <a:p>
                      <a:r>
                        <a:rPr lang="en-US" dirty="0" err="1"/>
                        <a:t>AccessViolationException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SystemException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61">
                <a:tc>
                  <a:txBody>
                    <a:bodyPr/>
                    <a:lstStyle/>
                    <a:p>
                      <a:r>
                        <a:rPr lang="en-US" dirty="0" err="1"/>
                        <a:t>ArgumentNullException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ArgumentException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61">
                <a:tc>
                  <a:txBody>
                    <a:bodyPr/>
                    <a:lstStyle/>
                    <a:p>
                      <a:r>
                        <a:rPr lang="en-US" dirty="0" err="1"/>
                        <a:t>COMException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ExternalException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Yuvarlatılmış Dikdörtgen 10"/>
          <p:cNvSpPr/>
          <p:nvPr/>
        </p:nvSpPr>
        <p:spPr>
          <a:xfrm>
            <a:off x="2336802" y="5138059"/>
            <a:ext cx="1944913" cy="827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600" dirty="0" err="1"/>
              <a:t>ArgumentException</a:t>
            </a:r>
            <a:endParaRPr lang="en-US" sz="1600" dirty="0"/>
          </a:p>
        </p:txBody>
      </p:sp>
      <p:sp>
        <p:nvSpPr>
          <p:cNvPr id="12" name="Yuvarlatılmış Dikdörtgen 11"/>
          <p:cNvSpPr/>
          <p:nvPr/>
        </p:nvSpPr>
        <p:spPr>
          <a:xfrm>
            <a:off x="4354288" y="5138059"/>
            <a:ext cx="1944913" cy="827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/>
              <a:t>ExternalException</a:t>
            </a:r>
            <a:endParaRPr lang="en-US" sz="1600" dirty="0"/>
          </a:p>
        </p:txBody>
      </p:sp>
      <p:sp>
        <p:nvSpPr>
          <p:cNvPr id="13" name="Şeritli Sağ Ok 12"/>
          <p:cNvSpPr/>
          <p:nvPr/>
        </p:nvSpPr>
        <p:spPr>
          <a:xfrm rot="5400000">
            <a:off x="2888343" y="2743202"/>
            <a:ext cx="682171" cy="333829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Şeritli Sağ Ok 13"/>
          <p:cNvSpPr/>
          <p:nvPr/>
        </p:nvSpPr>
        <p:spPr>
          <a:xfrm rot="5400000">
            <a:off x="2873828" y="4296230"/>
            <a:ext cx="682171" cy="333829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1147"/>
      </p:ext>
    </p:extLst>
  </p:cSld>
  <p:clrMapOvr>
    <a:masterClrMapping/>
  </p:clrMapOvr>
  <p:transition spd="med" advClick="0" advTm="1000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20054" y="192823"/>
            <a:ext cx="11387667" cy="862598"/>
          </a:xfrm>
        </p:spPr>
        <p:txBody>
          <a:bodyPr/>
          <a:lstStyle/>
          <a:p>
            <a:r>
              <a:rPr lang="tr-TR" dirty="0"/>
              <a:t>İstisnalar ve Temel Kavramlar-1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09852" y="1097395"/>
            <a:ext cx="11387667" cy="5199529"/>
          </a:xfrm>
        </p:spPr>
        <p:txBody>
          <a:bodyPr/>
          <a:lstStyle/>
          <a:p>
            <a:r>
              <a:rPr lang="tr-TR" sz="3600" dirty="0"/>
              <a:t>İstisna yönetimi için dört komut kullanılmaktadır</a:t>
            </a:r>
          </a:p>
          <a:p>
            <a:pPr lvl="1"/>
            <a:r>
              <a:rPr lang="tr-TR" sz="3600" dirty="0" err="1">
                <a:solidFill>
                  <a:schemeClr val="tx2">
                    <a:lumMod val="90000"/>
                  </a:schemeClr>
                </a:solidFill>
              </a:rPr>
              <a:t>try</a:t>
            </a:r>
            <a:r>
              <a:rPr lang="tr-TR" sz="3600" dirty="0"/>
              <a:t>:    Potansiyel risk taşıyan komutları barındıran blok</a:t>
            </a:r>
          </a:p>
          <a:p>
            <a:pPr lvl="1"/>
            <a:r>
              <a:rPr lang="tr-TR" sz="3600" dirty="0">
                <a:solidFill>
                  <a:schemeClr val="tx2">
                    <a:lumMod val="90000"/>
                  </a:schemeClr>
                </a:solidFill>
              </a:rPr>
              <a:t>catch</a:t>
            </a:r>
            <a:r>
              <a:rPr lang="tr-TR" sz="3600" dirty="0"/>
              <a:t>: İstisna ortaya çıktığında yapılacak gerekli işlemleri barındıran blok</a:t>
            </a:r>
          </a:p>
          <a:p>
            <a:pPr lvl="1"/>
            <a:r>
              <a:rPr lang="en-US" sz="3600" dirty="0">
                <a:solidFill>
                  <a:schemeClr val="tx2">
                    <a:lumMod val="90000"/>
                  </a:schemeClr>
                </a:solidFill>
              </a:rPr>
              <a:t>finally</a:t>
            </a:r>
            <a:r>
              <a:rPr lang="tr-TR" sz="3600" dirty="0"/>
              <a:t>: Bir istisna fırlatılıp fırlatılmamasına bakılmaksızın çalıştırılacak kodları barındıran blok</a:t>
            </a:r>
          </a:p>
          <a:p>
            <a:pPr lvl="1"/>
            <a:r>
              <a:rPr lang="tr-TR" sz="3600" dirty="0">
                <a:solidFill>
                  <a:schemeClr val="tx2">
                    <a:lumMod val="90000"/>
                  </a:schemeClr>
                </a:solidFill>
              </a:rPr>
              <a:t>throw</a:t>
            </a:r>
            <a:r>
              <a:rPr lang="tr-TR" sz="3600" dirty="0"/>
              <a:t>: İstisnaları oluşturan komut</a:t>
            </a:r>
          </a:p>
          <a:p>
            <a:pPr marL="0" indent="0">
              <a:buNone/>
            </a:pPr>
            <a:endParaRPr lang="tr-TR" sz="3600" dirty="0"/>
          </a:p>
          <a:p>
            <a:endParaRPr lang="tr-TR" sz="3600" dirty="0"/>
          </a:p>
          <a:p>
            <a:endParaRPr lang="tr-TR" sz="3600" dirty="0"/>
          </a:p>
          <a:p>
            <a:endParaRPr lang="tr-TR" sz="36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5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848153"/>
      </p:ext>
    </p:extLst>
  </p:cSld>
  <p:clrMapOvr>
    <a:masterClrMapping/>
  </p:clrMapOvr>
  <p:transition spd="med" advClick="0" advTm="1000"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20054" y="192823"/>
            <a:ext cx="11387667" cy="862598"/>
          </a:xfrm>
        </p:spPr>
        <p:txBody>
          <a:bodyPr/>
          <a:lstStyle/>
          <a:p>
            <a:r>
              <a:rPr lang="tr-TR" dirty="0"/>
              <a:t>İstisnalar ve Temel Kavramlar-2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09852" y="1097395"/>
            <a:ext cx="11387667" cy="5199529"/>
          </a:xfrm>
        </p:spPr>
        <p:txBody>
          <a:bodyPr/>
          <a:lstStyle/>
          <a:p>
            <a:pPr lvl="1"/>
            <a:r>
              <a:rPr lang="tr-T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try</a:t>
            </a:r>
            <a:r>
              <a:rPr lang="tr-TR" dirty="0"/>
              <a:t>:    </a:t>
            </a:r>
          </a:p>
          <a:p>
            <a:pPr lvl="2"/>
            <a:r>
              <a:rPr lang="tr-TR" dirty="0" err="1">
                <a:solidFill>
                  <a:srgbClr val="FFFF00"/>
                </a:solidFill>
              </a:rPr>
              <a:t>try</a:t>
            </a:r>
            <a:r>
              <a:rPr lang="tr-TR" dirty="0"/>
              <a:t> bloğu bir veya birden fazla </a:t>
            </a:r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 ve/veya bir </a:t>
            </a:r>
            <a:r>
              <a:rPr lang="tr-TR" dirty="0" err="1">
                <a:solidFill>
                  <a:srgbClr val="FFFF00"/>
                </a:solidFill>
              </a:rPr>
              <a:t>finally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tr-TR" dirty="0"/>
              <a:t>bloğu içerebilir. </a:t>
            </a:r>
          </a:p>
          <a:p>
            <a:pPr lvl="1"/>
            <a:r>
              <a:rPr lang="tr-T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catch</a:t>
            </a:r>
            <a:r>
              <a:rPr lang="tr-TR" dirty="0"/>
              <a:t>: </a:t>
            </a:r>
          </a:p>
          <a:p>
            <a:pPr lvl="2"/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 blokları yukarıdan aşağıya doğru eşleştirilmeye çalışılır ancak her bir istisna için ilk eşleşen </a:t>
            </a:r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 çalıştırılabilir. </a:t>
            </a:r>
          </a:p>
          <a:p>
            <a:pPr lvl="2"/>
            <a:r>
              <a:rPr lang="tr-TR" dirty="0"/>
              <a:t>Eğer hiçbir </a:t>
            </a:r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 eşleşmediyse herhangi bir istisna tipi belirtilmeyen ve tanımlı olan ( </a:t>
            </a:r>
            <a:r>
              <a:rPr lang="tr-TR" dirty="0">
                <a:solidFill>
                  <a:srgbClr val="FFFF00"/>
                </a:solidFill>
              </a:rPr>
              <a:t>genel</a:t>
            </a:r>
            <a:r>
              <a:rPr lang="tr-TR" dirty="0"/>
              <a:t> </a:t>
            </a:r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) </a:t>
            </a:r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 bloğu çalıştırılır.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finally</a:t>
            </a:r>
            <a:r>
              <a:rPr lang="tr-TR" dirty="0"/>
              <a:t>: </a:t>
            </a:r>
          </a:p>
          <a:p>
            <a:pPr lvl="2"/>
            <a:r>
              <a:rPr lang="tr-TR" dirty="0" err="1">
                <a:solidFill>
                  <a:srgbClr val="FFFF00"/>
                </a:solidFill>
              </a:rPr>
              <a:t>finally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tr-TR" dirty="0"/>
              <a:t>bloğu </a:t>
            </a:r>
            <a:r>
              <a:rPr lang="tr-TR" dirty="0">
                <a:solidFill>
                  <a:srgbClr val="FFFF00"/>
                </a:solidFill>
              </a:rPr>
              <a:t>try-catch</a:t>
            </a:r>
            <a:r>
              <a:rPr lang="tr-TR" dirty="0"/>
              <a:t> ikilisinden sonra çalışır</a:t>
            </a:r>
          </a:p>
          <a:p>
            <a:pPr lvl="2"/>
            <a:endParaRPr lang="tr-TR" dirty="0"/>
          </a:p>
          <a:p>
            <a:pPr marL="0" indent="0">
              <a:buNone/>
            </a:pPr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6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042747"/>
      </p:ext>
    </p:extLst>
  </p:cSld>
  <p:clrMapOvr>
    <a:masterClrMapping/>
  </p:clrMapOvr>
  <p:transition spd="med" advClick="0" advTm="1000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 err="1"/>
              <a:t>İstisnalar:Temel</a:t>
            </a:r>
            <a:r>
              <a:rPr lang="tr-TR" dirty="0"/>
              <a:t> Kavramlar-3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06652" y="995795"/>
            <a:ext cx="11404777" cy="5199529"/>
          </a:xfrm>
        </p:spPr>
        <p:txBody>
          <a:bodyPr/>
          <a:lstStyle/>
          <a:p>
            <a:r>
              <a:rPr lang="tr-TR" sz="2400" dirty="0"/>
              <a:t>İstisna oluştuğunda CLR ilgili istisnanın çözümlenmesi için belirli istisna tipli </a:t>
            </a:r>
            <a:r>
              <a:rPr lang="tr-TR" sz="2400" dirty="0">
                <a:solidFill>
                  <a:schemeClr val="tx2">
                    <a:lumMod val="90000"/>
                  </a:schemeClr>
                </a:solidFill>
              </a:rPr>
              <a:t>catch </a:t>
            </a:r>
            <a:r>
              <a:rPr lang="tr-TR" sz="2400" dirty="0"/>
              <a:t>bloğunu yığın bellekte (</a:t>
            </a:r>
            <a:r>
              <a:rPr lang="tr-TR" sz="2400" dirty="0" err="1">
                <a:solidFill>
                  <a:schemeClr val="tx2">
                    <a:lumMod val="75000"/>
                  </a:schemeClr>
                </a:solidFill>
              </a:rPr>
              <a:t>stack</a:t>
            </a:r>
            <a:r>
              <a:rPr lang="tr-TR" sz="2400" dirty="0"/>
              <a:t>) arar, bulamazsa bir hata mesajı ile programın çalışmasını durdurur</a:t>
            </a:r>
          </a:p>
          <a:p>
            <a:r>
              <a:rPr lang="tr-TR" sz="2400" dirty="0"/>
              <a:t>Yönetilmeyecek istisna yakalanmamalıdır</a:t>
            </a:r>
          </a:p>
          <a:p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System.Exception </a:t>
            </a:r>
            <a:r>
              <a:rPr lang="tr-TR" sz="2400" dirty="0"/>
              <a:t>yaklarsanız, </a:t>
            </a:r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catch</a:t>
            </a:r>
            <a:r>
              <a:rPr lang="tr-TR" sz="2400" dirty="0"/>
              <a:t> bloğunun sonunda ilgili istisnayı tekrar fırlatın (</a:t>
            </a:r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throw</a:t>
            </a:r>
            <a:r>
              <a:rPr lang="tr-TR" sz="2400" dirty="0"/>
              <a:t>)</a:t>
            </a:r>
          </a:p>
          <a:p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catch</a:t>
            </a:r>
            <a:r>
              <a:rPr lang="tr-TR" sz="2400" dirty="0"/>
              <a:t> bloğunun </a:t>
            </a:r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e</a:t>
            </a:r>
            <a:r>
              <a:rPr lang="tr-TR" sz="2400" dirty="0"/>
              <a:t> parametresini istisnanın detaylarını öğrenmek için kullanabilirsiniz </a:t>
            </a:r>
          </a:p>
          <a:p>
            <a:r>
              <a:rPr lang="tr-TR" sz="2400" dirty="0" err="1">
                <a:solidFill>
                  <a:schemeClr val="tx2">
                    <a:lumMod val="75000"/>
                  </a:schemeClr>
                </a:solidFill>
              </a:rPr>
              <a:t>finally</a:t>
            </a:r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tr-TR" sz="2400" dirty="0"/>
              <a:t>bloğunun içindeki komutlar tekrar bir istisna fırlatılsa bile çalışır</a:t>
            </a:r>
          </a:p>
          <a:p>
            <a:r>
              <a:rPr lang="tr-TR" sz="2400" dirty="0" err="1">
                <a:solidFill>
                  <a:schemeClr val="tx2">
                    <a:lumMod val="75000"/>
                  </a:schemeClr>
                </a:solidFill>
              </a:rPr>
              <a:t>finally</a:t>
            </a:r>
            <a:r>
              <a:rPr lang="tr-TR" sz="2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tr-TR" sz="2400" dirty="0"/>
              <a:t>bloğu hata oluşturulan kaynakların serbest kalmasını sağlamalıdır (dosya, bellek vb.)</a:t>
            </a:r>
          </a:p>
          <a:p>
            <a:r>
              <a:rPr lang="tr-TR" sz="2400" dirty="0"/>
              <a:t>Yakalanamayan istisnalar, sistem tarafından sağlanan genel bir istisna işleyicisi ile yönetilir  </a:t>
            </a:r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7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670919"/>
      </p:ext>
    </p:extLst>
  </p:cSld>
  <p:clrMapOvr>
    <a:masterClrMapping/>
  </p:clrMapOvr>
  <p:transition spd="med" advClick="0" advTm="1000">
    <p:spli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/>
              <a:t>İstisna Fırlatırken Dikkat Edilmesi Gerekenler 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69509" y="1024824"/>
            <a:ext cx="11404777" cy="5199529"/>
          </a:xfrm>
        </p:spPr>
        <p:txBody>
          <a:bodyPr/>
          <a:lstStyle/>
          <a:p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İstisnalar </a:t>
            </a: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programınızın akışını 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değiştirmemeli, sadece </a:t>
            </a: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raporlama ve hata yönetimi 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için kullanılmalı</a:t>
            </a:r>
          </a:p>
          <a:p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İstisnalar yöntemlerden döndürülecek bir </a:t>
            </a: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değer veya parametre 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gibi kullanılmamalı </a:t>
            </a:r>
          </a:p>
          <a:p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Aşağıdaki </a:t>
            </a: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istisnaları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doğrudan </a:t>
            </a: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fırlatmayın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(çok genel)</a:t>
            </a:r>
          </a:p>
          <a:p>
            <a:pPr lvl="1"/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System.Exception</a:t>
            </a:r>
          </a:p>
          <a:p>
            <a:pPr lvl="1"/>
            <a:r>
              <a:rPr lang="tr-T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System.SystemException</a:t>
            </a:r>
            <a:endParaRPr lang="tr-T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tr-T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System.NullReferenceException</a:t>
            </a:r>
            <a:endParaRPr lang="tr-T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SystemIndexOutOfRangeException</a:t>
            </a:r>
            <a:endParaRPr lang="tr-T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tr-TR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</a:t>
            </a:r>
            <a:r>
              <a:rPr lang="tr-T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modda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fırlatılabilen fakat "</a:t>
            </a:r>
            <a:r>
              <a:rPr lang="tr-TR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</a:t>
            </a:r>
            <a:r>
              <a:rPr lang="tr-TR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modda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fırlatılamayan istisnalar oluşturmayın.  Çalışma zamanında hataları tespit etmek için "</a:t>
            </a:r>
            <a:r>
              <a:rPr lang="tr-TR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Debug</a:t>
            </a:r>
            <a:r>
              <a:rPr lang="tr-T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Assert</a:t>
            </a:r>
            <a:r>
              <a:rPr lang="tr-T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 kullanınız</a:t>
            </a:r>
            <a:endParaRPr lang="tr-TR" sz="2400" dirty="0"/>
          </a:p>
          <a:p>
            <a:endParaRPr lang="tr-TR" sz="24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8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95047"/>
      </p:ext>
    </p:extLst>
  </p:cSld>
  <p:clrMapOvr>
    <a:masterClrMapping/>
  </p:clrMapOvr>
  <p:transition spd="med" advClick="0" advTm="1000"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/>
              <a:t>Genel Yakalandığında Özele Yönlendir  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4023" y="1329624"/>
            <a:ext cx="11404777" cy="5199529"/>
          </a:xfrm>
        </p:spPr>
        <p:txBody>
          <a:bodyPr/>
          <a:lstStyle/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TestTryCatch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DiziOku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(int[] dizi, int </a:t>
            </a:r>
            <a:r>
              <a:rPr lang="tr-TR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indeks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){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try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dizi[</a:t>
            </a:r>
            <a:r>
              <a:rPr lang="tr-TR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indeks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];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}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catch (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System.IndexOutOfRangeException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e)   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{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System.Console.WriteLine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e.Message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       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tr-TR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throw new </a:t>
            </a:r>
            <a:r>
              <a:rPr lang="tr-TR" sz="2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System.ArgumentOutOfRangeException</a:t>
            </a:r>
            <a:r>
              <a:rPr lang="tr-TR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("indeks sınır dışında", e); 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}			//Dizinin indeksi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DiziOku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nun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parametresi olduğu için 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}			//Esas sorun yanlış parametre kullanılması</a:t>
            </a:r>
          </a:p>
          <a:p>
            <a:pPr marL="0" indent="0">
              <a:buNone/>
            </a:pP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tr-TR" sz="20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9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120234"/>
      </p:ext>
    </p:extLst>
  </p:cSld>
  <p:clrMapOvr>
    <a:masterClrMapping/>
  </p:clrMapOvr>
  <p:transition spd="med" advClick="0" advTm="1000">
    <p:spli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/>
              <a:t>İstisna: Temel Örnek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1277257" y="948690"/>
            <a:ext cx="9593943" cy="5355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Segoe UI Mono" panose="020B0509040204020203" pitchFamily="49" charset="0"/>
              </a:rPr>
              <a:t>class </a:t>
            </a:r>
            <a:r>
              <a:rPr lang="en-US" dirty="0" err="1">
                <a:latin typeface="Segoe UI Mono" panose="020B0509040204020203" pitchFamily="49" charset="0"/>
              </a:rPr>
              <a:t>ExceptionTest</a:t>
            </a:r>
            <a:endParaRPr lang="en-US" dirty="0">
              <a:latin typeface="Segoe UI Mono" panose="020B0509040204020203" pitchFamily="49" charset="0"/>
            </a:endParaRPr>
          </a:p>
          <a:p>
            <a:r>
              <a:rPr lang="en-US" dirty="0">
                <a:latin typeface="Segoe UI Mono" panose="020B0509040204020203" pitchFamily="49" charset="0"/>
              </a:rPr>
              <a:t>{</a:t>
            </a:r>
          </a:p>
          <a:p>
            <a:r>
              <a:rPr lang="en-US" dirty="0">
                <a:latin typeface="Segoe UI Mono" panose="020B0509040204020203" pitchFamily="49" charset="0"/>
              </a:rPr>
              <a:t>    static double </a:t>
            </a:r>
            <a:r>
              <a:rPr lang="tr-TR" dirty="0" err="1">
                <a:latin typeface="Segoe UI Mono" panose="020B0509040204020203" pitchFamily="49" charset="0"/>
              </a:rPr>
              <a:t>GuvenliBolme</a:t>
            </a:r>
            <a:r>
              <a:rPr lang="en-US" dirty="0">
                <a:latin typeface="Segoe UI Mono" panose="020B0509040204020203" pitchFamily="49" charset="0"/>
              </a:rPr>
              <a:t>(double x, double y){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if (y == 0)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 Mono" panose="020B0509040204020203" pitchFamily="49" charset="0"/>
              </a:rPr>
              <a:t>throw</a:t>
            </a:r>
            <a:r>
              <a:rPr lang="en-US" dirty="0">
                <a:latin typeface="Segoe UI Mono" panose="020B0509040204020203" pitchFamily="49" charset="0"/>
              </a:rPr>
              <a:t> new </a:t>
            </a:r>
            <a:r>
              <a:rPr lang="en-US" dirty="0" err="1">
                <a:latin typeface="Segoe UI Mono" panose="020B0509040204020203" pitchFamily="49" charset="0"/>
              </a:rPr>
              <a:t>System.DivideByZeroException</a:t>
            </a:r>
            <a:r>
              <a:rPr lang="en-US" dirty="0">
                <a:latin typeface="Segoe UI Mono" panose="020B0509040204020203" pitchFamily="49" charset="0"/>
              </a:rPr>
              <a:t>();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return x / y;</a:t>
            </a:r>
          </a:p>
          <a:p>
            <a:r>
              <a:rPr lang="en-US" dirty="0">
                <a:latin typeface="Segoe UI Mono" panose="020B0509040204020203" pitchFamily="49" charset="0"/>
              </a:rPr>
              <a:t>    }</a:t>
            </a:r>
            <a:endParaRPr lang="tr-TR" dirty="0">
              <a:latin typeface="Segoe UI Mono" panose="020B0509040204020203" pitchFamily="49" charset="0"/>
            </a:endParaRPr>
          </a:p>
          <a:p>
            <a:endParaRPr lang="en-US" dirty="0">
              <a:latin typeface="Segoe UI Mono" panose="020B0509040204020203" pitchFamily="49" charset="0"/>
            </a:endParaRPr>
          </a:p>
          <a:p>
            <a:r>
              <a:rPr lang="en-US" dirty="0">
                <a:latin typeface="Segoe UI Mono" panose="020B0509040204020203" pitchFamily="49" charset="0"/>
              </a:rPr>
              <a:t>    static void Main(){</a:t>
            </a:r>
          </a:p>
          <a:p>
            <a:r>
              <a:rPr lang="tr-TR" dirty="0">
                <a:latin typeface="Segoe UI Mono" panose="020B0509040204020203" pitchFamily="49" charset="0"/>
              </a:rPr>
              <a:t>       </a:t>
            </a:r>
            <a:r>
              <a:rPr lang="en-US" dirty="0">
                <a:latin typeface="Segoe UI Mono" panose="020B0509040204020203" pitchFamily="49" charset="0"/>
              </a:rPr>
              <a:t>double a = </a:t>
            </a:r>
            <a:r>
              <a:rPr lang="tr-TR" dirty="0">
                <a:latin typeface="Segoe UI Mono" panose="020B0509040204020203" pitchFamily="49" charset="0"/>
              </a:rPr>
              <a:t>1</a:t>
            </a:r>
            <a:r>
              <a:rPr lang="en-US" dirty="0">
                <a:latin typeface="Segoe UI Mono" panose="020B0509040204020203" pitchFamily="49" charset="0"/>
              </a:rPr>
              <a:t>, b = 0</a:t>
            </a:r>
            <a:r>
              <a:rPr lang="tr-TR" dirty="0">
                <a:latin typeface="Segoe UI Mono" panose="020B0509040204020203" pitchFamily="49" charset="0"/>
              </a:rPr>
              <a:t>, </a:t>
            </a:r>
            <a:r>
              <a:rPr lang="tr-TR" dirty="0" err="1">
                <a:latin typeface="Segoe UI Mono" panose="020B0509040204020203" pitchFamily="49" charset="0"/>
              </a:rPr>
              <a:t>sonuc</a:t>
            </a:r>
            <a:r>
              <a:rPr lang="en-US" dirty="0">
                <a:latin typeface="Segoe UI Mono" panose="020B0509040204020203" pitchFamily="49" charset="0"/>
              </a:rPr>
              <a:t> = 0;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 Mono" panose="020B0509040204020203" pitchFamily="49" charset="0"/>
              </a:rPr>
              <a:t>try</a:t>
            </a:r>
            <a:r>
              <a:rPr lang="tr-TR" dirty="0">
                <a:solidFill>
                  <a:schemeClr val="tx2">
                    <a:lumMod val="75000"/>
                  </a:schemeClr>
                </a:solidFill>
                <a:latin typeface="Segoe UI Mono" panose="020B0509040204020203" pitchFamily="49" charset="0"/>
              </a:rPr>
              <a:t>  </a:t>
            </a:r>
            <a:r>
              <a:rPr lang="en-US" dirty="0">
                <a:latin typeface="Segoe UI Mono" panose="020B0509040204020203" pitchFamily="49" charset="0"/>
              </a:rPr>
              <a:t>{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    </a:t>
            </a:r>
            <a:r>
              <a:rPr lang="tr-TR" dirty="0" err="1">
                <a:latin typeface="Segoe UI Mono" panose="020B0509040204020203" pitchFamily="49" charset="0"/>
              </a:rPr>
              <a:t>sonuc</a:t>
            </a:r>
            <a:r>
              <a:rPr lang="en-US" dirty="0">
                <a:latin typeface="Segoe UI Mono" panose="020B0509040204020203" pitchFamily="49" charset="0"/>
              </a:rPr>
              <a:t>= </a:t>
            </a:r>
            <a:r>
              <a:rPr lang="tr-TR" dirty="0" err="1">
                <a:latin typeface="Segoe UI Mono" panose="020B0509040204020203" pitchFamily="49" charset="0"/>
              </a:rPr>
              <a:t>GuvenliBolme</a:t>
            </a:r>
            <a:r>
              <a:rPr lang="en-US" dirty="0">
                <a:latin typeface="Segoe UI Mono" panose="020B0509040204020203" pitchFamily="49" charset="0"/>
              </a:rPr>
              <a:t>(a, b);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    </a:t>
            </a:r>
            <a:r>
              <a:rPr lang="en-US" dirty="0" err="1">
                <a:latin typeface="Segoe UI Mono" panose="020B0509040204020203" pitchFamily="49" charset="0"/>
              </a:rPr>
              <a:t>Console.WriteLine</a:t>
            </a:r>
            <a:r>
              <a:rPr lang="en-US" dirty="0">
                <a:latin typeface="Segoe UI Mono" panose="020B0509040204020203" pitchFamily="49" charset="0"/>
              </a:rPr>
              <a:t>("{0} </a:t>
            </a:r>
            <a:r>
              <a:rPr lang="tr-TR" dirty="0">
                <a:latin typeface="Segoe UI Mono" panose="020B0509040204020203" pitchFamily="49" charset="0"/>
              </a:rPr>
              <a:t>/</a:t>
            </a:r>
            <a:r>
              <a:rPr lang="en-US" dirty="0">
                <a:latin typeface="Segoe UI Mono" panose="020B0509040204020203" pitchFamily="49" charset="0"/>
              </a:rPr>
              <a:t> {1} = {2}", a, b, </a:t>
            </a:r>
            <a:r>
              <a:rPr lang="tr-TR" dirty="0" err="1">
                <a:latin typeface="Segoe UI Mono" panose="020B0509040204020203" pitchFamily="49" charset="0"/>
              </a:rPr>
              <a:t>sonuc</a:t>
            </a:r>
            <a:r>
              <a:rPr lang="en-US" dirty="0">
                <a:latin typeface="Segoe UI Mono" panose="020B0509040204020203" pitchFamily="49" charset="0"/>
              </a:rPr>
              <a:t>);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}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egoe UI Mono" panose="020B0509040204020203" pitchFamily="49" charset="0"/>
              </a:rPr>
              <a:t>catch</a:t>
            </a:r>
            <a:r>
              <a:rPr lang="en-US" dirty="0">
                <a:latin typeface="Segoe UI Mono" panose="020B0509040204020203" pitchFamily="49" charset="0"/>
              </a:rPr>
              <a:t> (DivideByZeroException e){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    </a:t>
            </a:r>
            <a:r>
              <a:rPr lang="en-US" dirty="0" err="1">
                <a:latin typeface="Segoe UI Mono" panose="020B0509040204020203" pitchFamily="49" charset="0"/>
              </a:rPr>
              <a:t>Console.WriteLine</a:t>
            </a:r>
            <a:r>
              <a:rPr lang="en-US" dirty="0">
                <a:latin typeface="Segoe UI Mono" panose="020B0509040204020203" pitchFamily="49" charset="0"/>
              </a:rPr>
              <a:t>(</a:t>
            </a:r>
            <a:r>
              <a:rPr lang="en-US" dirty="0" err="1">
                <a:latin typeface="Segoe UI Mono" panose="020B0509040204020203" pitchFamily="49" charset="0"/>
              </a:rPr>
              <a:t>e.Message</a:t>
            </a:r>
            <a:r>
              <a:rPr lang="en-US" dirty="0">
                <a:latin typeface="Segoe UI Mono" panose="020B0509040204020203" pitchFamily="49" charset="0"/>
              </a:rPr>
              <a:t> + ","+ </a:t>
            </a:r>
            <a:r>
              <a:rPr lang="en-US" dirty="0" err="1">
                <a:latin typeface="Segoe UI Mono" panose="020B0509040204020203" pitchFamily="49" charset="0"/>
              </a:rPr>
              <a:t>e.Source</a:t>
            </a:r>
            <a:r>
              <a:rPr lang="en-US" dirty="0">
                <a:latin typeface="Segoe UI Mono" panose="020B0509040204020203" pitchFamily="49" charset="0"/>
              </a:rPr>
              <a:t>);</a:t>
            </a:r>
          </a:p>
          <a:p>
            <a:r>
              <a:rPr lang="en-US" dirty="0">
                <a:latin typeface="Segoe UI Mono" panose="020B0509040204020203" pitchFamily="49" charset="0"/>
              </a:rPr>
              <a:t>        }</a:t>
            </a:r>
          </a:p>
          <a:p>
            <a:r>
              <a:rPr lang="en-US" dirty="0">
                <a:latin typeface="Segoe UI Mono" panose="020B0509040204020203" pitchFamily="49" charset="0"/>
              </a:rPr>
              <a:t>    }</a:t>
            </a:r>
          </a:p>
          <a:p>
            <a:r>
              <a:rPr lang="en-US" dirty="0">
                <a:latin typeface="Segoe UI Mono" panose="020B0509040204020203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2535209"/>
      </p:ext>
    </p:extLst>
  </p:cSld>
  <p:clrMapOvr>
    <a:masterClrMapping/>
  </p:clrMapOvr>
  <p:transition spd="med" advClick="0" advTm="1000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/>
              <a:t>İstisna: Temel Örnek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11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206652" y="995795"/>
            <a:ext cx="11404777" cy="5199529"/>
          </a:xfrm>
        </p:spPr>
        <p:txBody>
          <a:bodyPr/>
          <a:lstStyle/>
          <a:p>
            <a:r>
              <a:rPr lang="tr-TR" sz="4400" dirty="0">
                <a:solidFill>
                  <a:srgbClr val="FFFF00"/>
                </a:solidFill>
              </a:rPr>
              <a:t>e</a:t>
            </a:r>
            <a:r>
              <a:rPr lang="tr-TR" sz="4400" dirty="0"/>
              <a:t> parametresine ait önemli </a:t>
            </a:r>
            <a:r>
              <a:rPr lang="tr-TR" sz="4400" dirty="0">
                <a:solidFill>
                  <a:srgbClr val="FFFF00"/>
                </a:solidFill>
              </a:rPr>
              <a:t>özellikler</a:t>
            </a:r>
          </a:p>
          <a:p>
            <a:pPr lvl="1"/>
            <a:r>
              <a:rPr lang="tr-TR" dirty="0" err="1">
                <a:solidFill>
                  <a:srgbClr val="FFFF00"/>
                </a:solidFill>
              </a:rPr>
              <a:t>StackTrace</a:t>
            </a:r>
            <a:r>
              <a:rPr lang="tr-TR" dirty="0">
                <a:solidFill>
                  <a:srgbClr val="FFFF00"/>
                </a:solidFill>
              </a:rPr>
              <a:t>:</a:t>
            </a:r>
          </a:p>
          <a:p>
            <a:pPr lvl="2"/>
            <a:r>
              <a:rPr lang="tr-TR" sz="2800" dirty="0"/>
              <a:t>Bu özellik string türündedir ve YIĞIN bellekteki istisnaya neden olan </a:t>
            </a:r>
            <a:r>
              <a:rPr lang="tr-TR" sz="2800" dirty="0">
                <a:solidFill>
                  <a:srgbClr val="FFFF00"/>
                </a:solidFill>
              </a:rPr>
              <a:t>yöntemin</a:t>
            </a:r>
            <a:r>
              <a:rPr lang="tr-TR" sz="2800" dirty="0"/>
              <a:t> </a:t>
            </a:r>
            <a:r>
              <a:rPr lang="tr-TR" sz="2800" dirty="0">
                <a:solidFill>
                  <a:srgbClr val="FFFF00"/>
                </a:solidFill>
              </a:rPr>
              <a:t>ismini</a:t>
            </a:r>
            <a:r>
              <a:rPr lang="tr-TR" sz="2800" dirty="0"/>
              <a:t>, </a:t>
            </a:r>
            <a:r>
              <a:rPr lang="tr-TR" sz="2800" dirty="0">
                <a:solidFill>
                  <a:srgbClr val="FFFF00"/>
                </a:solidFill>
              </a:rPr>
              <a:t>dosya</a:t>
            </a:r>
            <a:r>
              <a:rPr lang="tr-TR" sz="2800" dirty="0"/>
              <a:t> </a:t>
            </a:r>
            <a:r>
              <a:rPr lang="tr-TR" sz="2800" dirty="0">
                <a:solidFill>
                  <a:srgbClr val="FFFF00"/>
                </a:solidFill>
              </a:rPr>
              <a:t>ismini</a:t>
            </a:r>
            <a:r>
              <a:rPr lang="tr-TR" sz="2800" dirty="0"/>
              <a:t> ve istisnanın hangi program </a:t>
            </a:r>
            <a:r>
              <a:rPr lang="tr-TR" sz="2800" dirty="0">
                <a:solidFill>
                  <a:srgbClr val="FFFF00"/>
                </a:solidFill>
              </a:rPr>
              <a:t>satırında</a:t>
            </a:r>
            <a:r>
              <a:rPr lang="tr-TR" sz="2800" dirty="0"/>
              <a:t> oluştuğunu bildiren bilgiler barındırır </a:t>
            </a:r>
          </a:p>
          <a:p>
            <a:pPr lvl="1"/>
            <a:r>
              <a:rPr lang="tr-TR" dirty="0">
                <a:solidFill>
                  <a:srgbClr val="FFFF00"/>
                </a:solidFill>
              </a:rPr>
              <a:t>Message:</a:t>
            </a:r>
          </a:p>
          <a:p>
            <a:pPr lvl="2">
              <a:buClr>
                <a:srgbClr val="A3C145"/>
              </a:buClr>
            </a:pPr>
            <a:r>
              <a:rPr lang="tr-TR" sz="2800" dirty="0">
                <a:solidFill>
                  <a:srgbClr val="FFFFFF"/>
                </a:solidFill>
              </a:rPr>
              <a:t>Bu özellik </a:t>
            </a:r>
            <a:r>
              <a:rPr lang="tr-TR" sz="2800" dirty="0" err="1">
                <a:solidFill>
                  <a:srgbClr val="FFFFFF"/>
                </a:solidFill>
              </a:rPr>
              <a:t>string</a:t>
            </a:r>
            <a:r>
              <a:rPr lang="tr-TR" sz="2800" dirty="0">
                <a:solidFill>
                  <a:srgbClr val="FFFFFF"/>
                </a:solidFill>
              </a:rPr>
              <a:t> türündedir  ve </a:t>
            </a:r>
            <a:r>
              <a:rPr lang="tr-TR" sz="2800" dirty="0">
                <a:solidFill>
                  <a:srgbClr val="FFFF00"/>
                </a:solidFill>
              </a:rPr>
              <a:t>istisnanın kaynağını </a:t>
            </a:r>
            <a:r>
              <a:rPr lang="tr-TR" sz="2800" dirty="0">
                <a:solidFill>
                  <a:srgbClr val="FFFFFF"/>
                </a:solidFill>
              </a:rPr>
              <a:t>açıklar. Eğer güvenli bir uygulama yazıyorsanız, uygulama güvenliğini açığa düşürecek bir açıklama yazmayınız (</a:t>
            </a:r>
            <a:r>
              <a:rPr lang="tr-TR" sz="2800" dirty="0" err="1">
                <a:solidFill>
                  <a:srgbClr val="FFFFFF"/>
                </a:solidFill>
              </a:rPr>
              <a:t>örn</a:t>
            </a:r>
            <a:r>
              <a:rPr lang="tr-TR" sz="2800" dirty="0">
                <a:solidFill>
                  <a:srgbClr val="FFFFFF"/>
                </a:solidFill>
              </a:rPr>
              <a:t>. "şifre 6 harfli olmalı" gibi)</a:t>
            </a:r>
          </a:p>
          <a:p>
            <a:pPr lvl="2"/>
            <a:endParaRPr lang="tr-TR" sz="1600" dirty="0">
              <a:solidFill>
                <a:srgbClr val="FFFF00"/>
              </a:solidFill>
            </a:endParaRPr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627485632"/>
      </p:ext>
    </p:extLst>
  </p:cSld>
  <p:clrMapOvr>
    <a:masterClrMapping/>
  </p:clrMapOvr>
  <p:transition spd="med" advClick="0" advTm="1000">
    <p:spli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/>
              <a:t>İstisna Sınıfı Oluşturma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12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0" y="917158"/>
            <a:ext cx="4871545" cy="3139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using System;</a:t>
            </a:r>
          </a:p>
          <a:p>
            <a:r>
              <a:rPr lang="en-US" dirty="0">
                <a:solidFill>
                  <a:srgbClr val="FFFF00"/>
                </a:solidFill>
              </a:rPr>
              <a:t>namespace </a:t>
            </a:r>
            <a:r>
              <a:rPr lang="en-US" dirty="0" err="1">
                <a:solidFill>
                  <a:srgbClr val="FFFF00"/>
                </a:solidFill>
              </a:rPr>
              <a:t>IstisnaSinifiOlusturma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{</a:t>
            </a:r>
          </a:p>
          <a:p>
            <a:r>
              <a:rPr lang="en-US" dirty="0">
                <a:solidFill>
                  <a:srgbClr val="FFFF00"/>
                </a:solidFill>
              </a:rPr>
              <a:t>    class </a:t>
            </a:r>
            <a:r>
              <a:rPr lang="en-US" dirty="0" err="1">
                <a:solidFill>
                  <a:srgbClr val="FFFF00"/>
                </a:solidFill>
              </a:rPr>
              <a:t>MyException</a:t>
            </a:r>
            <a:r>
              <a:rPr lang="en-US" dirty="0">
                <a:solidFill>
                  <a:srgbClr val="FFFF00"/>
                </a:solidFill>
              </a:rPr>
              <a:t> : Exception</a:t>
            </a:r>
          </a:p>
          <a:p>
            <a:r>
              <a:rPr lang="en-US" dirty="0">
                <a:solidFill>
                  <a:srgbClr val="FFFF00"/>
                </a:solidFill>
              </a:rPr>
              <a:t>    {</a:t>
            </a:r>
          </a:p>
          <a:p>
            <a:r>
              <a:rPr lang="en-US" dirty="0">
                <a:solidFill>
                  <a:srgbClr val="FFFF00"/>
                </a:solidFill>
              </a:rPr>
              <a:t>        public </a:t>
            </a:r>
            <a:r>
              <a:rPr lang="en-US" dirty="0" err="1">
                <a:solidFill>
                  <a:srgbClr val="FFFF00"/>
                </a:solidFill>
              </a:rPr>
              <a:t>MyException</a:t>
            </a:r>
            <a:r>
              <a:rPr lang="en-US" dirty="0">
                <a:solidFill>
                  <a:srgbClr val="FFFF00"/>
                </a:solidFill>
              </a:rPr>
              <a:t>(string message)</a:t>
            </a:r>
          </a:p>
          <a:p>
            <a:r>
              <a:rPr lang="en-US" dirty="0">
                <a:solidFill>
                  <a:srgbClr val="FFFF00"/>
                </a:solidFill>
              </a:rPr>
              <a:t>        {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en-US" dirty="0" err="1">
                <a:solidFill>
                  <a:srgbClr val="FFFF00"/>
                </a:solidFill>
              </a:rPr>
              <a:t>Console.WriteLine</a:t>
            </a:r>
            <a:r>
              <a:rPr lang="en-US" dirty="0">
                <a:solidFill>
                  <a:srgbClr val="FFFF00"/>
                </a:solidFill>
              </a:rPr>
              <a:t>(message);</a:t>
            </a:r>
          </a:p>
          <a:p>
            <a:r>
              <a:rPr lang="en-US" dirty="0">
                <a:solidFill>
                  <a:srgbClr val="FFFF00"/>
                </a:solidFill>
              </a:rPr>
              <a:t>        }</a:t>
            </a:r>
          </a:p>
          <a:p>
            <a:r>
              <a:rPr lang="en-US" dirty="0">
                <a:solidFill>
                  <a:srgbClr val="FFFF00"/>
                </a:solidFill>
              </a:rPr>
              <a:t>    }</a:t>
            </a:r>
          </a:p>
          <a:p>
            <a:r>
              <a:rPr lang="en-US" dirty="0">
                <a:solidFill>
                  <a:srgbClr val="FFFF00"/>
                </a:solidFill>
              </a:rPr>
              <a:t>    </a:t>
            </a:r>
          </a:p>
        </p:txBody>
      </p:sp>
      <p:sp>
        <p:nvSpPr>
          <p:cNvPr id="6" name="Dikdörtgen 5"/>
          <p:cNvSpPr/>
          <p:nvPr/>
        </p:nvSpPr>
        <p:spPr>
          <a:xfrm>
            <a:off x="4919091" y="932925"/>
            <a:ext cx="7062701" cy="5355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   class Program{</a:t>
            </a:r>
          </a:p>
          <a:p>
            <a:r>
              <a:rPr lang="en-US" dirty="0">
                <a:solidFill>
                  <a:srgbClr val="FFFF00"/>
                </a:solidFill>
              </a:rPr>
              <a:t>        static void Main(){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en-US" dirty="0" err="1">
                <a:solidFill>
                  <a:srgbClr val="FFFF00"/>
                </a:solidFill>
              </a:rPr>
              <a:t>TestCatch</a:t>
            </a:r>
            <a:r>
              <a:rPr lang="en-US" dirty="0">
                <a:solidFill>
                  <a:srgbClr val="FFFF00"/>
                </a:solidFill>
              </a:rPr>
              <a:t>();</a:t>
            </a:r>
          </a:p>
          <a:p>
            <a:r>
              <a:rPr lang="en-US" dirty="0">
                <a:solidFill>
                  <a:srgbClr val="FFFF00"/>
                </a:solidFill>
              </a:rPr>
              <a:t>        }</a:t>
            </a:r>
          </a:p>
          <a:p>
            <a:r>
              <a:rPr lang="en-US" dirty="0">
                <a:solidFill>
                  <a:srgbClr val="FFFF00"/>
                </a:solidFill>
              </a:rPr>
              <a:t>        private static void Test(){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 err="1">
                <a:solidFill>
                  <a:srgbClr val="FFFF00"/>
                </a:solidFill>
              </a:rPr>
              <a:t>MyException</a:t>
            </a:r>
            <a:r>
              <a:rPr lang="en-US" dirty="0">
                <a:solidFill>
                  <a:srgbClr val="FFFF00"/>
                </a:solidFill>
              </a:rPr>
              <a:t> ex = new </a:t>
            </a:r>
            <a:endParaRPr lang="tr-TR" dirty="0">
              <a:solidFill>
                <a:srgbClr val="FFFF00"/>
              </a:solidFill>
            </a:endParaRPr>
          </a:p>
          <a:p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 err="1">
                <a:solidFill>
                  <a:srgbClr val="FFFF00"/>
                </a:solidFill>
              </a:rPr>
              <a:t>MyException</a:t>
            </a:r>
            <a:r>
              <a:rPr lang="en-US" dirty="0">
                <a:solidFill>
                  <a:srgbClr val="FFFF00"/>
                </a:solidFill>
              </a:rPr>
              <a:t>("Test </a:t>
            </a:r>
            <a:r>
              <a:rPr lang="en-US" dirty="0" err="1">
                <a:solidFill>
                  <a:srgbClr val="FFFF00"/>
                </a:solidFill>
              </a:rPr>
              <a:t>yönteminde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istisna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oluştu</a:t>
            </a:r>
            <a:r>
              <a:rPr lang="en-US" dirty="0">
                <a:solidFill>
                  <a:srgbClr val="FFFF00"/>
                </a:solidFill>
              </a:rPr>
              <a:t>");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throw ex;</a:t>
            </a:r>
          </a:p>
          <a:p>
            <a:r>
              <a:rPr lang="en-US" dirty="0">
                <a:solidFill>
                  <a:srgbClr val="FFFF00"/>
                </a:solidFill>
              </a:rPr>
              <a:t>        }</a:t>
            </a:r>
          </a:p>
          <a:p>
            <a:r>
              <a:rPr lang="en-US" dirty="0">
                <a:solidFill>
                  <a:srgbClr val="FFFF00"/>
                </a:solidFill>
              </a:rPr>
              <a:t>        static void </a:t>
            </a:r>
            <a:r>
              <a:rPr lang="en-US" dirty="0" err="1">
                <a:solidFill>
                  <a:srgbClr val="FFFF00"/>
                </a:solidFill>
              </a:rPr>
              <a:t>TestCatch</a:t>
            </a:r>
            <a:r>
              <a:rPr lang="en-US" dirty="0">
                <a:solidFill>
                  <a:srgbClr val="FFFF00"/>
                </a:solidFill>
              </a:rPr>
              <a:t>(){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try{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Test();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}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catch (</a:t>
            </a:r>
            <a:r>
              <a:rPr lang="en-US" dirty="0" err="1">
                <a:solidFill>
                  <a:srgbClr val="FFFF00"/>
                </a:solidFill>
              </a:rPr>
              <a:t>MyException</a:t>
            </a:r>
            <a:r>
              <a:rPr lang="en-US" dirty="0">
                <a:solidFill>
                  <a:srgbClr val="FFFF00"/>
                </a:solidFill>
              </a:rPr>
              <a:t> ex){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 err="1">
                <a:solidFill>
                  <a:srgbClr val="FFFF00"/>
                </a:solidFill>
              </a:rPr>
              <a:t>System.Console.WriteLine</a:t>
            </a:r>
            <a:r>
              <a:rPr lang="en-US" dirty="0">
                <a:solidFill>
                  <a:srgbClr val="FFFF00"/>
                </a:solidFill>
              </a:rPr>
              <a:t>(</a:t>
            </a:r>
            <a:r>
              <a:rPr lang="en-US" dirty="0" err="1">
                <a:solidFill>
                  <a:srgbClr val="FFFF00"/>
                </a:solidFill>
              </a:rPr>
              <a:t>ex.ToString</a:t>
            </a:r>
            <a:r>
              <a:rPr lang="en-US" dirty="0">
                <a:solidFill>
                  <a:srgbClr val="FFFF00"/>
                </a:solidFill>
              </a:rPr>
              <a:t>());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}</a:t>
            </a:r>
          </a:p>
          <a:p>
            <a:r>
              <a:rPr lang="en-US" dirty="0">
                <a:solidFill>
                  <a:srgbClr val="FFFF00"/>
                </a:solidFill>
              </a:rPr>
              <a:t>        }</a:t>
            </a:r>
          </a:p>
          <a:p>
            <a:r>
              <a:rPr lang="en-US" dirty="0">
                <a:solidFill>
                  <a:srgbClr val="FFFF00"/>
                </a:solidFill>
              </a:rPr>
              <a:t>    }</a:t>
            </a:r>
          </a:p>
          <a:p>
            <a:r>
              <a:rPr lang="en-US" dirty="0">
                <a:solidFill>
                  <a:srgbClr val="FFFF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0977153"/>
      </p:ext>
    </p:extLst>
  </p:cSld>
  <p:clrMapOvr>
    <a:masterClrMapping/>
  </p:clrMapOvr>
  <p:transition spd="med" advClick="0" advTm="1000">
    <p:spli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18454" y="163795"/>
            <a:ext cx="11387667" cy="862598"/>
          </a:xfrm>
        </p:spPr>
        <p:txBody>
          <a:bodyPr/>
          <a:lstStyle/>
          <a:p>
            <a:r>
              <a:rPr lang="tr-TR" dirty="0"/>
              <a:t>İstisna: Try-Catch-</a:t>
            </a:r>
            <a:r>
              <a:rPr lang="tr-TR" dirty="0" err="1"/>
              <a:t>Finally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13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4775251" cy="5199529"/>
          </a:xfrm>
        </p:spPr>
        <p:txBody>
          <a:bodyPr/>
          <a:lstStyle/>
          <a:p>
            <a:r>
              <a:rPr lang="tr-TR" sz="2000" dirty="0" err="1">
                <a:solidFill>
                  <a:srgbClr val="FFFF00"/>
                </a:solidFill>
              </a:rPr>
              <a:t>try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tr-TR" sz="2000" dirty="0"/>
              <a:t>ifadesi birden fazla </a:t>
            </a:r>
            <a:r>
              <a:rPr lang="tr-TR" sz="2000" dirty="0">
                <a:solidFill>
                  <a:srgbClr val="FFFF00"/>
                </a:solidFill>
              </a:rPr>
              <a:t>catch</a:t>
            </a:r>
            <a:r>
              <a:rPr lang="tr-TR" sz="2000" dirty="0"/>
              <a:t> ifadesi ile kullanılabilir.</a:t>
            </a:r>
          </a:p>
          <a:p>
            <a:r>
              <a:rPr lang="tr-TR" sz="2000" dirty="0"/>
              <a:t>İstisna şartlarını sağlayan ilk </a:t>
            </a:r>
            <a:r>
              <a:rPr lang="tr-TR" sz="2000" dirty="0">
                <a:solidFill>
                  <a:srgbClr val="FFFF00"/>
                </a:solidFill>
              </a:rPr>
              <a:t>catch</a:t>
            </a:r>
            <a:r>
              <a:rPr lang="tr-TR" sz="2000" dirty="0"/>
              <a:t> bloğu çalıştırılır. Eğer şartları sağlayan başka </a:t>
            </a:r>
            <a:r>
              <a:rPr lang="tr-TR" sz="2000" dirty="0">
                <a:solidFill>
                  <a:srgbClr val="FFFF00"/>
                </a:solidFill>
              </a:rPr>
              <a:t>catch</a:t>
            </a:r>
            <a:r>
              <a:rPr lang="tr-TR" sz="2000" dirty="0"/>
              <a:t> blokları varsa dikkate alınmazlar.</a:t>
            </a:r>
          </a:p>
          <a:p>
            <a:r>
              <a:rPr lang="tr-TR" sz="2000" dirty="0" err="1">
                <a:solidFill>
                  <a:srgbClr val="FFFF00"/>
                </a:solidFill>
              </a:rPr>
              <a:t>try</a:t>
            </a:r>
            <a:r>
              <a:rPr lang="tr-TR" sz="2000" dirty="0"/>
              <a:t> ifadeniz birden fazla catch bloklarına sahip ise "</a:t>
            </a:r>
            <a:r>
              <a:rPr lang="tr-TR" sz="2000" dirty="0">
                <a:solidFill>
                  <a:srgbClr val="FFFF00"/>
                </a:solidFill>
              </a:rPr>
              <a:t>daha özelden daha genele</a:t>
            </a:r>
            <a:r>
              <a:rPr lang="tr-TR" sz="2000" dirty="0"/>
              <a:t>" olacak şekilde tasarlanmalıdırlar. </a:t>
            </a:r>
          </a:p>
          <a:p>
            <a:r>
              <a:rPr lang="tr-TR" sz="2000" dirty="0" err="1">
                <a:solidFill>
                  <a:srgbClr val="FFFF00"/>
                </a:solidFill>
              </a:rPr>
              <a:t>finally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tr-TR" sz="2000" dirty="0"/>
              <a:t>bloğu da </a:t>
            </a:r>
            <a:r>
              <a:rPr lang="tr-TR" sz="2000" dirty="0" err="1">
                <a:solidFill>
                  <a:srgbClr val="FFFF00"/>
                </a:solidFill>
              </a:rPr>
              <a:t>try</a:t>
            </a:r>
            <a:r>
              <a:rPr lang="tr-TR" sz="2000" dirty="0"/>
              <a:t> bloğu gibi en fazla bir adet olabilir ve istisna oluştuğunda mutlaka çalışır</a:t>
            </a:r>
          </a:p>
          <a:p>
            <a:r>
              <a:rPr lang="tr-TR" sz="2000" dirty="0" err="1">
                <a:solidFill>
                  <a:srgbClr val="FFFF00"/>
                </a:solidFill>
              </a:rPr>
              <a:t>finally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tr-TR" sz="2000" dirty="0"/>
              <a:t>programcının </a:t>
            </a:r>
            <a:r>
              <a:rPr lang="tr-TR" sz="2000" dirty="0" err="1"/>
              <a:t>try</a:t>
            </a:r>
            <a:r>
              <a:rPr lang="tr-TR" sz="2000" dirty="0"/>
              <a:t> bloğundan arta kalan artıkları temizlemesine ve istisnayı oluşturan durumu ortadan kaldırmaya çalışır . Çöp toplayıcısının çevrimini beklemeden işlemleri gerçekleştirir 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9" name="Dikdörtgen 8"/>
          <p:cNvSpPr/>
          <p:nvPr/>
        </p:nvSpPr>
        <p:spPr>
          <a:xfrm>
            <a:off x="5113283" y="1046481"/>
            <a:ext cx="6616262" cy="53245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static void </a:t>
            </a:r>
            <a:r>
              <a:rPr lang="en-US" sz="2000" dirty="0" err="1">
                <a:solidFill>
                  <a:srgbClr val="FFFF00"/>
                </a:solidFill>
              </a:rPr>
              <a:t>TestCatch</a:t>
            </a:r>
            <a:r>
              <a:rPr lang="tr-TR" sz="2000" dirty="0">
                <a:solidFill>
                  <a:srgbClr val="FFFF00"/>
                </a:solidFill>
              </a:rPr>
              <a:t>es</a:t>
            </a:r>
            <a:r>
              <a:rPr lang="en-US" sz="2000" dirty="0">
                <a:solidFill>
                  <a:srgbClr val="FFFF00"/>
                </a:solidFill>
              </a:rPr>
              <a:t>()</a:t>
            </a:r>
          </a:p>
          <a:p>
            <a:r>
              <a:rPr lang="en-US" sz="2000" dirty="0">
                <a:solidFill>
                  <a:srgbClr val="FFFF00"/>
                </a:solidFill>
              </a:rPr>
              <a:t>{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</a:t>
            </a:r>
            <a:r>
              <a:rPr lang="en-US" sz="2000" dirty="0" err="1">
                <a:solidFill>
                  <a:srgbClr val="FFFF00"/>
                </a:solidFill>
              </a:rPr>
              <a:t>System.IO.StreamWriter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sw</a:t>
            </a:r>
            <a:r>
              <a:rPr lang="en-US" sz="2000" dirty="0">
                <a:solidFill>
                  <a:srgbClr val="FFFF00"/>
                </a:solidFill>
              </a:rPr>
              <a:t> = null;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try  {</a:t>
            </a:r>
            <a:r>
              <a:rPr lang="tr-TR" sz="2000" dirty="0">
                <a:solidFill>
                  <a:srgbClr val="FFFF00"/>
                </a:solidFill>
              </a:rPr>
              <a:t>    </a:t>
            </a:r>
            <a:r>
              <a:rPr lang="tr-TR" sz="2000" dirty="0">
                <a:solidFill>
                  <a:schemeClr val="tx1"/>
                </a:solidFill>
              </a:rPr>
              <a:t>//Aşağıdaki dosya diskte mevcut değil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        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sw</a:t>
            </a:r>
            <a:r>
              <a:rPr lang="en-US" sz="2000" dirty="0">
                <a:solidFill>
                  <a:srgbClr val="FFFF00"/>
                </a:solidFill>
              </a:rPr>
              <a:t> = new </a:t>
            </a:r>
            <a:r>
              <a:rPr lang="en-US" sz="2000" dirty="0" err="1">
                <a:solidFill>
                  <a:srgbClr val="FFFF00"/>
                </a:solidFill>
              </a:rPr>
              <a:t>System.IO.StreamWriter</a:t>
            </a:r>
            <a:r>
              <a:rPr lang="en-US" sz="2000" dirty="0">
                <a:solidFill>
                  <a:srgbClr val="FFFF00"/>
                </a:solidFill>
              </a:rPr>
              <a:t>(@"C:\test\test.txt");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    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sw.WriteLine</a:t>
            </a:r>
            <a:r>
              <a:rPr lang="en-US" sz="2000" dirty="0">
                <a:solidFill>
                  <a:srgbClr val="FFFF00"/>
                </a:solidFill>
              </a:rPr>
              <a:t>("Hello");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}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catch (</a:t>
            </a:r>
            <a:r>
              <a:rPr lang="en-US" sz="2000" dirty="0" err="1">
                <a:solidFill>
                  <a:srgbClr val="FFFF00"/>
                </a:solidFill>
              </a:rPr>
              <a:t>System.IO.FileNotFoundException</a:t>
            </a:r>
            <a:r>
              <a:rPr lang="en-US" sz="2000" dirty="0">
                <a:solidFill>
                  <a:srgbClr val="FFFF00"/>
                </a:solidFill>
              </a:rPr>
              <a:t> ex){</a:t>
            </a:r>
            <a:r>
              <a:rPr lang="tr-TR" sz="2000" dirty="0">
                <a:solidFill>
                  <a:srgbClr val="FFFF00"/>
                </a:solidFill>
              </a:rPr>
              <a:t>  </a:t>
            </a:r>
            <a:r>
              <a:rPr lang="tr-TR" sz="2000" dirty="0">
                <a:solidFill>
                  <a:schemeClr val="tx1"/>
                </a:solidFill>
              </a:rPr>
              <a:t>//daha özel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tr-TR" sz="2000" dirty="0">
                <a:solidFill>
                  <a:srgbClr val="FFFF00"/>
                </a:solidFill>
              </a:rPr>
              <a:t>          </a:t>
            </a:r>
            <a:r>
              <a:rPr lang="en-US" sz="2000" dirty="0" err="1">
                <a:solidFill>
                  <a:srgbClr val="FFFF00"/>
                </a:solidFill>
              </a:rPr>
              <a:t>System.Console.WriteLine</a:t>
            </a:r>
            <a:r>
              <a:rPr lang="en-US" sz="2000" dirty="0">
                <a:solidFill>
                  <a:srgbClr val="FFFF00"/>
                </a:solidFill>
              </a:rPr>
              <a:t>(</a:t>
            </a:r>
            <a:r>
              <a:rPr lang="en-US" sz="2000" dirty="0" err="1">
                <a:solidFill>
                  <a:srgbClr val="FFFF00"/>
                </a:solidFill>
              </a:rPr>
              <a:t>ex.ToString</a:t>
            </a:r>
            <a:r>
              <a:rPr lang="en-US" sz="2000" dirty="0">
                <a:solidFill>
                  <a:srgbClr val="FFFF00"/>
                </a:solidFill>
              </a:rPr>
              <a:t>());  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}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catch (</a:t>
            </a:r>
            <a:r>
              <a:rPr lang="en-US" sz="2000" dirty="0" err="1">
                <a:solidFill>
                  <a:srgbClr val="FFFF00"/>
                </a:solidFill>
              </a:rPr>
              <a:t>System.IO.IOException</a:t>
            </a:r>
            <a:r>
              <a:rPr lang="en-US" sz="2000" dirty="0">
                <a:solidFill>
                  <a:srgbClr val="FFFF00"/>
                </a:solidFill>
              </a:rPr>
              <a:t> ex){</a:t>
            </a:r>
            <a:r>
              <a:rPr lang="tr-TR" sz="2000" dirty="0">
                <a:solidFill>
                  <a:srgbClr val="FFFF00"/>
                </a:solidFill>
              </a:rPr>
              <a:t>                     </a:t>
            </a:r>
            <a:r>
              <a:rPr lang="tr-TR" sz="2000" dirty="0">
                <a:solidFill>
                  <a:schemeClr val="tx1"/>
                </a:solidFill>
              </a:rPr>
              <a:t>//daha genel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        </a:t>
            </a:r>
            <a:r>
              <a:rPr lang="tr-TR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System.Console.WriteLine</a:t>
            </a:r>
            <a:r>
              <a:rPr lang="en-US" sz="2000" dirty="0">
                <a:solidFill>
                  <a:srgbClr val="FFFF00"/>
                </a:solidFill>
              </a:rPr>
              <a:t>(</a:t>
            </a:r>
            <a:r>
              <a:rPr lang="en-US" sz="2000" dirty="0" err="1">
                <a:solidFill>
                  <a:srgbClr val="FFFF00"/>
                </a:solidFill>
              </a:rPr>
              <a:t>ex.ToString</a:t>
            </a:r>
            <a:r>
              <a:rPr lang="en-US" sz="2000" dirty="0">
                <a:solidFill>
                  <a:srgbClr val="FFFF00"/>
                </a:solidFill>
              </a:rPr>
              <a:t>());  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}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finally {</a:t>
            </a:r>
          </a:p>
          <a:p>
            <a:r>
              <a:rPr lang="en-US" sz="2000" dirty="0">
                <a:solidFill>
                  <a:srgbClr val="FFFF00"/>
                </a:solidFill>
              </a:rPr>
              <a:t>        </a:t>
            </a:r>
            <a:r>
              <a:rPr lang="tr-TR" sz="2000" dirty="0">
                <a:solidFill>
                  <a:srgbClr val="FFFF00"/>
                </a:solidFill>
              </a:rPr>
              <a:t>  </a:t>
            </a:r>
            <a:r>
              <a:rPr lang="en-US" sz="2000" dirty="0" err="1">
                <a:solidFill>
                  <a:srgbClr val="FFFF00"/>
                </a:solidFill>
              </a:rPr>
              <a:t>sw.Close</a:t>
            </a:r>
            <a:r>
              <a:rPr lang="en-US" sz="2000" dirty="0">
                <a:solidFill>
                  <a:srgbClr val="FFFF00"/>
                </a:solidFill>
              </a:rPr>
              <a:t>();</a:t>
            </a:r>
            <a:r>
              <a:rPr lang="tr-TR" sz="2000" dirty="0">
                <a:solidFill>
                  <a:srgbClr val="FFFF00"/>
                </a:solidFill>
              </a:rPr>
              <a:t> 		</a:t>
            </a:r>
            <a:r>
              <a:rPr lang="tr-TR" sz="2000" dirty="0">
                <a:solidFill>
                  <a:schemeClr val="tx1"/>
                </a:solidFill>
              </a:rPr>
              <a:t>//her durumda dosyayı kapat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    } </a:t>
            </a:r>
          </a:p>
          <a:p>
            <a:r>
              <a:rPr lang="en-US" sz="2000" dirty="0">
                <a:solidFill>
                  <a:srgbClr val="FFFF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6411216"/>
      </p:ext>
    </p:extLst>
  </p:cSld>
  <p:clrMapOvr>
    <a:masterClrMapping/>
  </p:clrMapOvr>
  <p:transition spd="med" advClick="0" advTm="1000"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454401" y="0"/>
            <a:ext cx="6313714" cy="688427"/>
          </a:xfrm>
        </p:spPr>
        <p:txBody>
          <a:bodyPr/>
          <a:lstStyle/>
          <a:p>
            <a:r>
              <a:rPr lang="tr-TR" dirty="0"/>
              <a:t>İstisna: Try-Catch-</a:t>
            </a:r>
            <a:r>
              <a:rPr lang="tr-TR" dirty="0" err="1"/>
              <a:t>Finally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14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3608603" cy="5199529"/>
          </a:xfrm>
        </p:spPr>
        <p:txBody>
          <a:bodyPr/>
          <a:lstStyle/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9" name="Dikdörtgen 8"/>
          <p:cNvSpPr/>
          <p:nvPr/>
        </p:nvSpPr>
        <p:spPr>
          <a:xfrm>
            <a:off x="4417348" y="802991"/>
            <a:ext cx="7136023" cy="5632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static void </a:t>
            </a:r>
            <a:r>
              <a:rPr lang="en-US" dirty="0" err="1">
                <a:solidFill>
                  <a:srgbClr val="FFFF00"/>
                </a:solidFill>
              </a:rPr>
              <a:t>TestFinally</a:t>
            </a:r>
            <a:r>
              <a:rPr lang="en-US" dirty="0">
                <a:solidFill>
                  <a:srgbClr val="FFFF00"/>
                </a:solidFill>
              </a:rPr>
              <a:t>()</a:t>
            </a:r>
          </a:p>
          <a:p>
            <a:r>
              <a:rPr lang="en-US" dirty="0">
                <a:solidFill>
                  <a:srgbClr val="FFFF00"/>
                </a:solidFill>
              </a:rPr>
              <a:t>{</a:t>
            </a:r>
          </a:p>
          <a:p>
            <a:r>
              <a:rPr lang="en-US" dirty="0">
                <a:solidFill>
                  <a:srgbClr val="FFFF00"/>
                </a:solidFill>
              </a:rPr>
              <a:t>    </a:t>
            </a:r>
            <a:r>
              <a:rPr lang="en-US" dirty="0" err="1">
                <a:solidFill>
                  <a:srgbClr val="FFFF00"/>
                </a:solidFill>
              </a:rPr>
              <a:t>System.IO.FileStream</a:t>
            </a:r>
            <a:r>
              <a:rPr lang="en-US" dirty="0">
                <a:solidFill>
                  <a:srgbClr val="FFFF00"/>
                </a:solidFill>
              </a:rPr>
              <a:t> file = null;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//Aşağıdaki dosya kök dizinde bulunmalı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tr-TR" dirty="0">
                <a:solidFill>
                  <a:srgbClr val="FFFF00"/>
                </a:solidFill>
              </a:rPr>
              <a:t>    </a:t>
            </a:r>
            <a:r>
              <a:rPr lang="en-US" dirty="0" err="1">
                <a:solidFill>
                  <a:srgbClr val="FFFF00"/>
                </a:solidFill>
              </a:rPr>
              <a:t>System.IO.FileInfo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fileInfo</a:t>
            </a:r>
            <a:r>
              <a:rPr lang="en-US" dirty="0">
                <a:solidFill>
                  <a:srgbClr val="FFFF00"/>
                </a:solidFill>
              </a:rPr>
              <a:t> = new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System.IO.FileInfo</a:t>
            </a:r>
            <a:r>
              <a:rPr lang="en-US" dirty="0">
                <a:solidFill>
                  <a:srgbClr val="FFFF00"/>
                </a:solidFill>
              </a:rPr>
              <a:t>(@"C:\file.txt");</a:t>
            </a:r>
          </a:p>
          <a:p>
            <a:r>
              <a:rPr lang="en-US" dirty="0">
                <a:solidFill>
                  <a:srgbClr val="FFFF00"/>
                </a:solidFill>
              </a:rPr>
              <a:t>    try{</a:t>
            </a:r>
          </a:p>
          <a:p>
            <a:r>
              <a:rPr lang="en-US" dirty="0">
                <a:solidFill>
                  <a:srgbClr val="FFFF00"/>
                </a:solidFill>
              </a:rPr>
              <a:t>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file = </a:t>
            </a:r>
            <a:r>
              <a:rPr lang="en-US" dirty="0" err="1">
                <a:solidFill>
                  <a:srgbClr val="FFFF00"/>
                </a:solidFill>
              </a:rPr>
              <a:t>fileInfo.OpenWrite</a:t>
            </a:r>
            <a:r>
              <a:rPr lang="en-US" dirty="0">
                <a:solidFill>
                  <a:srgbClr val="FFFF00"/>
                </a:solidFill>
              </a:rPr>
              <a:t>();</a:t>
            </a:r>
          </a:p>
          <a:p>
            <a:r>
              <a:rPr lang="en-US" dirty="0">
                <a:solidFill>
                  <a:srgbClr val="FFFF00"/>
                </a:solidFill>
              </a:rPr>
              <a:t>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file.WriteByte</a:t>
            </a:r>
            <a:r>
              <a:rPr lang="en-US" dirty="0">
                <a:solidFill>
                  <a:srgbClr val="FFFF00"/>
                </a:solidFill>
              </a:rPr>
              <a:t>(0xF);</a:t>
            </a:r>
            <a:r>
              <a:rPr lang="tr-TR" dirty="0">
                <a:solidFill>
                  <a:srgbClr val="FFFF00"/>
                </a:solidFill>
              </a:rPr>
              <a:t>  	</a:t>
            </a:r>
            <a:r>
              <a:rPr lang="tr-TR" dirty="0">
                <a:solidFill>
                  <a:schemeClr val="tx1"/>
                </a:solidFill>
              </a:rPr>
              <a:t>//İstisna burada oluşabilir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}</a:t>
            </a:r>
          </a:p>
          <a:p>
            <a:r>
              <a:rPr lang="en-US" dirty="0">
                <a:solidFill>
                  <a:srgbClr val="FFFF00"/>
                </a:solidFill>
              </a:rPr>
              <a:t>    finally{</a:t>
            </a:r>
          </a:p>
          <a:p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if (file != null)</a:t>
            </a:r>
          </a:p>
          <a:p>
            <a:r>
              <a:rPr lang="en-US" dirty="0">
                <a:solidFill>
                  <a:srgbClr val="FFFF00"/>
                </a:solidFill>
              </a:rPr>
              <a:t>                 </a:t>
            </a:r>
            <a:r>
              <a:rPr lang="tr-TR" dirty="0">
                <a:solidFill>
                  <a:srgbClr val="FFFF00"/>
                </a:solidFill>
              </a:rPr>
              <a:t>		</a:t>
            </a:r>
            <a:r>
              <a:rPr lang="en-US" dirty="0" err="1">
                <a:solidFill>
                  <a:srgbClr val="FFFF00"/>
                </a:solidFill>
              </a:rPr>
              <a:t>file.Close</a:t>
            </a:r>
            <a:r>
              <a:rPr lang="en-US" dirty="0">
                <a:solidFill>
                  <a:srgbClr val="FFFF00"/>
                </a:solidFill>
              </a:rPr>
              <a:t>();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tr-TR" dirty="0">
                <a:solidFill>
                  <a:schemeClr val="tx1"/>
                </a:solidFill>
              </a:rPr>
              <a:t>//Dosya açık ise kapat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   }</a:t>
            </a:r>
          </a:p>
          <a:p>
            <a:r>
              <a:rPr lang="en-US" dirty="0">
                <a:solidFill>
                  <a:srgbClr val="FFFF00"/>
                </a:solidFill>
              </a:rPr>
              <a:t>    try{</a:t>
            </a:r>
          </a:p>
          <a:p>
            <a:r>
              <a:rPr lang="en-US" dirty="0">
                <a:solidFill>
                  <a:srgbClr val="FFFF00"/>
                </a:solidFill>
              </a:rPr>
              <a:t> 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file = </a:t>
            </a:r>
            <a:r>
              <a:rPr lang="en-US" dirty="0" err="1">
                <a:solidFill>
                  <a:srgbClr val="FFFF00"/>
                </a:solidFill>
              </a:rPr>
              <a:t>fileInfo.OpenWrite</a:t>
            </a:r>
            <a:r>
              <a:rPr lang="en-US" dirty="0">
                <a:solidFill>
                  <a:srgbClr val="FFFF00"/>
                </a:solidFill>
              </a:rPr>
              <a:t>();</a:t>
            </a:r>
          </a:p>
          <a:p>
            <a:r>
              <a:rPr lang="en-US" dirty="0">
                <a:solidFill>
                  <a:srgbClr val="FFFF00"/>
                </a:solidFill>
              </a:rPr>
              <a:t>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System.Console.WriteLine</a:t>
            </a:r>
            <a:r>
              <a:rPr lang="en-US" dirty="0">
                <a:solidFill>
                  <a:srgbClr val="FFFF00"/>
                </a:solidFill>
              </a:rPr>
              <a:t>("</a:t>
            </a:r>
            <a:r>
              <a:rPr lang="en-US" dirty="0" err="1">
                <a:solidFill>
                  <a:srgbClr val="FFFF00"/>
                </a:solidFill>
              </a:rPr>
              <a:t>OpenWrite</a:t>
            </a:r>
            <a:r>
              <a:rPr lang="en-US" dirty="0">
                <a:solidFill>
                  <a:srgbClr val="FFFF00"/>
                </a:solidFill>
              </a:rPr>
              <a:t>() </a:t>
            </a:r>
            <a:r>
              <a:rPr lang="tr-TR" dirty="0">
                <a:solidFill>
                  <a:srgbClr val="FFFF00"/>
                </a:solidFill>
              </a:rPr>
              <a:t>başarılı</a:t>
            </a:r>
            <a:r>
              <a:rPr lang="en-US" dirty="0">
                <a:solidFill>
                  <a:srgbClr val="FFFF00"/>
                </a:solidFill>
              </a:rPr>
              <a:t>");</a:t>
            </a:r>
          </a:p>
          <a:p>
            <a:r>
              <a:rPr lang="en-US" dirty="0">
                <a:solidFill>
                  <a:srgbClr val="FFFF00"/>
                </a:solidFill>
              </a:rPr>
              <a:t>    }</a:t>
            </a:r>
          </a:p>
          <a:p>
            <a:r>
              <a:rPr lang="en-US" dirty="0">
                <a:solidFill>
                  <a:srgbClr val="FFFF00"/>
                </a:solidFill>
              </a:rPr>
              <a:t>    catch (</a:t>
            </a:r>
            <a:r>
              <a:rPr lang="en-US" dirty="0" err="1">
                <a:solidFill>
                  <a:srgbClr val="FFFF00"/>
                </a:solidFill>
              </a:rPr>
              <a:t>System.IO.IOException</a:t>
            </a:r>
            <a:r>
              <a:rPr lang="en-US" dirty="0">
                <a:solidFill>
                  <a:srgbClr val="FFFF00"/>
                </a:solidFill>
              </a:rPr>
              <a:t>){</a:t>
            </a:r>
          </a:p>
          <a:p>
            <a:r>
              <a:rPr lang="en-US" dirty="0">
                <a:solidFill>
                  <a:srgbClr val="FFFF00"/>
                </a:solidFill>
              </a:rPr>
              <a:t>       </a:t>
            </a:r>
            <a:r>
              <a:rPr lang="tr-TR" dirty="0">
                <a:solidFill>
                  <a:srgbClr val="FFFF00"/>
                </a:solidFill>
              </a:rPr>
              <a:t>	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System.Console.WriteLine</a:t>
            </a:r>
            <a:r>
              <a:rPr lang="en-US" dirty="0">
                <a:solidFill>
                  <a:srgbClr val="FFFF00"/>
                </a:solidFill>
              </a:rPr>
              <a:t>("</a:t>
            </a:r>
            <a:r>
              <a:rPr lang="en-US" dirty="0" err="1">
                <a:solidFill>
                  <a:srgbClr val="FFFF00"/>
                </a:solidFill>
              </a:rPr>
              <a:t>OpenWrite</a:t>
            </a:r>
            <a:r>
              <a:rPr lang="en-US" dirty="0">
                <a:solidFill>
                  <a:srgbClr val="FFFF00"/>
                </a:solidFill>
              </a:rPr>
              <a:t>() </a:t>
            </a:r>
            <a:r>
              <a:rPr lang="tr-TR" dirty="0">
                <a:solidFill>
                  <a:srgbClr val="FFFF00"/>
                </a:solidFill>
              </a:rPr>
              <a:t>başarısız</a:t>
            </a:r>
            <a:r>
              <a:rPr lang="en-US" dirty="0">
                <a:solidFill>
                  <a:srgbClr val="FFFF00"/>
                </a:solidFill>
              </a:rPr>
              <a:t>");</a:t>
            </a:r>
          </a:p>
          <a:p>
            <a:r>
              <a:rPr lang="en-US" dirty="0">
                <a:solidFill>
                  <a:srgbClr val="FFFF00"/>
                </a:solidFill>
              </a:rPr>
              <a:t>    }</a:t>
            </a:r>
          </a:p>
          <a:p>
            <a:r>
              <a:rPr lang="en-US" dirty="0">
                <a:solidFill>
                  <a:srgbClr val="FFFF00"/>
                </a:solidFill>
              </a:rPr>
              <a:t>}</a:t>
            </a:r>
          </a:p>
        </p:txBody>
      </p:sp>
      <p:sp>
        <p:nvSpPr>
          <p:cNvPr id="10" name="İçerik Yer Tutucusu 2"/>
          <p:cNvSpPr txBox="1">
            <a:spLocks/>
          </p:cNvSpPr>
          <p:nvPr/>
        </p:nvSpPr>
        <p:spPr bwMode="auto">
          <a:xfrm>
            <a:off x="298742" y="807109"/>
            <a:ext cx="4070057" cy="5651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tr-TR" sz="2400" kern="0" dirty="0"/>
              <a:t>Eğer </a:t>
            </a:r>
            <a:r>
              <a:rPr lang="tr-TR" sz="2400" kern="0" dirty="0" err="1">
                <a:solidFill>
                  <a:srgbClr val="FFFF00"/>
                </a:solidFill>
              </a:rPr>
              <a:t>file.WriteByte</a:t>
            </a:r>
            <a:r>
              <a:rPr lang="tr-TR" sz="2400" kern="0" dirty="0"/>
              <a:t>() yöntemi bir istisna fırlatsaydı ve  </a:t>
            </a:r>
            <a:r>
              <a:rPr lang="tr-TR" sz="2400" kern="0" dirty="0" err="1">
                <a:solidFill>
                  <a:srgbClr val="FFFF00"/>
                </a:solidFill>
              </a:rPr>
              <a:t>finally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içerisindeki </a:t>
            </a:r>
            <a:r>
              <a:rPr lang="tr-TR" sz="2400" kern="0" dirty="0" err="1">
                <a:solidFill>
                  <a:srgbClr val="FFFF00"/>
                </a:solidFill>
              </a:rPr>
              <a:t>file.Close</a:t>
            </a:r>
            <a:r>
              <a:rPr lang="tr-TR" sz="2400" kern="0" dirty="0">
                <a:solidFill>
                  <a:srgbClr val="FFFF00"/>
                </a:solidFill>
              </a:rPr>
              <a:t>() </a:t>
            </a:r>
            <a:r>
              <a:rPr lang="tr-TR" sz="2400" kern="0" dirty="0"/>
              <a:t>çağrılmasaydı ; dosyayı tekrar açmaya çalışan </a:t>
            </a:r>
            <a:r>
              <a:rPr lang="tr-TR" sz="2400" kern="0" dirty="0">
                <a:solidFill>
                  <a:srgbClr val="FFFF00"/>
                </a:solidFill>
              </a:rPr>
              <a:t>2.</a:t>
            </a:r>
            <a:r>
              <a:rPr lang="tr-TR" sz="2400" kern="0" dirty="0"/>
              <a:t> </a:t>
            </a:r>
            <a:r>
              <a:rPr lang="tr-TR" sz="2400" kern="0" dirty="0" err="1">
                <a:solidFill>
                  <a:srgbClr val="FFFF00"/>
                </a:solidFill>
              </a:rPr>
              <a:t>try</a:t>
            </a:r>
            <a:r>
              <a:rPr lang="tr-TR" sz="2400" kern="0" dirty="0"/>
              <a:t> bloğundaki kodlar dosya kilitli kaldığı için başarısız olabilirdi. </a:t>
            </a:r>
          </a:p>
          <a:p>
            <a:r>
              <a:rPr lang="tr-TR" sz="2400" kern="0" dirty="0"/>
              <a:t>İstisna fırlatılsa bile </a:t>
            </a:r>
            <a:r>
              <a:rPr lang="tr-TR" sz="2400" kern="0" dirty="0" err="1">
                <a:solidFill>
                  <a:srgbClr val="FFFF00"/>
                </a:solidFill>
              </a:rPr>
              <a:t>finally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bloğu çalıştırılır. Yandaki örnekte </a:t>
            </a:r>
            <a:r>
              <a:rPr lang="tr-TR" sz="2400" kern="0" dirty="0" err="1">
                <a:solidFill>
                  <a:srgbClr val="FFFF00"/>
                </a:solidFill>
              </a:rPr>
              <a:t>finally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bloğu dosyayı düzgün olarak kapatır ve olası bir hatanın önüne geçer</a:t>
            </a:r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</p:txBody>
      </p:sp>
    </p:spTree>
    <p:extLst>
      <p:ext uri="{BB962C8B-B14F-4D97-AF65-F5344CB8AC3E}">
        <p14:creationId xmlns:p14="http://schemas.microsoft.com/office/powerpoint/2010/main" val="1135311559"/>
      </p:ext>
    </p:extLst>
  </p:cSld>
  <p:clrMapOvr>
    <a:masterClrMapping/>
  </p:clrMapOvr>
  <p:transition spd="med" advClick="0" advTm="1000">
    <p:spli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222172" y="203200"/>
            <a:ext cx="6313714" cy="688427"/>
          </a:xfrm>
        </p:spPr>
        <p:txBody>
          <a:bodyPr/>
          <a:lstStyle/>
          <a:p>
            <a:r>
              <a:rPr lang="tr-TR" dirty="0"/>
              <a:t> Uygun catch bulunamazsa 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15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3608603" cy="5199529"/>
          </a:xfrm>
        </p:spPr>
        <p:txBody>
          <a:bodyPr/>
          <a:lstStyle/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10" name="İçerik Yer Tutucusu 2"/>
          <p:cNvSpPr txBox="1">
            <a:spLocks/>
          </p:cNvSpPr>
          <p:nvPr/>
        </p:nvSpPr>
        <p:spPr bwMode="auto">
          <a:xfrm>
            <a:off x="298742" y="807109"/>
            <a:ext cx="11283658" cy="5651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tr-TR" sz="4000" kern="0" dirty="0"/>
              <a:t>Herhangi bir istisna oluştuğunda, </a:t>
            </a:r>
            <a:r>
              <a:rPr lang="tr-TR" sz="4000" kern="0" dirty="0">
                <a:solidFill>
                  <a:srgbClr val="FFFF00"/>
                </a:solidFill>
              </a:rPr>
              <a:t>uyumlu </a:t>
            </a:r>
            <a:r>
              <a:rPr lang="tr-TR" sz="4000" kern="0" dirty="0"/>
              <a:t>bir catch bulunamazsa aşağıdaki 3 durumdan biri ortaya çıkar: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Eğer istisna, yıkıcı bir yöntemde ise </a:t>
            </a:r>
            <a:r>
              <a:rPr lang="tr-TR" dirty="0">
                <a:solidFill>
                  <a:srgbClr val="FFFF00"/>
                </a:solidFill>
              </a:rPr>
              <a:t>yıkıcı</a:t>
            </a:r>
            <a:r>
              <a:rPr lang="tr-TR" dirty="0"/>
              <a:t> yöntem sonlandırılır ve eğer varsa temel sınıfın yıkıcı yöntemi çağrılır 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Eğer yığın bellekte </a:t>
            </a:r>
            <a:r>
              <a:rPr lang="tr-TR" dirty="0" err="1">
                <a:solidFill>
                  <a:srgbClr val="FFFF00"/>
                </a:solidFill>
              </a:rPr>
              <a:t>static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tr-TR" dirty="0"/>
              <a:t>yapıcı veya </a:t>
            </a:r>
            <a:r>
              <a:rPr lang="tr-TR" dirty="0" err="1">
                <a:solidFill>
                  <a:srgbClr val="FFFF00"/>
                </a:solidFill>
              </a:rPr>
              <a:t>static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tr-TR" dirty="0"/>
              <a:t>alan başlatıcı varsa </a:t>
            </a:r>
            <a:r>
              <a:rPr lang="tr-TR" dirty="0" err="1">
                <a:solidFill>
                  <a:srgbClr val="FFFF00"/>
                </a:solidFill>
              </a:rPr>
              <a:t>TypeInitializationException</a:t>
            </a:r>
            <a:r>
              <a:rPr lang="tr-TR" dirty="0">
                <a:solidFill>
                  <a:srgbClr val="FFFF00"/>
                </a:solidFill>
              </a:rPr>
              <a:t> </a:t>
            </a:r>
            <a:r>
              <a:rPr lang="tr-TR" dirty="0"/>
              <a:t>fırlatılır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Eğer işlem parçacığının (</a:t>
            </a:r>
            <a:r>
              <a:rPr lang="tr-TR" dirty="0" err="1">
                <a:solidFill>
                  <a:srgbClr val="FFFF00"/>
                </a:solidFill>
              </a:rPr>
              <a:t>thread</a:t>
            </a:r>
            <a:r>
              <a:rPr lang="tr-TR" dirty="0"/>
              <a:t>) başlangıcına erişildiyse (</a:t>
            </a:r>
            <a:r>
              <a:rPr lang="tr-TR" dirty="0">
                <a:solidFill>
                  <a:srgbClr val="FFFF00"/>
                </a:solidFill>
              </a:rPr>
              <a:t>catch</a:t>
            </a:r>
            <a:r>
              <a:rPr lang="tr-TR" dirty="0"/>
              <a:t> araması geriye doğru yapılır), işlem parçacığı sonlandırılır. </a:t>
            </a:r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</p:txBody>
      </p:sp>
    </p:spTree>
    <p:extLst>
      <p:ext uri="{BB962C8B-B14F-4D97-AF65-F5344CB8AC3E}">
        <p14:creationId xmlns:p14="http://schemas.microsoft.com/office/powerpoint/2010/main" val="3941159595"/>
      </p:ext>
    </p:extLst>
  </p:cSld>
  <p:clrMapOvr>
    <a:masterClrMapping/>
  </p:clrMapOvr>
  <p:transition spd="med" advClick="0" advTm="1000">
    <p:spli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222172" y="203200"/>
            <a:ext cx="6313714" cy="688427"/>
          </a:xfrm>
        </p:spPr>
        <p:txBody>
          <a:bodyPr/>
          <a:lstStyle/>
          <a:p>
            <a:r>
              <a:rPr lang="tr-TR" dirty="0"/>
              <a:t> Örnek-1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16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3608603" cy="5199529"/>
          </a:xfrm>
        </p:spPr>
        <p:txBody>
          <a:bodyPr/>
          <a:lstStyle/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10" name="İçerik Yer Tutucusu 2"/>
          <p:cNvSpPr txBox="1">
            <a:spLocks/>
          </p:cNvSpPr>
          <p:nvPr/>
        </p:nvSpPr>
        <p:spPr bwMode="auto">
          <a:xfrm>
            <a:off x="174172" y="937738"/>
            <a:ext cx="5181600" cy="510020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using System;</a:t>
            </a:r>
          </a:p>
          <a:p>
            <a:pPr marL="0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class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Nesne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{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int x;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public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Nesne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(int a) {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x = a;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public int Add(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Nesne n1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) {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return x +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n1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.x;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</a:p>
          <a:p>
            <a:pPr marL="0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</a:p>
          <a:p>
            <a:pPr marL="0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class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Ornek1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{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static void Main() {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Nesne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p = new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Nesne(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10);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Nesne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q = null; </a:t>
            </a:r>
            <a:r>
              <a:rPr lang="en-US" sz="1800" dirty="0">
                <a:latin typeface="Arial Rounded MT Bold" panose="020F0704030504030204" pitchFamily="34" charset="0"/>
              </a:rPr>
              <a:t>// q null</a:t>
            </a:r>
            <a:r>
              <a:rPr lang="tr-TR" sz="1800" dirty="0">
                <a:latin typeface="Arial Rounded MT Bold" panose="020F0704030504030204" pitchFamily="34" charset="0"/>
              </a:rPr>
              <a:t> olarak atandı</a:t>
            </a:r>
            <a:endParaRPr lang="en-US" sz="1800" dirty="0">
              <a:latin typeface="Arial Rounded MT Bold" panose="020F0704030504030204" pitchFamily="34" charset="0"/>
            </a:endParaRP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int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deger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endParaRPr lang="en-US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İçerik Yer Tutucusu 2"/>
          <p:cNvSpPr txBox="1">
            <a:spLocks/>
          </p:cNvSpPr>
          <p:nvPr/>
        </p:nvSpPr>
        <p:spPr bwMode="auto">
          <a:xfrm>
            <a:off x="5413830" y="907456"/>
            <a:ext cx="6531427" cy="507117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try {</a:t>
            </a:r>
          </a:p>
          <a:p>
            <a:pPr marL="800100" lvl="2" indent="0" defTabSz="360000">
              <a:buNone/>
            </a:pP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tr-TR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deger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= 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p.Add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(q); </a:t>
            </a:r>
            <a:r>
              <a:rPr lang="en-US" sz="1800" kern="0" dirty="0">
                <a:latin typeface="Arial Rounded MT Bold" panose="020F0704030504030204" pitchFamily="34" charset="0"/>
              </a:rPr>
              <a:t>// </a:t>
            </a:r>
            <a:r>
              <a:rPr lang="tr-TR" sz="1800" kern="0" dirty="0">
                <a:latin typeface="Arial Rounded MT Bold" panose="020F0704030504030204" pitchFamily="34" charset="0"/>
              </a:rPr>
              <a:t>Bu satır istisna oluşturacak</a:t>
            </a:r>
            <a:endParaRPr lang="en-US" sz="1800" kern="0" dirty="0">
              <a:latin typeface="Arial Rounded MT Bold" panose="020F0704030504030204" pitchFamily="34" charset="0"/>
            </a:endParaRP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 </a:t>
            </a:r>
            <a:endParaRPr lang="tr-TR" sz="1800" kern="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catch (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NullReferenceException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) {</a:t>
            </a:r>
          </a:p>
          <a:p>
            <a:pPr marL="800100" lvl="2" indent="0" defTabSz="360000">
              <a:buNone/>
            </a:pP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Console.WriteLine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("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NullReferenceException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!");</a:t>
            </a:r>
          </a:p>
          <a:p>
            <a:pPr marL="800100" lvl="2" indent="0" defTabSz="360000">
              <a:buNone/>
            </a:pP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Console.WriteLine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("</a:t>
            </a: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Hata Gideriliyor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...\n")</a:t>
            </a: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;</a:t>
            </a:r>
            <a:endParaRPr lang="en-US" sz="1800" kern="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  <a:endParaRPr lang="tr-TR" sz="1800" kern="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final</a:t>
            </a:r>
            <a:r>
              <a:rPr lang="tr-TR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ly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{</a:t>
            </a: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           </a:t>
            </a:r>
            <a:r>
              <a:rPr lang="en-US" sz="2000" kern="0" dirty="0">
                <a:latin typeface="Arial Rounded MT Bold" panose="020F0704030504030204" pitchFamily="34" charset="0"/>
              </a:rPr>
              <a:t>// </a:t>
            </a:r>
            <a:r>
              <a:rPr lang="en-US" sz="2000" kern="0" dirty="0" err="1">
                <a:latin typeface="Arial Rounded MT Bold" panose="020F0704030504030204" pitchFamily="34" charset="0"/>
              </a:rPr>
              <a:t>Hatayı</a:t>
            </a:r>
            <a:r>
              <a:rPr lang="en-US" sz="2000" kern="0" dirty="0">
                <a:latin typeface="Arial Rounded MT Bold" panose="020F0704030504030204" pitchFamily="34" charset="0"/>
              </a:rPr>
              <a:t> </a:t>
            </a:r>
            <a:r>
              <a:rPr lang="en-US" sz="2000" kern="0" dirty="0" err="1">
                <a:latin typeface="Arial Rounded MT Bold" panose="020F0704030504030204" pitchFamily="34" charset="0"/>
              </a:rPr>
              <a:t>gideren</a:t>
            </a:r>
            <a:r>
              <a:rPr lang="en-US" sz="2000" kern="0" dirty="0">
                <a:latin typeface="Arial Rounded MT Bold" panose="020F0704030504030204" pitchFamily="34" charset="0"/>
              </a:rPr>
              <a:t> </a:t>
            </a:r>
            <a:r>
              <a:rPr lang="en-US" sz="2000" kern="0" dirty="0" err="1">
                <a:latin typeface="Arial Rounded MT Bold" panose="020F0704030504030204" pitchFamily="34" charset="0"/>
              </a:rPr>
              <a:t>komutlar</a:t>
            </a:r>
            <a:endParaRPr lang="en-US" sz="1800" kern="0" dirty="0">
              <a:latin typeface="Arial Rounded MT Bold" panose="020F0704030504030204" pitchFamily="34" charset="0"/>
            </a:endParaRP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           q = new 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Nesne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(9);</a:t>
            </a: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           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deger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= </a:t>
            </a: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p.Add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(q);</a:t>
            </a:r>
          </a:p>
          <a:p>
            <a:pPr marL="800100" lvl="2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}</a:t>
            </a:r>
          </a:p>
          <a:p>
            <a:pPr marL="800100" lvl="2" indent="0" defTabSz="360000">
              <a:buNone/>
            </a:pPr>
            <a:r>
              <a:rPr lang="en-US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Console.WriteLine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("</a:t>
            </a:r>
            <a:r>
              <a:rPr lang="tr-TR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deger</a:t>
            </a: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: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{0}", </a:t>
            </a:r>
            <a:r>
              <a:rPr lang="tr-TR" sz="1800" kern="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deger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);</a:t>
            </a:r>
          </a:p>
          <a:p>
            <a:pPr marL="0" indent="0" defTabSz="360000">
              <a:buNone/>
            </a:pPr>
            <a:r>
              <a:rPr lang="tr-TR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</a:p>
          <a:p>
            <a:pPr marL="0" indent="0" defTabSz="360000">
              <a:buNone/>
            </a:pPr>
            <a:r>
              <a:rPr lang="en-US" sz="1800" kern="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  <a:endParaRPr lang="tr-TR" sz="1800" kern="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125801"/>
      </p:ext>
    </p:extLst>
  </p:cSld>
  <p:clrMapOvr>
    <a:masterClrMapping/>
  </p:clrMapOvr>
  <p:transition spd="med" advClick="0" advTm="1000">
    <p:spli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222172" y="203200"/>
            <a:ext cx="6313714" cy="688427"/>
          </a:xfrm>
        </p:spPr>
        <p:txBody>
          <a:bodyPr/>
          <a:lstStyle/>
          <a:p>
            <a:r>
              <a:rPr lang="tr-TR" dirty="0"/>
              <a:t> Örnek-2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17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3608603" cy="5199529"/>
          </a:xfrm>
        </p:spPr>
        <p:txBody>
          <a:bodyPr/>
          <a:lstStyle/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10" name="İçerik Yer Tutucusu 2"/>
          <p:cNvSpPr txBox="1">
            <a:spLocks/>
          </p:cNvSpPr>
          <p:nvPr/>
        </p:nvSpPr>
        <p:spPr bwMode="auto">
          <a:xfrm>
            <a:off x="402167" y="831131"/>
            <a:ext cx="11631429" cy="568259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defTabSz="360000">
              <a:buNone/>
            </a:pP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using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System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;</a:t>
            </a:r>
          </a:p>
          <a:p>
            <a:pPr marL="0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class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Ornek2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{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static void Main() {  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int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[]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bolunen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= { 4, 8, 16, 32, 64, 128, 256, 512 };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int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[]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= { 2, 0, 4, 4, 0, 8 };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for(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int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=0; 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&lt;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bolunen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.Length; 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++) {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try { 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Console.WriteLine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bolunen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[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] + " / " + 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[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] + "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: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" +  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bolunen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[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]/</a:t>
            </a:r>
            <a:r>
              <a:rPr lang="tr-TR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bolen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[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]);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catch (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DivideByZeroException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) {  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	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Console.WriteLine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Sıfıra Bölme Hatası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!");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catch (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IndexOutOfRangeException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) {  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Console.WriteLine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("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Bu indekste eleman yok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");  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  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400050" lvl="1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</a:t>
            </a:r>
            <a:r>
              <a:rPr lang="en-US" sz="1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 </a:t>
            </a:r>
            <a:endParaRPr lang="tr-TR" sz="14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0" indent="0" defTabSz="360000">
              <a:buNone/>
            </a:pP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</a:t>
            </a: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 </a:t>
            </a:r>
            <a:endParaRPr lang="tr-TR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  <a:p>
            <a:pPr marL="0" indent="0" defTabSz="360000">
              <a:buNone/>
            </a:pPr>
            <a:r>
              <a:rPr lang="en-US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} </a:t>
            </a:r>
            <a:r>
              <a:rPr lang="tr-TR" sz="18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		</a:t>
            </a:r>
            <a:endParaRPr lang="en-US" sz="18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91864"/>
      </p:ext>
    </p:extLst>
  </p:cSld>
  <p:clrMapOvr>
    <a:masterClrMapping/>
  </p:clrMapOvr>
  <p:transition spd="med" advClick="0" advTm="1000">
    <p:spli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72055" y="203200"/>
            <a:ext cx="8463831" cy="695434"/>
          </a:xfrm>
        </p:spPr>
        <p:txBody>
          <a:bodyPr/>
          <a:lstStyle/>
          <a:p>
            <a:r>
              <a:rPr lang="tr-TR" dirty="0"/>
              <a:t> </a:t>
            </a:r>
            <a:r>
              <a:rPr lang="tr-TR" dirty="0" err="1"/>
              <a:t>checked</a:t>
            </a:r>
            <a:r>
              <a:rPr lang="tr-TR" dirty="0"/>
              <a:t> ve </a:t>
            </a:r>
            <a:r>
              <a:rPr lang="tr-TR" dirty="0" err="1"/>
              <a:t>unchecked</a:t>
            </a:r>
            <a:r>
              <a:rPr lang="tr-TR" dirty="0"/>
              <a:t> Kullanımı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18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3608603" cy="5199529"/>
          </a:xfrm>
        </p:spPr>
        <p:txBody>
          <a:bodyPr/>
          <a:lstStyle/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1193975" y="980965"/>
            <a:ext cx="973310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Aritmetik taşmalar da (</a:t>
            </a:r>
            <a:r>
              <a:rPr lang="tr-TR" dirty="0" err="1">
                <a:solidFill>
                  <a:srgbClr val="FFFF00"/>
                </a:solidFill>
              </a:rPr>
              <a:t>overflow</a:t>
            </a:r>
            <a:r>
              <a:rPr lang="tr-TR" dirty="0"/>
              <a:t>)  istisnai durumlar oluşturabilir. </a:t>
            </a:r>
          </a:p>
          <a:p>
            <a:pPr lvl="1"/>
            <a:r>
              <a:rPr lang="tr-TR" dirty="0" err="1"/>
              <a:t>byte</a:t>
            </a:r>
            <a:r>
              <a:rPr lang="tr-TR" dirty="0"/>
              <a:t> a=255;</a:t>
            </a:r>
          </a:p>
          <a:p>
            <a:pPr lvl="1"/>
            <a:r>
              <a:rPr lang="tr-TR" dirty="0"/>
              <a:t>a++;  // a =256 mı? </a:t>
            </a:r>
          </a:p>
          <a:p>
            <a:pPr lvl="1"/>
            <a:r>
              <a:rPr lang="tr-TR" dirty="0" err="1"/>
              <a:t>Console.WiteLine</a:t>
            </a:r>
            <a:r>
              <a:rPr lang="tr-TR" dirty="0"/>
              <a:t>(a);</a:t>
            </a:r>
          </a:p>
          <a:p>
            <a:endParaRPr lang="tr-T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tr-TR" dirty="0"/>
              <a:t>Taşma olduğunda programcı hatayı nasıl tespit edebilir: </a:t>
            </a:r>
            <a:r>
              <a:rPr lang="tr-TR" dirty="0" err="1">
                <a:solidFill>
                  <a:srgbClr val="FFFF00"/>
                </a:solidFill>
              </a:rPr>
              <a:t>checked</a:t>
            </a:r>
            <a:r>
              <a:rPr lang="tr-TR" dirty="0"/>
              <a:t> ve </a:t>
            </a:r>
            <a:r>
              <a:rPr lang="tr-TR" dirty="0" err="1">
                <a:solidFill>
                  <a:srgbClr val="FFFF00"/>
                </a:solidFill>
              </a:rPr>
              <a:t>unchecked</a:t>
            </a:r>
            <a:endParaRPr lang="tr-TR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tr-T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Taşmanın kontrol edilmesi için ilgili ifadeyi </a:t>
            </a:r>
            <a:r>
              <a:rPr lang="tr-TR" sz="1800" kern="1200" dirty="0" err="1">
                <a:solidFill>
                  <a:srgbClr val="FFFF00"/>
                </a:solidFill>
                <a:latin typeface="+mn-lt"/>
                <a:ea typeface="+mn-ea"/>
                <a:cs typeface="+mn-cs"/>
              </a:rPr>
              <a:t>checked</a:t>
            </a:r>
            <a:r>
              <a:rPr lang="tr-T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bloğuna yerleştiriniz.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tr-T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Eğer taşma oluşursa </a:t>
            </a:r>
            <a:r>
              <a:rPr lang="tr-TR" sz="1800" kern="1200" dirty="0" err="1">
                <a:solidFill>
                  <a:srgbClr val="FFFF00"/>
                </a:solidFill>
                <a:latin typeface="+mn-lt"/>
                <a:ea typeface="+mn-ea"/>
                <a:cs typeface="+mn-cs"/>
              </a:rPr>
              <a:t>OverflowException</a:t>
            </a:r>
            <a:r>
              <a:rPr lang="tr-TR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istisnası oluşur.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tr-TR" dirty="0"/>
              <a:t>Eğer taşmanın ihmal edilmesini istiyorsanız ilgili ifadeyi </a:t>
            </a:r>
            <a:r>
              <a:rPr lang="tr-TR" dirty="0" err="1">
                <a:solidFill>
                  <a:srgbClr val="FFFF00"/>
                </a:solidFill>
              </a:rPr>
              <a:t>unchecked</a:t>
            </a:r>
            <a:r>
              <a:rPr lang="tr-TR" dirty="0"/>
              <a:t> bloğuna yerleştiriniz</a:t>
            </a:r>
          </a:p>
          <a:p>
            <a:endParaRPr lang="tr-TR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dirty="0" err="1">
                <a:solidFill>
                  <a:srgbClr val="FFFF00"/>
                </a:solidFill>
              </a:rPr>
              <a:t>checked</a:t>
            </a:r>
            <a:r>
              <a:rPr lang="tr-TR" dirty="0">
                <a:solidFill>
                  <a:srgbClr val="FFFF00"/>
                </a:solidFill>
              </a:rPr>
              <a:t> (ifade)   veya</a:t>
            </a:r>
            <a:endParaRPr lang="tr-TR" sz="1800" kern="1200" dirty="0">
              <a:solidFill>
                <a:srgbClr val="FFFF00"/>
              </a:solidFill>
            </a:endParaRPr>
          </a:p>
          <a:p>
            <a:r>
              <a:rPr lang="tr-TR" dirty="0" err="1">
                <a:solidFill>
                  <a:srgbClr val="FFFF00"/>
                </a:solidFill>
              </a:rPr>
              <a:t>checked</a:t>
            </a:r>
            <a:endParaRPr lang="tr-TR" dirty="0">
              <a:solidFill>
                <a:srgbClr val="FFFF00"/>
              </a:solidFill>
            </a:endParaRPr>
          </a:p>
          <a:p>
            <a:r>
              <a:rPr lang="tr-TR" dirty="0">
                <a:solidFill>
                  <a:srgbClr val="FFFF00"/>
                </a:solidFill>
              </a:rPr>
              <a:t>{</a:t>
            </a:r>
          </a:p>
          <a:p>
            <a:r>
              <a:rPr lang="tr-TR" dirty="0">
                <a:solidFill>
                  <a:srgbClr val="FFFF00"/>
                </a:solidFill>
              </a:rPr>
              <a:t>      ifade;  </a:t>
            </a:r>
            <a:r>
              <a:rPr lang="tr-TR" dirty="0"/>
              <a:t>//istisna oluşabilir</a:t>
            </a:r>
          </a:p>
          <a:p>
            <a:r>
              <a:rPr lang="tr-TR" dirty="0">
                <a:solidFill>
                  <a:srgbClr val="FFFF00"/>
                </a:solidFill>
              </a:rPr>
              <a:t>}</a:t>
            </a:r>
          </a:p>
          <a:p>
            <a:r>
              <a:rPr lang="tr-TR" dirty="0" err="1">
                <a:solidFill>
                  <a:srgbClr val="FFFF00"/>
                </a:solidFill>
              </a:rPr>
              <a:t>unchecked</a:t>
            </a:r>
            <a:endParaRPr lang="tr-TR" dirty="0">
              <a:solidFill>
                <a:srgbClr val="FFFF00"/>
              </a:solidFill>
            </a:endParaRPr>
          </a:p>
          <a:p>
            <a:r>
              <a:rPr lang="tr-TR" dirty="0">
                <a:solidFill>
                  <a:srgbClr val="FFFF00"/>
                </a:solidFill>
              </a:rPr>
              <a:t>{</a:t>
            </a:r>
          </a:p>
          <a:p>
            <a:r>
              <a:rPr lang="tr-TR" dirty="0">
                <a:solidFill>
                  <a:srgbClr val="FFFF00"/>
                </a:solidFill>
              </a:rPr>
              <a:t>      ifade;  </a:t>
            </a:r>
            <a:r>
              <a:rPr lang="tr-TR" dirty="0"/>
              <a:t>//istisna oluşmaz</a:t>
            </a:r>
          </a:p>
          <a:p>
            <a:r>
              <a:rPr lang="tr-TR" dirty="0">
                <a:solidFill>
                  <a:srgbClr val="FFFF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9894068"/>
      </p:ext>
    </p:extLst>
  </p:cSld>
  <p:clrMapOvr>
    <a:masterClrMapping/>
  </p:clrMapOvr>
  <p:transition spd="med" advClick="0" advTm="1000">
    <p:spli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645" y="190039"/>
            <a:ext cx="10457336" cy="542513"/>
          </a:xfrm>
        </p:spPr>
        <p:txBody>
          <a:bodyPr/>
          <a:lstStyle/>
          <a:p>
            <a:r>
              <a:rPr lang="tr-TR" dirty="0"/>
              <a:t> </a:t>
            </a:r>
            <a:r>
              <a:rPr lang="tr-TR" dirty="0" err="1"/>
              <a:t>checked</a:t>
            </a:r>
            <a:r>
              <a:rPr lang="tr-TR" dirty="0"/>
              <a:t> ve </a:t>
            </a:r>
            <a:r>
              <a:rPr lang="tr-TR" dirty="0" err="1"/>
              <a:t>unchecked</a:t>
            </a:r>
            <a:r>
              <a:rPr lang="tr-TR" dirty="0"/>
              <a:t> İstisnaları: Örnek-1 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8" name="İçerik Yer Tutucusu 2"/>
          <p:cNvSpPr>
            <a:spLocks noGrp="1"/>
          </p:cNvSpPr>
          <p:nvPr>
            <p:ph idx="1"/>
          </p:nvPr>
        </p:nvSpPr>
        <p:spPr>
          <a:xfrm>
            <a:off x="206652" y="1058857"/>
            <a:ext cx="3608603" cy="5199529"/>
          </a:xfrm>
        </p:spPr>
        <p:txBody>
          <a:bodyPr/>
          <a:lstStyle/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1409875" y="987090"/>
            <a:ext cx="9733106" cy="5016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360000"/>
            <a:r>
              <a:rPr lang="tr-TR" sz="2000" dirty="0" err="1"/>
              <a:t>using</a:t>
            </a:r>
            <a:r>
              <a:rPr lang="tr-TR" sz="2000" dirty="0"/>
              <a:t> </a:t>
            </a:r>
            <a:r>
              <a:rPr lang="tr-TR" sz="2000" dirty="0" err="1"/>
              <a:t>System</a:t>
            </a:r>
            <a:r>
              <a:rPr lang="tr-TR" sz="2000" dirty="0"/>
              <a:t>; </a:t>
            </a:r>
          </a:p>
          <a:p>
            <a:pPr defTabSz="360000"/>
            <a:r>
              <a:rPr lang="tr-TR" sz="2000" dirty="0" err="1"/>
              <a:t>class</a:t>
            </a:r>
            <a:r>
              <a:rPr lang="tr-TR" sz="2000" dirty="0"/>
              <a:t> </a:t>
            </a:r>
            <a:r>
              <a:rPr lang="tr-TR" sz="2000" dirty="0" err="1"/>
              <a:t>CheckedDemo</a:t>
            </a:r>
            <a:r>
              <a:rPr lang="tr-TR" sz="2000" dirty="0"/>
              <a:t> {  </a:t>
            </a:r>
          </a:p>
          <a:p>
            <a:pPr defTabSz="360000"/>
            <a:r>
              <a:rPr lang="tr-TR" sz="2000" dirty="0"/>
              <a:t>	</a:t>
            </a:r>
            <a:r>
              <a:rPr lang="tr-TR" sz="2000" dirty="0" err="1"/>
              <a:t>static</a:t>
            </a:r>
            <a:r>
              <a:rPr lang="tr-TR" sz="2000" dirty="0"/>
              <a:t> </a:t>
            </a:r>
            <a:r>
              <a:rPr lang="tr-TR" sz="2000" dirty="0" err="1"/>
              <a:t>void</a:t>
            </a:r>
            <a:r>
              <a:rPr lang="tr-TR" sz="2000" dirty="0"/>
              <a:t> Main() {    </a:t>
            </a:r>
          </a:p>
          <a:p>
            <a:pPr defTabSz="360000"/>
            <a:r>
              <a:rPr lang="tr-TR" sz="2000" dirty="0"/>
              <a:t>		</a:t>
            </a:r>
            <a:r>
              <a:rPr lang="tr-TR" sz="2000" dirty="0" err="1"/>
              <a:t>byte</a:t>
            </a:r>
            <a:r>
              <a:rPr lang="tr-TR" sz="2000" dirty="0"/>
              <a:t> a, </a:t>
            </a:r>
            <a:r>
              <a:rPr lang="tr-TR" sz="2000" dirty="0" err="1"/>
              <a:t>b,sonuc</a:t>
            </a:r>
            <a:r>
              <a:rPr lang="tr-TR" sz="2000" dirty="0"/>
              <a:t>;    </a:t>
            </a:r>
          </a:p>
          <a:p>
            <a:pPr defTabSz="360000"/>
            <a:r>
              <a:rPr lang="tr-TR" sz="2000" dirty="0"/>
              <a:t>		a = 127;    b = 127;   </a:t>
            </a:r>
          </a:p>
          <a:p>
            <a:pPr defTabSz="360000"/>
            <a:r>
              <a:rPr lang="tr-TR" sz="2000" dirty="0"/>
              <a:t>		 </a:t>
            </a:r>
            <a:r>
              <a:rPr lang="tr-TR" sz="2000" dirty="0" err="1"/>
              <a:t>try</a:t>
            </a:r>
            <a:r>
              <a:rPr lang="tr-TR" sz="2000" dirty="0"/>
              <a:t> {      </a:t>
            </a:r>
          </a:p>
          <a:p>
            <a:pPr defTabSz="360000"/>
            <a:r>
              <a:rPr lang="tr-TR" sz="2000" dirty="0"/>
              <a:t>			</a:t>
            </a:r>
            <a:r>
              <a:rPr lang="tr-TR" sz="2000" dirty="0" err="1"/>
              <a:t>sonuc</a:t>
            </a:r>
            <a:r>
              <a:rPr lang="tr-TR" sz="2000" dirty="0"/>
              <a:t> = </a:t>
            </a:r>
            <a:r>
              <a:rPr lang="tr-TR" sz="2000" dirty="0" err="1"/>
              <a:t>unchecked</a:t>
            </a:r>
            <a:r>
              <a:rPr lang="tr-TR" sz="2000" dirty="0"/>
              <a:t> ( (</a:t>
            </a:r>
            <a:r>
              <a:rPr lang="tr-TR" sz="2000" dirty="0" err="1"/>
              <a:t>byte</a:t>
            </a:r>
            <a:r>
              <a:rPr lang="tr-TR" sz="2000" dirty="0"/>
              <a:t>)(a * b) );      </a:t>
            </a:r>
          </a:p>
          <a:p>
            <a:pPr defTabSz="360000"/>
            <a:r>
              <a:rPr lang="tr-TR" sz="2000" dirty="0"/>
              <a:t>			</a:t>
            </a:r>
            <a:r>
              <a:rPr lang="tr-TR" sz="2000" dirty="0" err="1"/>
              <a:t>Console.WriteLine</a:t>
            </a:r>
            <a:r>
              <a:rPr lang="tr-TR" sz="2000" dirty="0"/>
              <a:t>("</a:t>
            </a:r>
            <a:r>
              <a:rPr lang="tr-TR" sz="2000" dirty="0" err="1"/>
              <a:t>unchecked</a:t>
            </a:r>
            <a:r>
              <a:rPr lang="tr-TR" sz="2000" dirty="0"/>
              <a:t> </a:t>
            </a:r>
            <a:r>
              <a:rPr lang="tr-TR" sz="2000" dirty="0" err="1"/>
              <a:t>sonuc</a:t>
            </a:r>
            <a:r>
              <a:rPr lang="tr-TR" sz="2000" dirty="0"/>
              <a:t>: " + </a:t>
            </a:r>
            <a:r>
              <a:rPr lang="tr-TR" sz="2000" dirty="0" err="1"/>
              <a:t>sonuc</a:t>
            </a:r>
            <a:r>
              <a:rPr lang="tr-TR" sz="2000" dirty="0"/>
              <a:t>);      </a:t>
            </a:r>
          </a:p>
          <a:p>
            <a:pPr defTabSz="360000"/>
            <a:r>
              <a:rPr lang="tr-TR" sz="2000" dirty="0"/>
              <a:t>			</a:t>
            </a:r>
            <a:r>
              <a:rPr lang="tr-TR" sz="2000" dirty="0" err="1"/>
              <a:t>sonuc</a:t>
            </a:r>
            <a:r>
              <a:rPr lang="tr-TR" sz="2000" dirty="0"/>
              <a:t> = </a:t>
            </a:r>
            <a:r>
              <a:rPr lang="tr-TR" sz="2000" dirty="0" err="1"/>
              <a:t>checked</a:t>
            </a:r>
            <a:r>
              <a:rPr lang="tr-TR" sz="2000" dirty="0"/>
              <a:t>( (</a:t>
            </a:r>
            <a:r>
              <a:rPr lang="tr-TR" sz="2000" dirty="0" err="1"/>
              <a:t>byte</a:t>
            </a:r>
            <a:r>
              <a:rPr lang="tr-TR" sz="2000" dirty="0"/>
              <a:t>)(a * b) ); 				// istisna oluşur      										</a:t>
            </a:r>
            <a:r>
              <a:rPr lang="tr-TR" sz="2000" dirty="0" err="1"/>
              <a:t>Console.WriteLine</a:t>
            </a:r>
            <a:r>
              <a:rPr lang="tr-TR" sz="2000" dirty="0"/>
              <a:t>("</a:t>
            </a:r>
            <a:r>
              <a:rPr lang="tr-TR" sz="2000" dirty="0" err="1"/>
              <a:t>checked</a:t>
            </a:r>
            <a:r>
              <a:rPr lang="tr-TR" sz="2000" dirty="0"/>
              <a:t> </a:t>
            </a:r>
            <a:r>
              <a:rPr lang="tr-TR" sz="2000" dirty="0" err="1"/>
              <a:t>sonuc</a:t>
            </a:r>
            <a:r>
              <a:rPr lang="tr-TR" sz="2000" dirty="0"/>
              <a:t>: " + </a:t>
            </a:r>
            <a:r>
              <a:rPr lang="tr-TR" sz="2000" dirty="0" err="1"/>
              <a:t>sonuc</a:t>
            </a:r>
            <a:r>
              <a:rPr lang="tr-TR" sz="2000" dirty="0"/>
              <a:t>); // çalışmaz</a:t>
            </a:r>
          </a:p>
          <a:p>
            <a:pPr defTabSz="360000"/>
            <a:r>
              <a:rPr lang="tr-TR" sz="2000" dirty="0"/>
              <a:t>		 }    				</a:t>
            </a:r>
          </a:p>
          <a:p>
            <a:pPr defTabSz="360000"/>
            <a:r>
              <a:rPr lang="tr-TR" sz="2000" dirty="0"/>
              <a:t>		</a:t>
            </a:r>
            <a:r>
              <a:rPr lang="tr-TR" sz="2000" dirty="0" err="1"/>
              <a:t>catch</a:t>
            </a:r>
            <a:r>
              <a:rPr lang="tr-TR" sz="2000" dirty="0"/>
              <a:t> (</a:t>
            </a:r>
            <a:r>
              <a:rPr lang="tr-TR" sz="2000" dirty="0" err="1"/>
              <a:t>OverflowException</a:t>
            </a:r>
            <a:r>
              <a:rPr lang="tr-TR" sz="2000" dirty="0"/>
              <a:t> </a:t>
            </a:r>
            <a:r>
              <a:rPr lang="tr-TR" sz="2000" dirty="0" err="1"/>
              <a:t>excp</a:t>
            </a:r>
            <a:r>
              <a:rPr lang="tr-TR" sz="2000" dirty="0"/>
              <a:t>) {     </a:t>
            </a:r>
          </a:p>
          <a:p>
            <a:pPr defTabSz="360000"/>
            <a:r>
              <a:rPr lang="tr-TR" sz="2000" dirty="0"/>
              <a:t>				 </a:t>
            </a:r>
            <a:r>
              <a:rPr lang="tr-TR" sz="2000" dirty="0" err="1"/>
              <a:t>Console.WriteLine</a:t>
            </a:r>
            <a:r>
              <a:rPr lang="tr-TR" sz="2000" dirty="0"/>
              <a:t>(</a:t>
            </a:r>
            <a:r>
              <a:rPr lang="tr-TR" sz="2000" dirty="0" err="1"/>
              <a:t>excp</a:t>
            </a:r>
            <a:r>
              <a:rPr lang="tr-TR" sz="2000" dirty="0"/>
              <a:t>);    </a:t>
            </a:r>
          </a:p>
          <a:p>
            <a:pPr defTabSz="360000"/>
            <a:r>
              <a:rPr lang="tr-TR" sz="2000" dirty="0"/>
              <a:t>		} </a:t>
            </a:r>
          </a:p>
          <a:p>
            <a:pPr defTabSz="360000"/>
            <a:r>
              <a:rPr lang="tr-TR" sz="2000" dirty="0"/>
              <a:t>	 } </a:t>
            </a:r>
          </a:p>
          <a:p>
            <a:pPr defTabSz="360000"/>
            <a:r>
              <a:rPr lang="tr-TR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9880280"/>
      </p:ext>
    </p:extLst>
  </p:cSld>
  <p:clrMapOvr>
    <a:masterClrMapping/>
  </p:clrMapOvr>
  <p:transition spd="med" advClick="0" advTm="1000">
    <p:spli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55220" y="73469"/>
            <a:ext cx="10546788" cy="800652"/>
          </a:xfrm>
        </p:spPr>
        <p:txBody>
          <a:bodyPr/>
          <a:lstStyle/>
          <a:p>
            <a:r>
              <a:rPr lang="tr-TR" dirty="0"/>
              <a:t> </a:t>
            </a:r>
            <a:r>
              <a:rPr lang="tr-TR" dirty="0" err="1"/>
              <a:t>checked</a:t>
            </a:r>
            <a:r>
              <a:rPr lang="tr-TR" dirty="0"/>
              <a:t> ve </a:t>
            </a:r>
            <a:r>
              <a:rPr lang="tr-TR" dirty="0" err="1"/>
              <a:t>unchecked</a:t>
            </a:r>
            <a:r>
              <a:rPr lang="tr-TR" dirty="0"/>
              <a:t> İstisnaları: Örnek-2</a:t>
            </a:r>
            <a:endParaRPr lang="en-US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FAB1EC-7A00-4607-8BF8-66EE9839B22B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20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5635488" y="1225432"/>
            <a:ext cx="6470373" cy="4278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checked{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    a = 2; b = 7;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 = (byte)(a * b); </a:t>
            </a:r>
            <a:r>
              <a:rPr lang="tr-TR" sz="1600" dirty="0">
                <a:solidFill>
                  <a:srgbClr val="FFFF00"/>
                </a:solidFill>
              </a:rPr>
              <a:t>				</a:t>
            </a:r>
            <a:r>
              <a:rPr lang="en-US" sz="1600" dirty="0">
                <a:solidFill>
                  <a:schemeClr val="tx1"/>
                </a:solidFill>
              </a:rPr>
              <a:t>// </a:t>
            </a:r>
            <a:r>
              <a:rPr lang="en-US" sz="1600" dirty="0" err="1">
                <a:solidFill>
                  <a:schemeClr val="tx1"/>
                </a:solidFill>
              </a:rPr>
              <a:t>Istisna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oluşmaz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rgbClr val="FFFF00"/>
                </a:solidFill>
              </a:rPr>
              <a:t>       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Console.WriteLine</a:t>
            </a:r>
            <a:r>
              <a:rPr lang="en-US" sz="1600" dirty="0">
                <a:solidFill>
                  <a:srgbClr val="FFFF00"/>
                </a:solidFill>
              </a:rPr>
              <a:t>("checked </a:t>
            </a:r>
            <a:r>
              <a:rPr lang="en-US" sz="1600" dirty="0" err="1">
                <a:solidFill>
                  <a:srgbClr val="FFFF00"/>
                </a:solidFill>
              </a:rPr>
              <a:t>sonuç</a:t>
            </a:r>
            <a:r>
              <a:rPr lang="en-US" sz="1600" dirty="0">
                <a:solidFill>
                  <a:srgbClr val="FFFF00"/>
                </a:solidFill>
              </a:rPr>
              <a:t>: " +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);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    a = 127; b = 127;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 = (byte)(a * b); </a:t>
            </a:r>
            <a:r>
              <a:rPr lang="tr-TR" sz="1600" dirty="0">
                <a:solidFill>
                  <a:srgbClr val="FFFF00"/>
                </a:solidFill>
              </a:rPr>
              <a:t>				</a:t>
            </a:r>
            <a:r>
              <a:rPr lang="en-US" sz="1600" dirty="0">
                <a:solidFill>
                  <a:schemeClr val="tx1"/>
                </a:solidFill>
              </a:rPr>
              <a:t>// Overflow </a:t>
            </a:r>
            <a:r>
              <a:rPr lang="en-US" sz="1600" dirty="0" err="1">
                <a:solidFill>
                  <a:schemeClr val="tx1"/>
                </a:solidFill>
              </a:rPr>
              <a:t>Istisna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oluşur</a:t>
            </a:r>
            <a:r>
              <a:rPr lang="en-US" sz="1600" dirty="0">
                <a:solidFill>
                  <a:srgbClr val="FFFF00"/>
                </a:solidFill>
              </a:rPr>
              <a:t>        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Console.WriteLine</a:t>
            </a:r>
            <a:r>
              <a:rPr lang="en-US" sz="1600" dirty="0">
                <a:solidFill>
                  <a:srgbClr val="FFFF00"/>
                </a:solidFill>
              </a:rPr>
              <a:t>("checked </a:t>
            </a:r>
            <a:r>
              <a:rPr lang="en-US" sz="1600" dirty="0" err="1">
                <a:solidFill>
                  <a:srgbClr val="FFFF00"/>
                </a:solidFill>
              </a:rPr>
              <a:t>sonuç</a:t>
            </a:r>
            <a:r>
              <a:rPr lang="en-US" sz="1600" dirty="0">
                <a:solidFill>
                  <a:srgbClr val="FFFF00"/>
                </a:solidFill>
              </a:rPr>
              <a:t>: " +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); </a:t>
            </a:r>
            <a:r>
              <a:rPr lang="en-US" sz="1600" dirty="0">
                <a:solidFill>
                  <a:schemeClr val="tx1"/>
                </a:solidFill>
              </a:rPr>
              <a:t>// Bu </a:t>
            </a:r>
            <a:r>
              <a:rPr lang="en-US" sz="1600" dirty="0" err="1">
                <a:solidFill>
                  <a:schemeClr val="tx1"/>
                </a:solidFill>
              </a:rPr>
              <a:t>satır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çalışmaz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rgbClr val="FFFF00"/>
                </a:solidFill>
              </a:rPr>
              <a:t>     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}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}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catch (</a:t>
            </a:r>
            <a:r>
              <a:rPr lang="en-US" sz="1600" dirty="0" err="1">
                <a:solidFill>
                  <a:srgbClr val="FFFF00"/>
                </a:solidFill>
              </a:rPr>
              <a:t>OverflowException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exc</a:t>
            </a:r>
            <a:r>
              <a:rPr lang="en-US" sz="1600" dirty="0">
                <a:solidFill>
                  <a:srgbClr val="FFFF00"/>
                </a:solidFill>
              </a:rPr>
              <a:t>){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    </a:t>
            </a:r>
            <a:r>
              <a:rPr lang="en-US" sz="1600" dirty="0" err="1">
                <a:solidFill>
                  <a:srgbClr val="FFFF00"/>
                </a:solidFill>
              </a:rPr>
              <a:t>Console.WriteLine</a:t>
            </a:r>
            <a:r>
              <a:rPr lang="en-US" sz="1600" dirty="0">
                <a:solidFill>
                  <a:srgbClr val="FFFF00"/>
                </a:solidFill>
              </a:rPr>
              <a:t>(</a:t>
            </a:r>
            <a:r>
              <a:rPr lang="en-US" sz="1600" dirty="0" err="1">
                <a:solidFill>
                  <a:srgbClr val="FFFF00"/>
                </a:solidFill>
              </a:rPr>
              <a:t>exc</a:t>
            </a:r>
            <a:r>
              <a:rPr lang="en-US" sz="1600" dirty="0">
                <a:solidFill>
                  <a:srgbClr val="FFFF00"/>
                </a:solidFill>
              </a:rPr>
              <a:t>);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    }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    }</a:t>
            </a:r>
          </a:p>
          <a:p>
            <a:pPr defTabSz="360000">
              <a:tabLst>
                <a:tab pos="360000" algn="l"/>
              </a:tabLst>
            </a:pPr>
            <a:r>
              <a:rPr lang="en-US" sz="1600" dirty="0">
                <a:solidFill>
                  <a:srgbClr val="FFFF00"/>
                </a:solidFill>
              </a:rPr>
              <a:t>}</a:t>
            </a:r>
            <a:endParaRPr lang="tr-TR" sz="1600" dirty="0">
              <a:solidFill>
                <a:srgbClr val="FFFF00"/>
              </a:solidFill>
            </a:endParaRPr>
          </a:p>
          <a:p>
            <a:pPr defTabSz="360000">
              <a:tabLst>
                <a:tab pos="360000" algn="l"/>
              </a:tabLst>
            </a:pPr>
            <a:endParaRPr lang="tr-TR" sz="1600" dirty="0">
              <a:solidFill>
                <a:srgbClr val="FFFF00"/>
              </a:solidFill>
            </a:endParaRPr>
          </a:p>
          <a:p>
            <a:pPr defTabSz="360000">
              <a:tabLst>
                <a:tab pos="360000" algn="l"/>
              </a:tabLst>
            </a:pPr>
            <a:endParaRPr lang="tr-TR" sz="1600" dirty="0">
              <a:solidFill>
                <a:srgbClr val="FFFF00"/>
              </a:solidFill>
            </a:endParaRPr>
          </a:p>
          <a:p>
            <a:pPr defTabSz="360000">
              <a:tabLst>
                <a:tab pos="360000" algn="l"/>
              </a:tabLst>
            </a:pP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0" y="1215494"/>
            <a:ext cx="5635488" cy="4278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360000"/>
            <a:r>
              <a:rPr lang="en-US" sz="1600" dirty="0">
                <a:solidFill>
                  <a:srgbClr val="FFFF00"/>
                </a:solidFill>
              </a:rPr>
              <a:t>using System;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class </a:t>
            </a:r>
            <a:r>
              <a:rPr lang="en-US" sz="1600" dirty="0" err="1">
                <a:solidFill>
                  <a:srgbClr val="FFFF00"/>
                </a:solidFill>
              </a:rPr>
              <a:t>CheckedBlocks</a:t>
            </a:r>
            <a:endParaRPr lang="en-US" sz="1600" dirty="0">
              <a:solidFill>
                <a:srgbClr val="FFFF00"/>
              </a:solidFill>
            </a:endParaRP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{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static void Main()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{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byte a, </a:t>
            </a:r>
            <a:r>
              <a:rPr lang="tr-TR" sz="1600" dirty="0">
                <a:solidFill>
                  <a:srgbClr val="FFFF00"/>
                </a:solidFill>
              </a:rPr>
              <a:t>b,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; 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</a:t>
            </a:r>
            <a:r>
              <a:rPr lang="tr-TR" sz="1600" dirty="0">
                <a:solidFill>
                  <a:srgbClr val="FFFF00"/>
                </a:solidFill>
              </a:rPr>
              <a:t>  </a:t>
            </a:r>
            <a:r>
              <a:rPr lang="en-US" sz="1600" dirty="0">
                <a:solidFill>
                  <a:srgbClr val="FFFF00"/>
                </a:solidFill>
              </a:rPr>
              <a:t> try{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unchecked{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    a = 127; b = 127;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 = (byte)(a * b);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Console.WriteLine</a:t>
            </a:r>
            <a:r>
              <a:rPr lang="en-US" sz="1600" dirty="0">
                <a:solidFill>
                  <a:srgbClr val="FFFF00"/>
                </a:solidFill>
              </a:rPr>
              <a:t>("unchecked </a:t>
            </a:r>
            <a:r>
              <a:rPr lang="en-US" sz="1600" dirty="0" err="1">
                <a:solidFill>
                  <a:srgbClr val="FFFF00"/>
                </a:solidFill>
              </a:rPr>
              <a:t>sonuç</a:t>
            </a:r>
            <a:r>
              <a:rPr lang="en-US" sz="1600" dirty="0">
                <a:solidFill>
                  <a:srgbClr val="FFFF00"/>
                </a:solidFill>
              </a:rPr>
              <a:t>: " +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);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    a = 125; b = 5;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 = (byte)(a * b);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    </a:t>
            </a:r>
            <a:r>
              <a:rPr lang="en-US" sz="1600" dirty="0" err="1">
                <a:solidFill>
                  <a:srgbClr val="FFFF00"/>
                </a:solidFill>
              </a:rPr>
              <a:t>Console.WriteLine</a:t>
            </a:r>
            <a:r>
              <a:rPr lang="en-US" sz="1600" dirty="0">
                <a:solidFill>
                  <a:srgbClr val="FFFF00"/>
                </a:solidFill>
              </a:rPr>
              <a:t>("unchecked </a:t>
            </a:r>
            <a:r>
              <a:rPr lang="en-US" sz="1600" dirty="0" err="1">
                <a:solidFill>
                  <a:srgbClr val="FFFF00"/>
                </a:solidFill>
              </a:rPr>
              <a:t>sonuç</a:t>
            </a:r>
            <a:r>
              <a:rPr lang="en-US" sz="1600" dirty="0">
                <a:solidFill>
                  <a:srgbClr val="FFFF00"/>
                </a:solidFill>
              </a:rPr>
              <a:t>: " + </a:t>
            </a:r>
            <a:r>
              <a:rPr lang="tr-TR" sz="1600" dirty="0" err="1">
                <a:solidFill>
                  <a:srgbClr val="FFFF00"/>
                </a:solidFill>
              </a:rPr>
              <a:t>sonuc</a:t>
            </a:r>
            <a:r>
              <a:rPr lang="en-US" sz="1600" dirty="0">
                <a:solidFill>
                  <a:srgbClr val="FFFF00"/>
                </a:solidFill>
              </a:rPr>
              <a:t>);</a:t>
            </a:r>
          </a:p>
          <a:p>
            <a:pPr defTabSz="360000"/>
            <a:r>
              <a:rPr lang="en-US" sz="1600" dirty="0">
                <a:solidFill>
                  <a:srgbClr val="FFFF00"/>
                </a:solidFill>
              </a:rPr>
              <a:t>            }</a:t>
            </a:r>
            <a:endParaRPr lang="tr-TR" sz="1600" dirty="0">
              <a:solidFill>
                <a:srgbClr val="FFFF00"/>
              </a:solidFill>
            </a:endParaRPr>
          </a:p>
          <a:p>
            <a:pPr defTabSz="360000"/>
            <a:endParaRPr lang="tr-TR" sz="1600" dirty="0">
              <a:solidFill>
                <a:srgbClr val="FFFF00"/>
              </a:solidFill>
            </a:endParaRPr>
          </a:p>
          <a:p>
            <a:pPr defTabSz="360000"/>
            <a:endParaRPr 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88816"/>
      </p:ext>
    </p:extLst>
  </p:cSld>
  <p:clrMapOvr>
    <a:masterClrMapping/>
  </p:clrMapOvr>
  <p:transition spd="med" advClick="0" advTm="1000">
    <p:spli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13A151-EC64-4027-9AB7-70655E41D8F9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21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59" y="481186"/>
            <a:ext cx="9657039" cy="475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385884"/>
      </p:ext>
    </p:extLst>
  </p:cSld>
  <p:clrMapOvr>
    <a:masterClrMapping/>
  </p:clrMapOvr>
  <p:transition spd="med" advClick="0" advTm="1000">
    <p:spli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13A151-EC64-4027-9AB7-70655E41D8F9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9CBB0-09FD-4FB3-A512-12DBE7913E78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22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402167" y="446452"/>
            <a:ext cx="6096000" cy="63094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using </a:t>
            </a:r>
            <a:r>
              <a:rPr lang="en-US" sz="1600" dirty="0" err="1"/>
              <a:t>System.Windows.Forms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namespace </a:t>
            </a:r>
            <a:r>
              <a:rPr lang="en-US" sz="1600" dirty="0" err="1"/>
              <a:t>exeption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public partial class Form1 : Form</a:t>
            </a:r>
          </a:p>
          <a:p>
            <a:r>
              <a:rPr lang="en-US" sz="1600" dirty="0"/>
              <a:t>    {</a:t>
            </a:r>
          </a:p>
          <a:p>
            <a:r>
              <a:rPr lang="en-US" sz="1600" dirty="0"/>
              <a:t>        public Form1()</a:t>
            </a:r>
          </a:p>
          <a:p>
            <a:r>
              <a:rPr lang="en-US" sz="1600" dirty="0"/>
              <a:t>       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InitializeComponent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    private void </a:t>
            </a:r>
            <a:r>
              <a:rPr lang="en-US" sz="1600" dirty="0" err="1"/>
              <a:t>toplama</a:t>
            </a:r>
            <a:r>
              <a:rPr lang="en-US" sz="1600" dirty="0"/>
              <a:t>()</a:t>
            </a:r>
          </a:p>
          <a:p>
            <a:r>
              <a:rPr lang="en-US" sz="1600" dirty="0"/>
              <a:t>       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int</a:t>
            </a:r>
            <a:r>
              <a:rPr lang="en-US" sz="1600" dirty="0"/>
              <a:t> sayi1 = </a:t>
            </a:r>
            <a:r>
              <a:rPr lang="en-US" sz="1600" dirty="0" err="1"/>
              <a:t>int.Parse</a:t>
            </a:r>
            <a:r>
              <a:rPr lang="en-US" sz="1600" dirty="0"/>
              <a:t>(textBox1.Text);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int</a:t>
            </a:r>
            <a:r>
              <a:rPr lang="en-US" sz="1600" dirty="0"/>
              <a:t> sayi2 = </a:t>
            </a:r>
            <a:r>
              <a:rPr lang="en-US" sz="1600" dirty="0" err="1"/>
              <a:t>int.Parse</a:t>
            </a:r>
            <a:r>
              <a:rPr lang="en-US" sz="1600" dirty="0"/>
              <a:t>(textBox2.Text);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sonuc</a:t>
            </a:r>
            <a:r>
              <a:rPr lang="en-US" sz="1600" dirty="0"/>
              <a:t> = sayi1 + sayi2;</a:t>
            </a:r>
          </a:p>
          <a:p>
            <a:r>
              <a:rPr lang="en-US" sz="1600" dirty="0"/>
              <a:t>            textBox3.Text = </a:t>
            </a:r>
            <a:r>
              <a:rPr lang="en-US" sz="1600" dirty="0" err="1"/>
              <a:t>sonuc.ToString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    private void </a:t>
            </a:r>
            <a:r>
              <a:rPr lang="en-US" sz="1600" dirty="0" err="1"/>
              <a:t>cikarma</a:t>
            </a:r>
            <a:r>
              <a:rPr lang="en-US" sz="1600" dirty="0"/>
              <a:t>()</a:t>
            </a:r>
          </a:p>
          <a:p>
            <a:r>
              <a:rPr lang="en-US" sz="1600" dirty="0"/>
              <a:t>       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int</a:t>
            </a:r>
            <a:r>
              <a:rPr lang="en-US" sz="1600" dirty="0"/>
              <a:t> sayi1 = </a:t>
            </a:r>
            <a:r>
              <a:rPr lang="en-US" sz="1600" dirty="0" err="1"/>
              <a:t>int.Parse</a:t>
            </a:r>
            <a:r>
              <a:rPr lang="en-US" sz="1600" dirty="0"/>
              <a:t>(textBox1.Text);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int</a:t>
            </a:r>
            <a:r>
              <a:rPr lang="en-US" sz="1600" dirty="0"/>
              <a:t> sayi2 = </a:t>
            </a:r>
            <a:r>
              <a:rPr lang="en-US" sz="1600" dirty="0" err="1"/>
              <a:t>int.Parse</a:t>
            </a:r>
            <a:r>
              <a:rPr lang="en-US" sz="1600" dirty="0"/>
              <a:t>(textBox2.Text);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sonuc</a:t>
            </a:r>
            <a:r>
              <a:rPr lang="en-US" sz="1600" dirty="0"/>
              <a:t> = sayi1 - sayi2;</a:t>
            </a:r>
          </a:p>
          <a:p>
            <a:r>
              <a:rPr lang="en-US" sz="1600" dirty="0"/>
              <a:t>            textBox3.Text = </a:t>
            </a:r>
            <a:r>
              <a:rPr lang="en-US" sz="2000" dirty="0" err="1"/>
              <a:t>sonuc.ToString</a:t>
            </a:r>
            <a:r>
              <a:rPr lang="en-US" sz="1600" dirty="0"/>
              <a:t>();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 smtClean="0"/>
              <a:t>        private void </a:t>
            </a:r>
            <a:r>
              <a:rPr lang="en-US" sz="1600" dirty="0" err="1" smtClean="0"/>
              <a:t>carpma</a:t>
            </a:r>
            <a:r>
              <a:rPr lang="en-US" sz="1600" dirty="0" smtClean="0"/>
              <a:t>()</a:t>
            </a:r>
            <a:endParaRPr lang="en-US" sz="1600" dirty="0"/>
          </a:p>
        </p:txBody>
      </p:sp>
      <p:sp>
        <p:nvSpPr>
          <p:cNvPr id="8" name="Dikdörtgen 7"/>
          <p:cNvSpPr/>
          <p:nvPr/>
        </p:nvSpPr>
        <p:spPr>
          <a:xfrm>
            <a:off x="5689601" y="446452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{</a:t>
            </a:r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sayi1 = </a:t>
            </a:r>
            <a:r>
              <a:rPr lang="en-US" dirty="0" err="1"/>
              <a:t>int.Parse</a:t>
            </a:r>
            <a:r>
              <a:rPr lang="en-US" dirty="0"/>
              <a:t>(textBox1.Text);</a:t>
            </a:r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sayi2 = </a:t>
            </a:r>
            <a:r>
              <a:rPr lang="en-US" dirty="0" err="1"/>
              <a:t>int.Parse</a:t>
            </a:r>
            <a:r>
              <a:rPr lang="en-US" dirty="0"/>
              <a:t>(textBox2.Text);</a:t>
            </a:r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sonuc</a:t>
            </a:r>
            <a:r>
              <a:rPr lang="en-US" dirty="0"/>
              <a:t> = sayi1 * sayi2;</a:t>
            </a:r>
          </a:p>
          <a:p>
            <a:r>
              <a:rPr lang="en-US" dirty="0"/>
              <a:t>            textBox3.Text = </a:t>
            </a:r>
            <a:r>
              <a:rPr lang="en-US" dirty="0" err="1"/>
              <a:t>sonuc.ToString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private void </a:t>
            </a:r>
            <a:r>
              <a:rPr lang="en-US" dirty="0" err="1"/>
              <a:t>bolme</a:t>
            </a:r>
            <a:r>
              <a:rPr lang="en-US" dirty="0"/>
              <a:t>()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sayi1 = </a:t>
            </a:r>
            <a:r>
              <a:rPr lang="en-US" dirty="0" err="1"/>
              <a:t>int.Parse</a:t>
            </a:r>
            <a:r>
              <a:rPr lang="en-US" dirty="0"/>
              <a:t>(textBox1.Text);</a:t>
            </a:r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sayi2 = </a:t>
            </a:r>
            <a:r>
              <a:rPr lang="en-US" dirty="0" err="1"/>
              <a:t>int.Parse</a:t>
            </a:r>
            <a:r>
              <a:rPr lang="en-US" dirty="0"/>
              <a:t>(textBox2.Text);</a:t>
            </a:r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sonuc</a:t>
            </a:r>
            <a:r>
              <a:rPr lang="en-US" dirty="0"/>
              <a:t>;</a:t>
            </a:r>
          </a:p>
          <a:p>
            <a:r>
              <a:rPr lang="en-US" dirty="0"/>
              <a:t>            if (sayi2 &lt;= 0)</a:t>
            </a:r>
          </a:p>
          <a:p>
            <a:r>
              <a:rPr lang="en-US" dirty="0"/>
              <a:t>                throw new </a:t>
            </a:r>
            <a:r>
              <a:rPr lang="en-US" dirty="0" err="1"/>
              <a:t>System.DivideByZeroException</a:t>
            </a:r>
            <a:r>
              <a:rPr lang="en-US" dirty="0"/>
              <a:t>();</a:t>
            </a:r>
          </a:p>
          <a:p>
            <a:r>
              <a:rPr lang="en-US" dirty="0"/>
              <a:t>            else</a:t>
            </a:r>
          </a:p>
          <a:p>
            <a:r>
              <a:rPr lang="en-US" dirty="0"/>
              <a:t>                </a:t>
            </a:r>
            <a:r>
              <a:rPr lang="en-US" dirty="0" err="1"/>
              <a:t>sonuc</a:t>
            </a:r>
            <a:r>
              <a:rPr lang="en-US" dirty="0"/>
              <a:t> = sayi1 / sayi2;</a:t>
            </a:r>
          </a:p>
          <a:p>
            <a:r>
              <a:rPr lang="en-US" dirty="0"/>
              <a:t>            textBox3.Text = </a:t>
            </a:r>
            <a:r>
              <a:rPr lang="en-US" dirty="0" err="1"/>
              <a:t>sonuc.ToString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465332496"/>
      </p:ext>
    </p:extLst>
  </p:cSld>
  <p:clrMapOvr>
    <a:masterClrMapping/>
  </p:clrMapOvr>
  <p:transition spd="med" advClick="0" advTm="1000">
    <p:spli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833774" y="246559"/>
            <a:ext cx="6096000" cy="649408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private void button1_Click(object sender, </a:t>
            </a:r>
            <a:r>
              <a:rPr lang="en-US" sz="1600" dirty="0" err="1">
                <a:solidFill>
                  <a:schemeClr val="bg1"/>
                </a:solidFill>
              </a:rPr>
              <a:t>EventArgs</a:t>
            </a:r>
            <a:r>
              <a:rPr lang="en-US" sz="1600" dirty="0">
                <a:solidFill>
                  <a:schemeClr val="bg1"/>
                </a:solidFill>
              </a:rPr>
              <a:t> e)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try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if (radioButton1.Checked)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{ </a:t>
            </a:r>
            <a:r>
              <a:rPr lang="en-US" sz="1600" dirty="0" err="1">
                <a:solidFill>
                  <a:schemeClr val="bg1"/>
                </a:solidFill>
              </a:rPr>
              <a:t>toplama</a:t>
            </a:r>
            <a:r>
              <a:rPr lang="en-US" sz="1600" dirty="0">
                <a:solidFill>
                  <a:schemeClr val="bg1"/>
                </a:solidFill>
              </a:rPr>
              <a:t>();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else if (radioButton2.Checked)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{ </a:t>
            </a:r>
            <a:r>
              <a:rPr lang="en-US" sz="1600" dirty="0" err="1">
                <a:solidFill>
                  <a:schemeClr val="bg1"/>
                </a:solidFill>
              </a:rPr>
              <a:t>cikarma</a:t>
            </a:r>
            <a:r>
              <a:rPr lang="en-US" sz="1600" dirty="0">
                <a:solidFill>
                  <a:schemeClr val="bg1"/>
                </a:solidFill>
              </a:rPr>
              <a:t>();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else if (radioButton3.Checked)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{ </a:t>
            </a:r>
            <a:r>
              <a:rPr lang="en-US" sz="1600" dirty="0" err="1">
                <a:solidFill>
                  <a:schemeClr val="bg1"/>
                </a:solidFill>
              </a:rPr>
              <a:t>carpma</a:t>
            </a:r>
            <a:r>
              <a:rPr lang="en-US" sz="1600" dirty="0">
                <a:solidFill>
                  <a:schemeClr val="bg1"/>
                </a:solidFill>
              </a:rPr>
              <a:t>();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else if (radioButton4.Checked)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{ </a:t>
            </a:r>
            <a:r>
              <a:rPr lang="en-US" sz="1600" dirty="0" err="1">
                <a:solidFill>
                  <a:schemeClr val="bg1"/>
                </a:solidFill>
              </a:rPr>
              <a:t>bolme</a:t>
            </a:r>
            <a:r>
              <a:rPr lang="en-US" sz="1600" dirty="0">
                <a:solidFill>
                  <a:schemeClr val="bg1"/>
                </a:solidFill>
              </a:rPr>
              <a:t>();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else if (radioButton5.Checked)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{ </a:t>
            </a:r>
            <a:r>
              <a:rPr lang="en-US" sz="1600" dirty="0" err="1">
                <a:solidFill>
                  <a:schemeClr val="bg1"/>
                </a:solidFill>
              </a:rPr>
              <a:t>kalan</a:t>
            </a:r>
            <a:r>
              <a:rPr lang="en-US" sz="1600" dirty="0">
                <a:solidFill>
                  <a:schemeClr val="bg1"/>
                </a:solidFill>
              </a:rPr>
              <a:t>();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catch (</a:t>
            </a:r>
            <a:r>
              <a:rPr lang="en-US" sz="1600" dirty="0" err="1">
                <a:solidFill>
                  <a:schemeClr val="bg1"/>
                </a:solidFill>
              </a:rPr>
              <a:t>FormatException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fEx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textBox3.Text = </a:t>
            </a:r>
            <a:r>
              <a:rPr lang="en-US" sz="1600" dirty="0" err="1">
                <a:solidFill>
                  <a:schemeClr val="bg1"/>
                </a:solidFill>
              </a:rPr>
              <a:t>fEx.Message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catch (</a:t>
            </a:r>
            <a:r>
              <a:rPr lang="en-US" sz="1600" dirty="0" err="1">
                <a:solidFill>
                  <a:schemeClr val="bg1"/>
                </a:solidFill>
              </a:rPr>
              <a:t>DivideByZeroException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dEx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    textBox3.Text =</a:t>
            </a:r>
            <a:r>
              <a:rPr lang="en-US" sz="1600" dirty="0" err="1">
                <a:solidFill>
                  <a:schemeClr val="bg1"/>
                </a:solidFill>
              </a:rPr>
              <a:t>dEx.Message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r="35934"/>
          <a:stretch/>
        </p:blipFill>
        <p:spPr>
          <a:xfrm>
            <a:off x="7134708" y="1130012"/>
            <a:ext cx="4655126" cy="4489572"/>
          </a:xfrm>
          <a:prstGeom prst="rect">
            <a:avLst/>
          </a:prstGeom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23</a:t>
            </a:fld>
            <a:endParaRPr lang="tr-T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442815"/>
      </p:ext>
    </p:extLst>
  </p:cSld>
  <p:clrMapOvr>
    <a:masterClrMapping/>
  </p:clrMapOvr>
  <p:transition spd="med" advClick="0" advTm="1000">
    <p:spli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EFE7E0-4DD7-4BFD-B25A-EF8EA815FC08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24</a:t>
            </a:fld>
            <a:endParaRPr lang="tr-TR">
              <a:solidFill>
                <a:srgbClr val="FFFFFF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6" y="870567"/>
            <a:ext cx="8501276" cy="418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05209"/>
      </p:ext>
    </p:extLst>
  </p:cSld>
  <p:clrMapOvr>
    <a:masterClrMapping/>
  </p:clrMapOvr>
  <p:transition spd="med" advClick="0" advTm="1000">
    <p:spli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DE9289-D200-41C4-8747-7ED0C3FE249F}" type="datetime1">
              <a:rPr lang="tr-TR" smtClean="0">
                <a:solidFill>
                  <a:srgbClr val="FFFFFF"/>
                </a:solidFill>
              </a:rPr>
              <a:t>22.4.2019</a:t>
            </a:fld>
            <a:endParaRPr lang="tr-TR">
              <a:solidFill>
                <a:srgbClr val="FFFFFF"/>
              </a:solidFill>
            </a:endParaRP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FD1CB8-63DB-4FCE-BE81-179D70A48255}" type="slidenum">
              <a:rPr lang="tr-TR" smtClean="0">
                <a:solidFill>
                  <a:srgbClr val="FFFFFF"/>
                </a:solidFill>
              </a:rPr>
              <a:pPr>
                <a:defRPr/>
              </a:pPr>
              <a:t>25</a:t>
            </a:fld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2502568" y="417095"/>
            <a:ext cx="7764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600" dirty="0">
                <a:solidFill>
                  <a:srgbClr val="FFFF00"/>
                </a:solidFill>
              </a:rPr>
              <a:t>BÖLÜM ALIŞTIRMA ve SORULARI</a:t>
            </a:r>
            <a:endParaRPr lang="en-US" sz="3600" dirty="0">
              <a:solidFill>
                <a:srgbClr val="FFFF00"/>
              </a:solidFill>
            </a:endParaRPr>
          </a:p>
        </p:txBody>
      </p:sp>
      <p:sp>
        <p:nvSpPr>
          <p:cNvPr id="5" name="İçerik Yer Tutucusu 2"/>
          <p:cNvSpPr txBox="1">
            <a:spLocks/>
          </p:cNvSpPr>
          <p:nvPr/>
        </p:nvSpPr>
        <p:spPr>
          <a:xfrm>
            <a:off x="366309" y="1111909"/>
            <a:ext cx="11387667" cy="519952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tr-TR" sz="2400" kern="0" dirty="0"/>
              <a:t>İstisna yönetiminin önemi nedir?</a:t>
            </a:r>
          </a:p>
          <a:p>
            <a:r>
              <a:rPr lang="tr-TR" sz="2400" kern="0" dirty="0"/>
              <a:t>Çalışma zamanındaki hataların, derleme zamanındaki hatalardan farkı nedir?</a:t>
            </a:r>
          </a:p>
          <a:p>
            <a:r>
              <a:rPr lang="tr-TR" sz="2400" kern="0" dirty="0"/>
              <a:t>Her </a:t>
            </a:r>
            <a:r>
              <a:rPr lang="tr-TR" sz="2400" kern="0" dirty="0" err="1">
                <a:solidFill>
                  <a:srgbClr val="FFFF00"/>
                </a:solidFill>
              </a:rPr>
              <a:t>try</a:t>
            </a:r>
            <a:r>
              <a:rPr lang="tr-TR" sz="2400" kern="0" dirty="0"/>
              <a:t> bloğunu en az kaç </a:t>
            </a:r>
            <a:r>
              <a:rPr lang="tr-TR" sz="2400" kern="0" dirty="0" err="1">
                <a:solidFill>
                  <a:srgbClr val="FFFF00"/>
                </a:solidFill>
              </a:rPr>
              <a:t>catch</a:t>
            </a:r>
            <a:r>
              <a:rPr lang="tr-TR" sz="2400" kern="0" dirty="0"/>
              <a:t> bloğu takip etmelidir</a:t>
            </a:r>
          </a:p>
          <a:p>
            <a:r>
              <a:rPr lang="tr-TR" sz="2400" kern="0" dirty="0"/>
              <a:t>Hangi istisna sınıflarını </a:t>
            </a:r>
            <a:r>
              <a:rPr lang="tr-TR" sz="2400" kern="0" dirty="0" err="1">
                <a:solidFill>
                  <a:srgbClr val="FFFF00"/>
                </a:solidFill>
              </a:rPr>
              <a:t>catch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parametresi olarak kullanmamalıyız, neden?</a:t>
            </a:r>
          </a:p>
          <a:p>
            <a:r>
              <a:rPr lang="tr-TR" sz="2400" kern="0" dirty="0" err="1">
                <a:solidFill>
                  <a:srgbClr val="FFFF00"/>
                </a:solidFill>
              </a:rPr>
              <a:t>try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bloğunu takip eden bir </a:t>
            </a:r>
            <a:r>
              <a:rPr lang="tr-TR" sz="2400" kern="0" dirty="0" err="1">
                <a:solidFill>
                  <a:srgbClr val="FFFF00"/>
                </a:solidFill>
              </a:rPr>
              <a:t>catch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yoksa ne olur?</a:t>
            </a:r>
          </a:p>
          <a:p>
            <a:r>
              <a:rPr lang="tr-TR" sz="2400" kern="0" dirty="0" err="1">
                <a:solidFill>
                  <a:srgbClr val="FFFF00"/>
                </a:solidFill>
              </a:rPr>
              <a:t>finally</a:t>
            </a:r>
            <a:r>
              <a:rPr lang="tr-TR" sz="2400" kern="0" dirty="0"/>
              <a:t> bloğunun görevi nedir, yokluğu hataya neden olur mu? </a:t>
            </a:r>
          </a:p>
          <a:p>
            <a:r>
              <a:rPr lang="tr-TR" sz="2400" kern="0" dirty="0"/>
              <a:t>Birden fazla </a:t>
            </a:r>
            <a:r>
              <a:rPr lang="tr-TR" sz="2400" kern="0" dirty="0" err="1">
                <a:solidFill>
                  <a:srgbClr val="FFFF00"/>
                </a:solidFill>
              </a:rPr>
              <a:t>catch</a:t>
            </a:r>
            <a:r>
              <a:rPr lang="tr-TR" sz="2400" kern="0" dirty="0"/>
              <a:t> bloğunun tanımlanması durumunda, hangisi çalışır?</a:t>
            </a:r>
          </a:p>
          <a:p>
            <a:r>
              <a:rPr lang="tr-TR" sz="2400" kern="0" dirty="0" err="1">
                <a:solidFill>
                  <a:srgbClr val="FFFF00"/>
                </a:solidFill>
              </a:rPr>
              <a:t>catch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bloğundaki </a:t>
            </a:r>
            <a:r>
              <a:rPr lang="tr-TR" sz="2400" kern="0" dirty="0">
                <a:solidFill>
                  <a:srgbClr val="FFFF00"/>
                </a:solidFill>
              </a:rPr>
              <a:t>e</a:t>
            </a:r>
            <a:r>
              <a:rPr lang="tr-TR" sz="2400" kern="0" dirty="0"/>
              <a:t> parametresinin kullanım amacı ve içeriği nedir?</a:t>
            </a:r>
          </a:p>
          <a:p>
            <a:r>
              <a:rPr lang="tr-TR" sz="2400" kern="0" dirty="0" err="1">
                <a:solidFill>
                  <a:srgbClr val="FFFF00"/>
                </a:solidFill>
              </a:rPr>
              <a:t>checked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ve </a:t>
            </a:r>
            <a:r>
              <a:rPr lang="tr-TR" sz="2400" kern="0" dirty="0" err="1">
                <a:solidFill>
                  <a:srgbClr val="FFFF00"/>
                </a:solidFill>
              </a:rPr>
              <a:t>unchecked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komutlarının amacı nedir?</a:t>
            </a:r>
          </a:p>
          <a:p>
            <a:r>
              <a:rPr lang="tr-TR" sz="2400" kern="0" dirty="0" err="1">
                <a:solidFill>
                  <a:srgbClr val="FFFF00"/>
                </a:solidFill>
              </a:rPr>
              <a:t>checked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kaç türlü istisnaya yol açar?</a:t>
            </a:r>
          </a:p>
          <a:p>
            <a:r>
              <a:rPr lang="tr-TR" sz="2400" kern="0" dirty="0" err="1">
                <a:solidFill>
                  <a:srgbClr val="FFFF00"/>
                </a:solidFill>
              </a:rPr>
              <a:t>checked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komutu </a:t>
            </a:r>
            <a:r>
              <a:rPr lang="tr-TR" sz="2400" kern="0" dirty="0" err="1">
                <a:solidFill>
                  <a:srgbClr val="FFFF00"/>
                </a:solidFill>
              </a:rPr>
              <a:t>try</a:t>
            </a:r>
            <a:r>
              <a:rPr lang="tr-TR" sz="2400" kern="0" dirty="0">
                <a:solidFill>
                  <a:srgbClr val="FFFF00"/>
                </a:solidFill>
              </a:rPr>
              <a:t> </a:t>
            </a:r>
            <a:r>
              <a:rPr lang="tr-TR" sz="2400" kern="0" dirty="0"/>
              <a:t>bloğu içerisinde kullanılması ile kullanılmaması arasındaki fark nedir?</a:t>
            </a:r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  <a:p>
            <a:endParaRPr lang="tr-TR" sz="2400" kern="0" dirty="0"/>
          </a:p>
        </p:txBody>
      </p:sp>
    </p:spTree>
    <p:extLst>
      <p:ext uri="{BB962C8B-B14F-4D97-AF65-F5344CB8AC3E}">
        <p14:creationId xmlns:p14="http://schemas.microsoft.com/office/powerpoint/2010/main" val="2555993968"/>
      </p:ext>
    </p:extLst>
  </p:cSld>
  <p:clrMapOvr>
    <a:masterClrMapping/>
  </p:clrMapOvr>
  <p:transition spd="med" advClick="0" advTm="1000">
    <p:spli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mpass">
  <a:themeElements>
    <a:clrScheme name="Compass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mpas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as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5528</TotalTime>
  <Words>1647</Words>
  <Application>Microsoft Office PowerPoint</Application>
  <PresentationFormat>Geniş ekran</PresentationFormat>
  <Paragraphs>476</Paragraphs>
  <Slides>25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3" baseType="lpstr">
      <vt:lpstr>American Typewriter</vt:lpstr>
      <vt:lpstr>Arial</vt:lpstr>
      <vt:lpstr>Arial Rounded MT Bold</vt:lpstr>
      <vt:lpstr>Calibri</vt:lpstr>
      <vt:lpstr>Segoe UI Mono</vt:lpstr>
      <vt:lpstr>Tahoma</vt:lpstr>
      <vt:lpstr>Wingdings</vt:lpstr>
      <vt:lpstr>Compass</vt:lpstr>
      <vt:lpstr>PowerPoint Sunusu</vt:lpstr>
      <vt:lpstr>12. Hafta İçeriği</vt:lpstr>
      <vt:lpstr>İstisnalar ve Temel Kavramlar </vt:lpstr>
      <vt:lpstr>İstisnalar ve Temel Kavramlar </vt:lpstr>
      <vt:lpstr>İstisnalar ve Temel Kavramlar-1 </vt:lpstr>
      <vt:lpstr>İstisnalar ve Temel Kavramlar-2 </vt:lpstr>
      <vt:lpstr>İstisnalar:Temel Kavramlar-3 </vt:lpstr>
      <vt:lpstr>İstisna Fırlatırken Dikkat Edilmesi Gerekenler  </vt:lpstr>
      <vt:lpstr>Genel Yakalandığında Özele Yönlendir  </vt:lpstr>
      <vt:lpstr>İstisna: Temel Örnek </vt:lpstr>
      <vt:lpstr>İstisna: Temel Örnek </vt:lpstr>
      <vt:lpstr>İstisna Sınıfı Oluşturma </vt:lpstr>
      <vt:lpstr>İstisna: Try-Catch-Finally </vt:lpstr>
      <vt:lpstr>İstisna: Try-Catch-Finally </vt:lpstr>
      <vt:lpstr> Uygun catch bulunamazsa  </vt:lpstr>
      <vt:lpstr> Örnek-1</vt:lpstr>
      <vt:lpstr> Örnek-2</vt:lpstr>
      <vt:lpstr> checked ve unchecked Kullanımı </vt:lpstr>
      <vt:lpstr> checked ve unchecked İstisnaları: Örnek-1 </vt:lpstr>
      <vt:lpstr> checked ve unchecked İstisnaları: Örnek-2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Sakarya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Ahmet</dc:creator>
  <cp:lastModifiedBy>cemiloz</cp:lastModifiedBy>
  <cp:revision>439</cp:revision>
  <dcterms:created xsi:type="dcterms:W3CDTF">2016-02-10T09:35:02Z</dcterms:created>
  <dcterms:modified xsi:type="dcterms:W3CDTF">2019-04-22T14:20:06Z</dcterms:modified>
</cp:coreProperties>
</file>